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314" r:id="rId2"/>
    <p:sldId id="315" r:id="rId3"/>
    <p:sldId id="294" r:id="rId4"/>
    <p:sldId id="295" r:id="rId5"/>
    <p:sldId id="386" r:id="rId6"/>
    <p:sldId id="387" r:id="rId7"/>
    <p:sldId id="385" r:id="rId8"/>
    <p:sldId id="347" r:id="rId9"/>
    <p:sldId id="379" r:id="rId10"/>
    <p:sldId id="381" r:id="rId11"/>
    <p:sldId id="378" r:id="rId12"/>
    <p:sldId id="380" r:id="rId13"/>
    <p:sldId id="382" r:id="rId14"/>
    <p:sldId id="384" r:id="rId15"/>
    <p:sldId id="327" r:id="rId16"/>
    <p:sldId id="383" r:id="rId17"/>
  </p:sldIdLst>
  <p:sldSz cx="9144000" cy="5143500" type="screen16x9"/>
  <p:notesSz cx="6858000" cy="9144000"/>
  <p:embeddedFontLst>
    <p:embeddedFont>
      <p:font typeface="Alata" panose="02020500000000000000" charset="0"/>
      <p:regular r:id="rId19"/>
    </p:embeddedFont>
    <p:embeddedFont>
      <p:font typeface="Anton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52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>
            <a:spLocks noGrp="1"/>
          </p:cNvSpPr>
          <p:nvPr>
            <p:ph type="pic" idx="5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BCFA-5C2F-402B-8730-2C507338872B}" type="datetime1">
              <a:rPr lang="zh-HK" altLang="en-US" smtClean="0"/>
              <a:t>30/3/2025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8082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被移到培養皿中的樣本"/>
          <p:cNvPicPr>
            <a:picLocks noChangeAspect="1"/>
          </p:cNvPicPr>
          <p:nvPr/>
        </p:nvPicPr>
        <p:blipFill>
          <a:blip r:embed="rId2"/>
          <a:srcRect l="47791" r="3357" b="-2"/>
          <a:stretch>
            <a:fillRect/>
          </a:stretch>
        </p:blipFill>
        <p:spPr>
          <a:xfrm>
            <a:off x="15" y="7"/>
            <a:ext cx="3361458" cy="5143493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/>
          <p:cNvSpPr txBox="1"/>
          <p:nvPr/>
        </p:nvSpPr>
        <p:spPr>
          <a:xfrm>
            <a:off x="4058212" y="2002264"/>
            <a:ext cx="4636208" cy="26840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>
              <a:spcBef>
                <a:spcPts val="75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altLang="zh-HK" sz="3150" dirty="0">
                <a:latin typeface="+mj-lt"/>
                <a:ea typeface="+mj-ea"/>
                <a:cs typeface="+mj-cs"/>
              </a:rPr>
              <a:t>Experiment 1: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</a:t>
            </a:fld>
            <a:endParaRPr lang="zh-HK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Description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695" y="1271095"/>
            <a:ext cx="7728722" cy="3603812"/>
          </a:xfrm>
        </p:spPr>
        <p:txBody>
          <a:bodyPr>
            <a:noAutofit/>
          </a:bodyPr>
          <a:lstStyle/>
          <a:p>
            <a:r>
              <a:rPr lang="en-US" altLang="zh-HK" sz="1650" dirty="0">
                <a:latin typeface="+mj-lt"/>
              </a:rPr>
              <a:t>Objective: Measure the retrieval ability of the retriever that whether it can correctly retrieve the context </a:t>
            </a:r>
          </a:p>
          <a:p>
            <a:r>
              <a:rPr lang="en-US" altLang="zh-HK" sz="1650" dirty="0">
                <a:latin typeface="+mj-lt"/>
              </a:rPr>
              <a:t>Test Set: 90 Questions for 9 PDFs</a:t>
            </a:r>
          </a:p>
          <a:p>
            <a:r>
              <a:rPr lang="en-US" altLang="zh-HK" sz="1650" dirty="0">
                <a:latin typeface="+mj-lt"/>
              </a:rPr>
              <a:t>Assumption: Users will ask in Chinese</a:t>
            </a:r>
          </a:p>
          <a:p>
            <a:r>
              <a:rPr lang="en-US" altLang="zh-HK" sz="1650" dirty="0">
                <a:latin typeface="+mj-lt"/>
              </a:rPr>
              <a:t>Methodology: </a:t>
            </a:r>
          </a:p>
          <a:p>
            <a:pPr lvl="1"/>
            <a:r>
              <a:rPr lang="en-US" altLang="zh-HK" sz="1500" dirty="0">
                <a:latin typeface="+mj-lt"/>
              </a:rPr>
              <a:t>Retrieve context based on all PDF </a:t>
            </a:r>
          </a:p>
          <a:p>
            <a:pPr lvl="1"/>
            <a:r>
              <a:rPr lang="en-US" altLang="zh-HK" sz="1500" dirty="0">
                <a:latin typeface="+mj-lt"/>
              </a:rPr>
              <a:t>Retrieve context based on single PDF </a:t>
            </a:r>
          </a:p>
          <a:p>
            <a:r>
              <a:rPr lang="en-US" altLang="zh-HK" sz="1650" dirty="0">
                <a:latin typeface="+mj-lt"/>
              </a:rPr>
              <a:t>Evaluation Metrics (Hit rate</a:t>
            </a:r>
            <a:r>
              <a:rPr lang="en-US" altLang="zh-TW" sz="1650" dirty="0">
                <a:latin typeface="+mj-lt"/>
              </a:rPr>
              <a:t>)</a:t>
            </a:r>
            <a:endParaRPr lang="en-US" altLang="zh-HK" sz="1650" dirty="0">
              <a:latin typeface="+mj-lt"/>
            </a:endParaRPr>
          </a:p>
          <a:p>
            <a:r>
              <a:rPr lang="en-US" altLang="zh-HK" sz="1650" dirty="0">
                <a:latin typeface="+mj-lt"/>
              </a:rPr>
              <a:t>Goal: Improve the retrieval accuracy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2</a:t>
            </a:fld>
            <a:endParaRPr lang="zh-HK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Retriever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220" y="1142729"/>
            <a:ext cx="6709906" cy="3509724"/>
          </a:xfrm>
        </p:spPr>
        <p:txBody>
          <a:bodyPr>
            <a:normAutofit/>
          </a:bodyPr>
          <a:lstStyle/>
          <a:p>
            <a:r>
              <a:rPr lang="en-US" altLang="zh-HK" b="1" dirty="0">
                <a:latin typeface="+mn-lt"/>
              </a:rPr>
              <a:t>Embedding Model: </a:t>
            </a:r>
            <a:r>
              <a:rPr lang="en-US" altLang="zh-HK" dirty="0" err="1">
                <a:latin typeface="+mn-lt"/>
              </a:rPr>
              <a:t>Chuxin</a:t>
            </a:r>
            <a:r>
              <a:rPr lang="en-US" altLang="zh-HK" dirty="0">
                <a:latin typeface="+mn-lt"/>
              </a:rPr>
              <a:t>-Embedding</a:t>
            </a:r>
          </a:p>
          <a:p>
            <a:r>
              <a:rPr lang="en-US" altLang="zh-HK" dirty="0">
                <a:latin typeface="+mn-lt"/>
              </a:rPr>
              <a:t>Base model: </a:t>
            </a:r>
            <a:r>
              <a:rPr lang="en-US" altLang="zh-CN" dirty="0">
                <a:latin typeface="+mn-lt"/>
              </a:rPr>
              <a:t>bge-m3-retromae</a:t>
            </a:r>
            <a:endParaRPr lang="en-US" altLang="zh-CN" b="1" dirty="0">
              <a:latin typeface="+mn-lt"/>
            </a:endParaRPr>
          </a:p>
          <a:p>
            <a:r>
              <a:rPr lang="en-US" altLang="zh-HK" b="1" dirty="0">
                <a:latin typeface="+mn-lt"/>
              </a:rPr>
              <a:t>Model Size</a:t>
            </a:r>
            <a:r>
              <a:rPr lang="en-US" altLang="zh-HK" dirty="0">
                <a:latin typeface="+mn-lt"/>
              </a:rPr>
              <a:t>: 568M parameters</a:t>
            </a:r>
          </a:p>
          <a:p>
            <a:r>
              <a:rPr lang="en-US" altLang="zh-HK" b="1" dirty="0" err="1">
                <a:latin typeface="+mn-lt"/>
              </a:rPr>
              <a:t>Vectorstore</a:t>
            </a:r>
            <a:r>
              <a:rPr lang="en-US" altLang="zh-HK" b="1" dirty="0">
                <a:latin typeface="+mn-lt"/>
              </a:rPr>
              <a:t>: Chroma</a:t>
            </a:r>
          </a:p>
          <a:p>
            <a:r>
              <a:rPr lang="en-US" altLang="zh-HK" b="1" dirty="0">
                <a:latin typeface="+mn-lt"/>
              </a:rPr>
              <a:t>Search Type</a:t>
            </a:r>
            <a:r>
              <a:rPr lang="en-US" altLang="zh-HK" dirty="0">
                <a:latin typeface="+mn-lt"/>
              </a:rPr>
              <a:t>: Use similarity-based search to retrieve the most relevant document chunks.</a:t>
            </a:r>
          </a:p>
          <a:p>
            <a:r>
              <a:rPr lang="en-US" altLang="zh-HK" b="1" dirty="0">
                <a:latin typeface="+mn-lt"/>
              </a:rPr>
              <a:t>Chunk size</a:t>
            </a:r>
            <a:r>
              <a:rPr lang="en-US" altLang="zh-HK" dirty="0">
                <a:latin typeface="+mn-lt"/>
              </a:rPr>
              <a:t>: Split by pages</a:t>
            </a:r>
            <a:endParaRPr lang="en-US" altLang="zh-HK" b="1" dirty="0">
              <a:latin typeface="+mn-lt"/>
              <a:ea typeface="PMingLiU" panose="02020500000000000000" pitchFamily="18" charset="-120"/>
            </a:endParaRPr>
          </a:p>
          <a:p>
            <a:endParaRPr lang="en-US" altLang="zh-HK" sz="1350" b="1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3</a:t>
            </a:fld>
            <a:endParaRPr lang="zh-HK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5900977" cy="628202"/>
          </a:xfrm>
        </p:spPr>
        <p:txBody>
          <a:bodyPr>
            <a:normAutofit fontScale="90000"/>
          </a:bodyPr>
          <a:lstStyle/>
          <a:p>
            <a:r>
              <a:rPr lang="en-US" altLang="zh-HK" sz="3300" dirty="0"/>
              <a:t>Dataset</a:t>
            </a:r>
            <a:endParaRPr lang="zh-TW" altLang="en-US" sz="33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247916" y="989441"/>
          <a:ext cx="5817604" cy="3995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453"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Topic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Language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Pages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Tokens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Corporate Governance of Locally Registered Authorized Institutions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38912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77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Climate Risk Management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English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35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35840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694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Guidelines on Combating Money Laundering and Counter-Terrorist Financing</a:t>
                      </a:r>
                      <a:endParaRPr lang="zh-TW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83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84992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42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Risk-based Regulatory System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30720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765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Outsourcing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14336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736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Regulatory Approach to Combating Money Laundering and Terrorist Financing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20480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765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 management of electronic banking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English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37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37888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altLang="zh-HK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 Principles of Technology Risk Management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29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29696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765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Continuing business operations planning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Chinese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24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24576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765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Total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310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400" dirty="0"/>
                        <a:t>317440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187440" y="859621"/>
            <a:ext cx="278892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500" dirty="0"/>
              <a:t>Source: HKMA Supervisory Policy Manual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altLang="zh-HK" sz="1500" dirty="0"/>
              <a:t>Finance Regulatory Domain 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altLang="zh-HK" sz="1500" dirty="0"/>
          </a:p>
          <a:p>
            <a:r>
              <a:rPr lang="en-US" altLang="zh-HK" sz="1500" dirty="0"/>
              <a:t>Language :</a:t>
            </a:r>
          </a:p>
          <a:p>
            <a:r>
              <a:rPr lang="en-US" altLang="zh-HK" sz="1500" dirty="0"/>
              <a:t>7 in Chinese, 2 in English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altLang="zh-HK" sz="1500" dirty="0"/>
          </a:p>
          <a:p>
            <a:r>
              <a:rPr lang="en-US" altLang="zh-HK" sz="1500" dirty="0"/>
              <a:t>Memory Size: 5 MB</a:t>
            </a:r>
          </a:p>
          <a:p>
            <a:endParaRPr lang="en-US" altLang="zh-HK" sz="1500" dirty="0"/>
          </a:p>
          <a:p>
            <a:r>
              <a:rPr lang="en-US" altLang="zh-HK" sz="1500" dirty="0"/>
              <a:t>Tokens Count by Retriever:</a:t>
            </a:r>
          </a:p>
          <a:p>
            <a:r>
              <a:rPr lang="en-US" altLang="zh-HK" sz="1500" dirty="0"/>
              <a:t>317,440 tokens</a:t>
            </a:r>
            <a:endParaRPr lang="zh-HK" altLang="en-US" sz="15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4</a:t>
            </a:fld>
            <a:endParaRPr lang="zh-HK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374CBF-5DEB-27E9-D64F-34EBF350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7" y="595017"/>
            <a:ext cx="8613842" cy="1297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3B0144-01D6-AA1B-5219-37DDBC22442F}"/>
              </a:ext>
            </a:extLst>
          </p:cNvPr>
          <p:cNvSpPr txBox="1"/>
          <p:nvPr/>
        </p:nvSpPr>
        <p:spPr>
          <a:xfrm>
            <a:off x="270344" y="2170706"/>
            <a:ext cx="85104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HK" b="1" dirty="0"/>
              <a:t>Squared L2 Distance</a:t>
            </a:r>
            <a:r>
              <a:rPr lang="en-US" altLang="zh-HK" b="1" dirty="0"/>
              <a:t>: [0, +inf.)</a:t>
            </a:r>
          </a:p>
          <a:p>
            <a:r>
              <a:rPr lang="en-US" altLang="zh-HK" dirty="0"/>
              <a:t>Measure the absolute differences between corresponding elements</a:t>
            </a:r>
          </a:p>
          <a:p>
            <a:r>
              <a:rPr lang="en-US" altLang="zh-HK" dirty="0"/>
              <a:t>Very sensitive to magnitude differences</a:t>
            </a:r>
          </a:p>
          <a:p>
            <a:endParaRPr lang="en-US" altLang="zh-HK" dirty="0"/>
          </a:p>
          <a:p>
            <a:r>
              <a:rPr lang="pl-PL" altLang="zh-HK" b="1" dirty="0"/>
              <a:t>Inner Product</a:t>
            </a:r>
            <a:r>
              <a:rPr lang="en-US" altLang="zh-HK" b="1" dirty="0"/>
              <a:t>: [0, 1]</a:t>
            </a:r>
            <a:endParaRPr lang="pl-PL" altLang="zh-HK" b="1" dirty="0"/>
          </a:p>
          <a:p>
            <a:r>
              <a:rPr lang="en-US" altLang="zh-HK" dirty="0"/>
              <a:t>Measure both the direction and magnitude of the vectors</a:t>
            </a:r>
          </a:p>
          <a:p>
            <a:r>
              <a:rPr lang="en-US" altLang="zh-HK" dirty="0"/>
              <a:t>Sensitive to both magnitude and direction</a:t>
            </a:r>
          </a:p>
          <a:p>
            <a:endParaRPr lang="en-US" altLang="zh-HK" dirty="0"/>
          </a:p>
          <a:p>
            <a:r>
              <a:rPr lang="pl-PL" altLang="zh-HK" b="1" dirty="0"/>
              <a:t>Cosine Similarity</a:t>
            </a:r>
            <a:r>
              <a:rPr lang="en-US" altLang="zh-HK" b="1" dirty="0"/>
              <a:t>: [0, 1]</a:t>
            </a:r>
            <a:endParaRPr lang="pl-PL" altLang="zh-HK" b="1" dirty="0"/>
          </a:p>
          <a:p>
            <a:r>
              <a:rPr lang="en-US" altLang="zh-HK" dirty="0"/>
              <a:t>Measures the </a:t>
            </a:r>
            <a:r>
              <a:rPr lang="pl-PL" altLang="zh-HK" dirty="0"/>
              <a:t>directionality</a:t>
            </a:r>
            <a:r>
              <a:rPr lang="en-US" altLang="zh-HK" dirty="0"/>
              <a:t> between the two vectors</a:t>
            </a:r>
          </a:p>
          <a:p>
            <a:r>
              <a:rPr lang="pl-PL" altLang="zh-HK" dirty="0"/>
              <a:t>Insensitive to magnitude; focuses on direction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04509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EAEF-9CD2-0C37-1572-4505DB9A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88BD-E862-EF69-1050-1F4363CA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Correctly </a:t>
            </a:r>
            <a:r>
              <a:rPr lang="en-US" altLang="zh-HK" dirty="0" err="1"/>
              <a:t>rerieved</a:t>
            </a:r>
            <a:endParaRPr lang="zh-HK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16F892-57E2-F03A-C0F8-1548B6A6A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571732"/>
              </p:ext>
            </p:extLst>
          </p:nvPr>
        </p:nvGraphicFramePr>
        <p:xfrm>
          <a:off x="198784" y="1152525"/>
          <a:ext cx="8634069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912">
                  <a:extLst>
                    <a:ext uri="{9D8B030D-6E8A-4147-A177-3AD203B41FA5}">
                      <a16:colId xmlns:a16="http://schemas.microsoft.com/office/drawing/2014/main" val="207450474"/>
                    </a:ext>
                  </a:extLst>
                </a:gridCol>
                <a:gridCol w="6273579">
                  <a:extLst>
                    <a:ext uri="{9D8B030D-6E8A-4147-A177-3AD203B41FA5}">
                      <a16:colId xmlns:a16="http://schemas.microsoft.com/office/drawing/2014/main" val="379011129"/>
                    </a:ext>
                  </a:extLst>
                </a:gridCol>
                <a:gridCol w="1366578">
                  <a:extLst>
                    <a:ext uri="{9D8B030D-6E8A-4147-A177-3AD203B41FA5}">
                      <a16:colId xmlns:a16="http://schemas.microsoft.com/office/drawing/2014/main" val="3673076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Location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應如何處理服務供應商的表現監察工作？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Score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4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altLang="zh-HK" dirty="0"/>
                        <a:t>SA-2-Ch</a:t>
                      </a:r>
                      <a:br>
                        <a:rPr lang="en-US" altLang="zh-HK" dirty="0"/>
                      </a:br>
                      <a:r>
                        <a:rPr lang="en-US" altLang="zh-HK" dirty="0"/>
                        <a:t>page 7</a:t>
                      </a:r>
                      <a:br>
                        <a:rPr lang="en-US" altLang="zh-HK" dirty="0"/>
                      </a:br>
                      <a:r>
                        <a:rPr lang="en-US" altLang="zh-HK" dirty="0"/>
                        <a:t>(target)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服務供應商</a:t>
                      </a:r>
                      <a:r>
                        <a:rPr lang="zh-TW" altLang="en-US" dirty="0"/>
                        <a:t>的能力</a:t>
                      </a:r>
                    </a:p>
                    <a:p>
                      <a:r>
                        <a:rPr lang="en-US" altLang="zh-TW" dirty="0"/>
                        <a:t>2 3 1 </a:t>
                      </a:r>
                    </a:p>
                    <a:p>
                      <a:r>
                        <a:rPr lang="zh-TW" altLang="en-US" dirty="0"/>
                        <a:t>在選擇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服務供應商</a:t>
                      </a:r>
                      <a:r>
                        <a:rPr lang="zh-TW" altLang="en-US" dirty="0"/>
                        <a:t>前，認可機構應作出適當的嚴格調查。在評估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服務供應商</a:t>
                      </a:r>
                      <a:r>
                        <a:rPr lang="zh-TW" altLang="en-US" dirty="0"/>
                        <a:t>時，除考慮成本因素及服務水平外，認可機構還應顧及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服務供應商</a:t>
                      </a:r>
                      <a:r>
                        <a:rPr lang="zh-TW" altLang="en-US" dirty="0"/>
                        <a:t>的財政穩健程度、信譽、管理技巧、技術能力、營運能力及規模、與認可機構的企業文化和未來發展策略的配合程度、對銀行業的熟悉程度，以及緊貼市場創新步伐的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能力</a:t>
                      </a:r>
                      <a:r>
                        <a:rPr lang="zh-TW" altLang="en-US" dirty="0"/>
                        <a:t>。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……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L2: </a:t>
                      </a:r>
                    </a:p>
                    <a:p>
                      <a:r>
                        <a:rPr lang="en-US" altLang="zh-HK" dirty="0"/>
                        <a:t>0.7775167</a:t>
                      </a:r>
                    </a:p>
                    <a:p>
                      <a:r>
                        <a:rPr lang="en-US" altLang="zh-HK" dirty="0"/>
                        <a:t>(Rank 1)</a:t>
                      </a:r>
                    </a:p>
                    <a:p>
                      <a:r>
                        <a:rPr lang="en-US" altLang="zh-HK" dirty="0"/>
                        <a:t>IP: </a:t>
                      </a:r>
                    </a:p>
                    <a:p>
                      <a:r>
                        <a:rPr lang="en-US" altLang="zh-HK" dirty="0"/>
                        <a:t>0.3887585 (Rank1)</a:t>
                      </a:r>
                    </a:p>
                    <a:p>
                      <a:r>
                        <a:rPr lang="en-US" altLang="zh-HK" dirty="0"/>
                        <a:t>Cosine: </a:t>
                      </a:r>
                    </a:p>
                    <a:p>
                      <a:r>
                        <a:rPr lang="en-US" altLang="zh-HK" dirty="0"/>
                        <a:t>0.3887584 (Rank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2683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FA6682-10FE-310A-18C1-3173CD8F8E3C}"/>
              </a:ext>
            </a:extLst>
          </p:cNvPr>
          <p:cNvSpPr txBox="1"/>
          <p:nvPr/>
        </p:nvSpPr>
        <p:spPr>
          <a:xfrm>
            <a:off x="198785" y="3669846"/>
            <a:ext cx="8633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The target paragraph ranked top by using all methods.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99748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AD56-AD91-73D9-65E4-5B728B7B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 err="1"/>
              <a:t>rerieved</a:t>
            </a:r>
            <a:endParaRPr lang="zh-HK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2AA92A-58B0-50E9-1047-F5075B69C9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126546"/>
              </p:ext>
            </p:extLst>
          </p:nvPr>
        </p:nvGraphicFramePr>
        <p:xfrm>
          <a:off x="198784" y="1152525"/>
          <a:ext cx="863406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912">
                  <a:extLst>
                    <a:ext uri="{9D8B030D-6E8A-4147-A177-3AD203B41FA5}">
                      <a16:colId xmlns:a16="http://schemas.microsoft.com/office/drawing/2014/main" val="207450474"/>
                    </a:ext>
                  </a:extLst>
                </a:gridCol>
                <a:gridCol w="6225871">
                  <a:extLst>
                    <a:ext uri="{9D8B030D-6E8A-4147-A177-3AD203B41FA5}">
                      <a16:colId xmlns:a16="http://schemas.microsoft.com/office/drawing/2014/main" val="379011129"/>
                    </a:ext>
                  </a:extLst>
                </a:gridCol>
                <a:gridCol w="1414286">
                  <a:extLst>
                    <a:ext uri="{9D8B030D-6E8A-4147-A177-3AD203B41FA5}">
                      <a16:colId xmlns:a16="http://schemas.microsoft.com/office/drawing/2014/main" val="3673076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Location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銀行</a:t>
                      </a:r>
                      <a:r>
                        <a:rPr lang="zh-TW" altLang="en-US" dirty="0"/>
                        <a:t>在進行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滲透測試</a:t>
                      </a:r>
                      <a:r>
                        <a:rPr lang="zh-TW" altLang="en-US" dirty="0"/>
                        <a:t>時，應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</a:rPr>
                        <a:t>涵蓋哪些範圍？</a:t>
                      </a:r>
                      <a:endParaRPr lang="zh-HK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Score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4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altLang="zh-HK" dirty="0"/>
                        <a:t>TM-E-1</a:t>
                      </a:r>
                      <a:br>
                        <a:rPr lang="en-US" altLang="zh-HK" dirty="0"/>
                      </a:br>
                      <a:r>
                        <a:rPr lang="en-US" altLang="zh-HK" dirty="0"/>
                        <a:t>page 12</a:t>
                      </a:r>
                      <a:br>
                        <a:rPr lang="en-US" altLang="zh-HK" dirty="0"/>
                      </a:b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Supervisory Policy Manual </a:t>
                      </a:r>
                    </a:p>
                    <a:p>
                      <a:r>
                        <a:rPr lang="en-US" altLang="zh-TW" dirty="0"/>
                        <a:t>……</a:t>
                      </a:r>
                    </a:p>
                    <a:p>
                      <a:r>
                        <a:rPr lang="en-US" altLang="zh-TW" dirty="0"/>
                        <a:t>If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an AI’s policy </a:t>
                      </a:r>
                      <a:r>
                        <a:rPr lang="en-US" altLang="zh-TW" dirty="0"/>
                        <a:t>framework for independent assessment does not include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penetration tests</a:t>
                      </a:r>
                      <a:r>
                        <a:rPr lang="en-US" altLang="zh-TW" dirty="0"/>
                        <a:t>, the senior management should further ensure that regular</a:t>
                      </a:r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penetration tests </a:t>
                      </a:r>
                      <a:r>
                        <a:rPr lang="en-US" altLang="zh-TW" dirty="0"/>
                        <a:t>are performed by qualified independent parties. For the purpose of this module, a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penetration test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should assess</a:t>
                      </a:r>
                      <a:r>
                        <a:rPr lang="en-US" altLang="zh-TW" dirty="0"/>
                        <a:t>, at the minimum, the AI’s Internet banking and any financial services delivered over the Internet or via a wireless network (covering enquiry-only services and relevant outsourced systems) annually.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Penetration tests</a:t>
                      </a:r>
                      <a:r>
                        <a:rPr lang="en-US" altLang="zh-TW" dirty="0"/>
                        <a:t> should be carefully planned and carried out so as not to unduly disrupt the AI’s production systems/channels</a:t>
                      </a:r>
                    </a:p>
                    <a:p>
                      <a:r>
                        <a:rPr lang="en-US" altLang="zh-TW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ip</a:t>
                      </a:r>
                      <a:r>
                        <a:rPr lang="en-US" altLang="zh-HK" dirty="0"/>
                        <a:t>: 0.6012 </a:t>
                      </a:r>
                    </a:p>
                    <a:p>
                      <a:r>
                        <a:rPr lang="en-US" altLang="zh-HK" dirty="0"/>
                        <a:t>(Rank 20)</a:t>
                      </a:r>
                    </a:p>
                    <a:p>
                      <a:endParaRPr lang="en-US" altLang="zh-HK" dirty="0"/>
                    </a:p>
                    <a:p>
                      <a:r>
                        <a:rPr lang="en-US" altLang="zh-HK" dirty="0"/>
                        <a:t>Cosine: 0.524</a:t>
                      </a:r>
                    </a:p>
                    <a:p>
                      <a:r>
                        <a:rPr lang="en-US" altLang="zh-HK" dirty="0"/>
                        <a:t>(Rank 1)</a:t>
                      </a:r>
                    </a:p>
                    <a:p>
                      <a:endParaRPr lang="en-US" altLang="zh-HK" dirty="0"/>
                    </a:p>
                    <a:p>
                      <a:r>
                        <a:rPr lang="en-US" altLang="zh-HK" dirty="0"/>
                        <a:t>L2: 1,223</a:t>
                      </a:r>
                    </a:p>
                    <a:p>
                      <a:r>
                        <a:rPr lang="en-US" altLang="zh-HK"/>
                        <a:t>(Rank 1)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268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0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054" y="280385"/>
            <a:ext cx="230460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150" dirty="0"/>
              <a:t>Result</a:t>
            </a:r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3000" dirty="0"/>
          </a:p>
          <a:p>
            <a:endParaRPr lang="en-US" altLang="zh-HK" sz="3000" dirty="0"/>
          </a:p>
          <a:p>
            <a:endParaRPr lang="zh-HK" altLang="en-US" sz="30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8</a:t>
            </a:fld>
            <a:endParaRPr lang="zh-HK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0994" y="1018223"/>
          <a:ext cx="7857649" cy="174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895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Hit Rate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100"/>
                        <a:t>Context in Chinese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>
                          <a:sym typeface="+mn-ea"/>
                        </a:rPr>
                        <a:t>Context in English PDF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100" dirty="0"/>
                        <a:t>Total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altLang="zh-HK" sz="1100"/>
                        <a:t>Single(1)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/>
                        <a:t>60/70</a:t>
                      </a:r>
                    </a:p>
                    <a:p>
                      <a:pPr algn="ctr"/>
                      <a:r>
                        <a:rPr lang="en-US" altLang="zh-HK" sz="1100"/>
                        <a:t>(85.71%)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9/20</a:t>
                      </a:r>
                    </a:p>
                    <a:p>
                      <a:pPr algn="ctr"/>
                      <a:r>
                        <a:rPr lang="en-US" altLang="zh-HK" sz="1100" dirty="0"/>
                        <a:t>(45%)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69/90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altLang="zh-HK" sz="1100" dirty="0"/>
                        <a:t>Multiple(9)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50/70</a:t>
                      </a:r>
                    </a:p>
                    <a:p>
                      <a:pPr algn="ctr"/>
                      <a:r>
                        <a:rPr lang="en-US" altLang="zh-HK" sz="1100" dirty="0"/>
                        <a:t>(71.43%)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3/20</a:t>
                      </a:r>
                    </a:p>
                    <a:p>
                      <a:pPr algn="ctr"/>
                      <a:r>
                        <a:rPr lang="en-US" altLang="zh-HK" sz="1100" dirty="0"/>
                        <a:t>(15%)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53/90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0E43CE-19D7-7E60-72D4-217CC1918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967667"/>
              </p:ext>
            </p:extLst>
          </p:nvPr>
        </p:nvGraphicFramePr>
        <p:xfrm>
          <a:off x="330994" y="3209593"/>
          <a:ext cx="7857649" cy="17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06">
                  <a:extLst>
                    <a:ext uri="{9D8B030D-6E8A-4147-A177-3AD203B41FA5}">
                      <a16:colId xmlns:a16="http://schemas.microsoft.com/office/drawing/2014/main" val="3952376807"/>
                    </a:ext>
                  </a:extLst>
                </a:gridCol>
                <a:gridCol w="2493378">
                  <a:extLst>
                    <a:ext uri="{9D8B030D-6E8A-4147-A177-3AD203B41FA5}">
                      <a16:colId xmlns:a16="http://schemas.microsoft.com/office/drawing/2014/main" val="1381442250"/>
                    </a:ext>
                  </a:extLst>
                </a:gridCol>
                <a:gridCol w="2530565">
                  <a:extLst>
                    <a:ext uri="{9D8B030D-6E8A-4147-A177-3AD203B41FA5}">
                      <a16:colId xmlns:a16="http://schemas.microsoft.com/office/drawing/2014/main" val="2531134566"/>
                    </a:ext>
                  </a:extLst>
                </a:gridCol>
              </a:tblGrid>
              <a:tr h="302681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Hit Rate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533677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400" dirty="0">
                          <a:sym typeface="+mn-ea"/>
                        </a:rPr>
                        <a:t>English Query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37897175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r>
                        <a:rPr lang="en-US" altLang="zh-HK" sz="1100"/>
                        <a:t>Single</a:t>
                      </a:r>
                      <a:r>
                        <a:rPr lang="en-US" altLang="zh-HK" sz="1400">
                          <a:sym typeface="+mn-ea"/>
                        </a:rPr>
                        <a:t>(1)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9/20</a:t>
                      </a:r>
                    </a:p>
                    <a:p>
                      <a:pPr algn="ctr"/>
                      <a:r>
                        <a:rPr lang="en-US" altLang="zh-HK" sz="1100" dirty="0"/>
                        <a:t>(45%)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15/20</a:t>
                      </a:r>
                    </a:p>
                    <a:p>
                      <a:pPr algn="ctr"/>
                      <a:r>
                        <a:rPr lang="en-US" altLang="zh-HK" sz="1100" dirty="0"/>
                        <a:t>(75%)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80990121"/>
                  </a:ext>
                </a:extLst>
              </a:tr>
              <a:tr h="480131">
                <a:tc>
                  <a:txBody>
                    <a:bodyPr/>
                    <a:lstStyle/>
                    <a:p>
                      <a:r>
                        <a:rPr lang="en-US" altLang="zh-HK" sz="1100"/>
                        <a:t>Multiple</a:t>
                      </a:r>
                      <a:r>
                        <a:rPr lang="en-US" altLang="zh-HK" sz="1400">
                          <a:sym typeface="+mn-ea"/>
                        </a:rPr>
                        <a:t>(9)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/>
                        <a:t>3/20</a:t>
                      </a:r>
                    </a:p>
                    <a:p>
                      <a:pPr algn="ctr"/>
                      <a:r>
                        <a:rPr lang="en-US" altLang="zh-HK" sz="1100"/>
                        <a:t>(15%)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14/20</a:t>
                      </a:r>
                    </a:p>
                    <a:p>
                      <a:pPr algn="ctr"/>
                      <a:r>
                        <a:rPr lang="en-US" altLang="zh-HK" sz="1100" dirty="0"/>
                        <a:t>(70%)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553423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171292-0E41-ED39-37F3-24AA97440E65}"/>
              </a:ext>
            </a:extLst>
          </p:cNvPr>
          <p:cNvSpPr txBox="1"/>
          <p:nvPr/>
        </p:nvSpPr>
        <p:spPr>
          <a:xfrm>
            <a:off x="330994" y="2794802"/>
            <a:ext cx="4050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/>
              <a:t>Focus on 2 English 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4" y="339539"/>
            <a:ext cx="7053542" cy="601443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Discussion 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940982"/>
            <a:ext cx="6709906" cy="3745318"/>
          </a:xfrm>
        </p:spPr>
        <p:txBody>
          <a:bodyPr>
            <a:normAutofit/>
          </a:bodyPr>
          <a:lstStyle/>
          <a:p>
            <a:r>
              <a:rPr lang="en-US" altLang="zh-CN" sz="1500" dirty="0">
                <a:latin typeface="+mn-lt"/>
              </a:rPr>
              <a:t>The translation ability of the embedding model may be poor</a:t>
            </a:r>
          </a:p>
          <a:p>
            <a:r>
              <a:rPr lang="en-US" altLang="zh-CN" sz="1500" dirty="0">
                <a:latin typeface="+mn-lt"/>
              </a:rPr>
              <a:t>Found another embedding model at MTEB to improve the accuracy of retrieving </a:t>
            </a:r>
            <a:r>
              <a:rPr lang="en-US" altLang="zh-CN" sz="1500" dirty="0" err="1">
                <a:latin typeface="+mn-lt"/>
              </a:rPr>
              <a:t>english</a:t>
            </a:r>
            <a:r>
              <a:rPr lang="en-US" altLang="zh-CN" sz="1500" dirty="0">
                <a:latin typeface="+mn-lt"/>
              </a:rPr>
              <a:t> document</a:t>
            </a:r>
          </a:p>
          <a:p>
            <a:r>
              <a:rPr lang="en-US" altLang="zh-CN" sz="1500" dirty="0">
                <a:latin typeface="+mn-lt"/>
              </a:rPr>
              <a:t>MTEB (</a:t>
            </a:r>
            <a:r>
              <a:rPr lang="pl-PL" altLang="zh-HK" sz="1600" b="1" dirty="0">
                <a:latin typeface="+mn-lt"/>
              </a:rPr>
              <a:t>Massive Text Embedding Benchmark</a:t>
            </a:r>
            <a:r>
              <a:rPr lang="en-US" altLang="zh-CN" sz="1500" dirty="0">
                <a:latin typeface="+mn-lt"/>
              </a:rPr>
              <a:t>)</a:t>
            </a:r>
          </a:p>
          <a:p>
            <a:pPr lvl="1"/>
            <a:r>
              <a:rPr lang="en-US" altLang="zh-TW" sz="1350" dirty="0">
                <a:latin typeface="+mn-lt"/>
              </a:rPr>
              <a:t>Language: Chinese + English</a:t>
            </a:r>
          </a:p>
          <a:p>
            <a:pPr lvl="1"/>
            <a:r>
              <a:rPr lang="en-US" altLang="zh-TW" sz="1350" dirty="0">
                <a:latin typeface="+mn-lt"/>
              </a:rPr>
              <a:t>Model size: less than 1000 parameters</a:t>
            </a:r>
          </a:p>
          <a:p>
            <a:pPr lvl="1"/>
            <a:r>
              <a:rPr lang="en-US" altLang="zh-TW" sz="1350" dirty="0">
                <a:latin typeface="+mn-lt"/>
              </a:rPr>
              <a:t>Task type: Retrieval</a:t>
            </a:r>
          </a:p>
          <a:p>
            <a:pPr lvl="1"/>
            <a:r>
              <a:rPr lang="en-US" altLang="zh-CN" sz="1350" dirty="0">
                <a:latin typeface="+mn-lt"/>
              </a:rPr>
              <a:t>Availability: Only Open Source</a:t>
            </a:r>
          </a:p>
          <a:p>
            <a:pPr lvl="1"/>
            <a:endParaRPr lang="en-US" altLang="zh-CN" sz="135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9</a:t>
            </a:fld>
            <a:endParaRPr lang="zh-HK" altLang="en-US"/>
          </a:p>
        </p:txBody>
      </p:sp>
      <p:pic>
        <p:nvPicPr>
          <p:cNvPr id="5" name="图片 10">
            <a:extLst>
              <a:ext uri="{FF2B5EF4-FFF2-40B4-BE49-F238E27FC236}">
                <a16:creationId xmlns:a16="http://schemas.microsoft.com/office/drawing/2014/main" id="{993E7EBA-2431-115F-9654-7FE9E9CF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57" y="3220175"/>
            <a:ext cx="5612130" cy="1716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4" y="339539"/>
            <a:ext cx="7053542" cy="601443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MTEB </a:t>
            </a:r>
            <a:r>
              <a:rPr lang="en-US" altLang="zh-CN" sz="2800" dirty="0">
                <a:latin typeface="+mn-lt"/>
              </a:rPr>
              <a:t>(</a:t>
            </a:r>
            <a:r>
              <a:rPr lang="pl-PL" altLang="zh-HK" sz="2800" b="1" dirty="0">
                <a:latin typeface="+mn-lt"/>
              </a:rPr>
              <a:t>Massive Text Embedding Benchmark</a:t>
            </a:r>
            <a:r>
              <a:rPr lang="en-US" altLang="zh-CN" sz="2800" dirty="0">
                <a:latin typeface="+mn-lt"/>
              </a:rPr>
              <a:t>)</a:t>
            </a:r>
            <a:br>
              <a:rPr lang="en-US" altLang="zh-CN" sz="2800" dirty="0">
                <a:latin typeface="+mn-lt"/>
              </a:rPr>
            </a:b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940982"/>
            <a:ext cx="6709906" cy="1630768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latin typeface="+mj-lt"/>
              </a:rPr>
              <a:t>Select: </a:t>
            </a:r>
          </a:p>
          <a:p>
            <a:pPr lvl="1"/>
            <a:r>
              <a:rPr lang="en-US" altLang="zh-CN" dirty="0">
                <a:latin typeface="+mj-lt"/>
              </a:rPr>
              <a:t>Snowflake/snowflake-arctic-embed-l-v2.0</a:t>
            </a:r>
          </a:p>
          <a:p>
            <a:pPr lvl="1"/>
            <a:r>
              <a:rPr lang="en-US" altLang="zh-CN" dirty="0">
                <a:latin typeface="+mj-lt"/>
              </a:rPr>
              <a:t>Alibaba-NLP/</a:t>
            </a:r>
            <a:r>
              <a:rPr lang="en-US" altLang="zh-CN" dirty="0" err="1">
                <a:latin typeface="+mj-lt"/>
              </a:rPr>
              <a:t>gte</a:t>
            </a:r>
            <a:r>
              <a:rPr lang="en-US" altLang="zh-CN" dirty="0">
                <a:latin typeface="+mj-lt"/>
              </a:rPr>
              <a:t>-multilingual-base</a:t>
            </a:r>
          </a:p>
          <a:p>
            <a:endParaRPr lang="en-US" altLang="zh-CN" sz="1400" dirty="0">
              <a:latin typeface="+mn-lt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10</a:t>
            </a:fld>
            <a:endParaRPr lang="zh-HK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83" y="1930809"/>
            <a:ext cx="8237434" cy="2929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275" y="280512"/>
            <a:ext cx="720947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150" dirty="0"/>
              <a:t>Result:</a:t>
            </a:r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3000" dirty="0"/>
          </a:p>
          <a:p>
            <a:endParaRPr lang="en-US" altLang="zh-HK" sz="3000" dirty="0"/>
          </a:p>
          <a:p>
            <a:endParaRPr lang="zh-HK" altLang="en-US" sz="30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11</a:t>
            </a:fld>
            <a:endParaRPr lang="zh-HK" altLang="en-US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11217"/>
              </p:ext>
            </p:extLst>
          </p:nvPr>
        </p:nvGraphicFramePr>
        <p:xfrm>
          <a:off x="295275" y="1048703"/>
          <a:ext cx="7857650" cy="337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100"/>
                        <a:t>Context in Chinese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>
                          <a:sym typeface="+mn-ea"/>
                        </a:rPr>
                        <a:t>Context in English PDF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100" dirty="0"/>
                        <a:t>Total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/>
                        <a:t>Chuxin Embedding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Single(1)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60/70</a:t>
                      </a:r>
                    </a:p>
                    <a:p>
                      <a:pPr algn="ctr"/>
                      <a:r>
                        <a:rPr lang="en-US" altLang="zh-HK" sz="1200"/>
                        <a:t>(85.71%)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 dirty="0"/>
                        <a:t>9/20</a:t>
                      </a:r>
                    </a:p>
                    <a:p>
                      <a:pPr algn="ctr"/>
                      <a:r>
                        <a:rPr lang="en-US" altLang="zh-HK" sz="1200" dirty="0"/>
                        <a:t>(45%)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69/90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Multiple(9)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 dirty="0"/>
                        <a:t>50/70</a:t>
                      </a:r>
                    </a:p>
                    <a:p>
                      <a:pPr algn="ctr"/>
                      <a:r>
                        <a:rPr lang="en-US" altLang="zh-HK" sz="1200" dirty="0"/>
                        <a:t>(71.43%)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3/20</a:t>
                      </a:r>
                    </a:p>
                    <a:p>
                      <a:pPr algn="ctr"/>
                      <a:r>
                        <a:rPr lang="en-US" altLang="zh-HK" sz="1200"/>
                        <a:t>(15%)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 dirty="0"/>
                        <a:t>53/90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 rowSpan="2">
                  <a:txBody>
                    <a:bodyPr/>
                    <a:lstStyle/>
                    <a:p>
                      <a:pPr lvl="1"/>
                      <a:r>
                        <a:rPr lang="en-US" altLang="zh-CN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Snowflake/snowflake-arctic-embed-l-v2.0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Single(1)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>
                          <a:solidFill>
                            <a:schemeClr val="tx1"/>
                          </a:solidFill>
                        </a:rPr>
                        <a:t>58/70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>
                          <a:solidFill>
                            <a:schemeClr val="tx1"/>
                          </a:solidFill>
                        </a:rPr>
                        <a:t>(82.83%)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13/20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/>
                        <a:t>(65%)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>
                          <a:solidFill>
                            <a:srgbClr val="FF0000"/>
                          </a:solidFill>
                        </a:rPr>
                        <a:t>71/90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 dirty="0"/>
                        <a:t>Multiple(9)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50/70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>
                          <a:sym typeface="+mn-ea"/>
                        </a:rPr>
                        <a:t>(71.43%)</a:t>
                      </a:r>
                      <a:endParaRPr lang="en-US" altLang="zh-HK" sz="12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9/20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/>
                        <a:t>(45%)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>
                          <a:solidFill>
                            <a:srgbClr val="FF0000"/>
                          </a:solidFill>
                        </a:rPr>
                        <a:t>59/90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Alibaba-NLP/</a:t>
                      </a:r>
                      <a:r>
                        <a:rPr lang="en-US" altLang="zh-CN" sz="1200" dirty="0" err="1"/>
                        <a:t>gte</a:t>
                      </a:r>
                      <a:r>
                        <a:rPr lang="en-US" altLang="zh-CN" sz="1200" dirty="0"/>
                        <a:t>-multilingual-base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Single(1)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56/70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/>
                        <a:t>(80%)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13/20</a:t>
                      </a:r>
                      <a:br>
                        <a:rPr lang="en-US" altLang="zh-HK" sz="1200" dirty="0"/>
                      </a:br>
                      <a:r>
                        <a:rPr lang="en-US" altLang="zh-HK" sz="1200" dirty="0"/>
                        <a:t>(50%)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69/90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200"/>
                        <a:t>Multiple(9) PDF with 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49/70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HK" sz="1200" dirty="0"/>
                        <a:t>(70%)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3/20</a:t>
                      </a:r>
                      <a:br>
                        <a:rPr lang="en-US" altLang="zh-HK" sz="1200" dirty="0"/>
                      </a:br>
                      <a:r>
                        <a:rPr lang="en-US" altLang="zh-HK" sz="1200" dirty="0"/>
                        <a:t>(15%)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200" dirty="0"/>
                        <a:t>52/90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275" y="280512"/>
            <a:ext cx="7209473" cy="325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150" dirty="0"/>
              <a:t>Result:</a:t>
            </a:r>
            <a:br>
              <a:rPr lang="en-US" altLang="zh-HK" sz="3150" dirty="0"/>
            </a:br>
            <a:r>
              <a:rPr lang="en-US" altLang="zh-HK" sz="3150" dirty="0"/>
              <a:t>Focus on 2 English PDF</a:t>
            </a:r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3000" dirty="0"/>
          </a:p>
          <a:p>
            <a:endParaRPr lang="en-US" altLang="zh-HK" sz="3000" dirty="0"/>
          </a:p>
          <a:p>
            <a:endParaRPr lang="zh-HK" altLang="en-US" sz="30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12</a:t>
            </a:fld>
            <a:endParaRPr lang="zh-HK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6466113"/>
              </p:ext>
            </p:extLst>
          </p:nvPr>
        </p:nvGraphicFramePr>
        <p:xfrm>
          <a:off x="295276" y="1609249"/>
          <a:ext cx="7950041" cy="2261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HK" sz="1100" dirty="0"/>
                    </a:p>
                  </a:txBody>
                  <a:tcPr marL="68580" marR="68580" marT="34290" marB="3429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Hit Rate on English document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Chinese Query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400">
                          <a:sym typeface="+mn-ea"/>
                        </a:rPr>
                        <a:t>English Query</a:t>
                      </a:r>
                      <a:endParaRPr lang="zh-HK" alt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400">
                          <a:sym typeface="+mn-ea"/>
                        </a:rPr>
                        <a:t>Chuxin Embedding</a:t>
                      </a:r>
                      <a:endParaRPr lang="en-US" altLang="zh-HK" sz="1400"/>
                    </a:p>
                    <a:p>
                      <a:pPr algn="ctr">
                        <a:buNone/>
                      </a:pPr>
                      <a:endParaRPr lang="en-US" altLang="zh-HK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Single</a:t>
                      </a:r>
                      <a:r>
                        <a:rPr lang="en-US" altLang="zh-HK" sz="1400">
                          <a:sym typeface="+mn-ea"/>
                        </a:rPr>
                        <a:t>(1)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9/20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15/20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Multiple</a:t>
                      </a:r>
                      <a:r>
                        <a:rPr lang="en-US" altLang="zh-HK" sz="1400">
                          <a:sym typeface="+mn-ea"/>
                        </a:rPr>
                        <a:t>(9)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/>
                        <a:t>3/20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1100"/>
                        <a:t>14/20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/>
                        <a:t>Snowflake/snowflake-arctic-embed-l-v2.0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Single</a:t>
                      </a:r>
                      <a:r>
                        <a:rPr lang="en-US" altLang="zh-HK" sz="1400">
                          <a:sym typeface="+mn-ea"/>
                        </a:rPr>
                        <a:t>(1)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13/20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17/20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Multiple</a:t>
                      </a:r>
                      <a:r>
                        <a:rPr lang="en-US" altLang="zh-HK" sz="1400">
                          <a:sym typeface="+mn-ea"/>
                        </a:rPr>
                        <a:t>(9)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9/20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 dirty="0"/>
                        <a:t>13/20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75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Alibaba-NLP/gte-multilingual-base</a:t>
                      </a:r>
                      <a:endParaRPr lang="en-US" altLang="zh-CN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Single</a:t>
                      </a:r>
                      <a:r>
                        <a:rPr lang="en-US" altLang="zh-HK" sz="1400">
                          <a:sym typeface="+mn-ea"/>
                        </a:rPr>
                        <a:t>(1)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 dirty="0"/>
                        <a:t>13/20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 dirty="0"/>
                        <a:t>15/20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sz="1100"/>
                        <a:t>Multiple</a:t>
                      </a:r>
                      <a:r>
                        <a:rPr lang="en-US" altLang="zh-HK" sz="1400">
                          <a:sym typeface="+mn-ea"/>
                        </a:rPr>
                        <a:t>(9)</a:t>
                      </a:r>
                      <a:r>
                        <a:rPr lang="en-US" altLang="zh-HK" sz="1100"/>
                        <a:t> PDF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/>
                        <a:t>3/20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HK" sz="1100" dirty="0"/>
                        <a:t>15/20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FCEFEA-C431-5661-31B8-ED05D3AB297E}"/>
              </a:ext>
            </a:extLst>
          </p:cNvPr>
          <p:cNvSpPr txBox="1"/>
          <p:nvPr/>
        </p:nvSpPr>
        <p:spPr>
          <a:xfrm>
            <a:off x="295276" y="4211808"/>
            <a:ext cx="7950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/>
              <a:t>If we </a:t>
            </a:r>
            <a:r>
              <a:rPr lang="en-US" altLang="zh-HK" dirty="0" err="1"/>
              <a:t>english</a:t>
            </a:r>
            <a:r>
              <a:rPr lang="en-US" altLang="zh-HK" dirty="0"/>
              <a:t> query to search from those English document, the retrieval accuracy may also increase.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FB15-23A8-4A6A-8381-8C7087B5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1C19-61E1-BC6C-89FD-8EBD7534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339539"/>
            <a:ext cx="7053542" cy="601443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Discussion 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7F4A0-518B-64EA-EA98-32CC890EF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940982"/>
            <a:ext cx="6709906" cy="2056660"/>
          </a:xfrm>
        </p:spPr>
        <p:txBody>
          <a:bodyPr>
            <a:normAutofit/>
          </a:bodyPr>
          <a:lstStyle/>
          <a:p>
            <a:r>
              <a:rPr lang="en-US" altLang="zh-CN" sz="1400" b="0" i="0" u="none" strike="noStrike" cap="none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Snowflake/snowflake-arctic-embed-l-v2.0 have better proficiency</a:t>
            </a:r>
          </a:p>
          <a:p>
            <a:endParaRPr lang="en-US" altLang="zh-CN" sz="1400" b="0" i="0" u="none" strike="noStrike" cap="none" dirty="0">
              <a:solidFill>
                <a:schemeClr val="dk1"/>
              </a:solidFill>
              <a:latin typeface="+mn-lt"/>
              <a:ea typeface="+mn-ea"/>
              <a:cs typeface="+mn-cs"/>
              <a:sym typeface="Arial"/>
            </a:endParaRPr>
          </a:p>
          <a:p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Change the embedding model from </a:t>
            </a:r>
            <a:r>
              <a:rPr lang="en-US" altLang="zh-CN" sz="1400" dirty="0" err="1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Chuxin</a:t>
            </a:r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-Embedding to this model.</a:t>
            </a:r>
          </a:p>
          <a:p>
            <a:endParaRPr lang="en-US" altLang="zh-CN" sz="1400" dirty="0">
              <a:solidFill>
                <a:schemeClr val="dk1"/>
              </a:solidFill>
              <a:latin typeface="+mn-lt"/>
              <a:ea typeface="+mn-ea"/>
              <a:cs typeface="+mn-cs"/>
              <a:sym typeface="Arial"/>
            </a:endParaRPr>
          </a:p>
          <a:p>
            <a:r>
              <a:rPr lang="en-US" altLang="zh-CN" sz="1400" b="0" i="0" u="none" strike="noStrike" cap="none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If we can locate the docu</a:t>
            </a:r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ment first, the performance may be better</a:t>
            </a:r>
            <a:endParaRPr lang="en-US" altLang="zh-CN" sz="1400" b="0" i="0" u="none" strike="noStrike" cap="none" dirty="0">
              <a:solidFill>
                <a:schemeClr val="dk1"/>
              </a:solidFill>
              <a:latin typeface="+mn-lt"/>
              <a:ea typeface="+mn-ea"/>
              <a:cs typeface="+mn-cs"/>
              <a:sym typeface="Arial"/>
            </a:endParaRPr>
          </a:p>
          <a:p>
            <a:pPr lvl="1"/>
            <a:endParaRPr lang="en-US" altLang="zh-CN" sz="135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634489-6160-FE8D-E488-6E8DB3D5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873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AD5E-626A-36D1-B4EA-B391CCEE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C817-619C-86A5-6B87-2621B364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339539"/>
            <a:ext cx="7053542" cy="601443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Next</a:t>
            </a:r>
            <a:br>
              <a:rPr lang="zh-HK" altLang="en-US" dirty="0"/>
            </a:b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2F122-DCAD-36E4-C2FF-E3B992A79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3" y="940981"/>
            <a:ext cx="7958707" cy="3862979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Recalculate the accuracy after updating the embedding model and compare it to existing chatbot system</a:t>
            </a:r>
          </a:p>
          <a:p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Method: Retrieve the relevant document from single pdf and generate the response by LLM</a:t>
            </a:r>
          </a:p>
          <a:p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Model: </a:t>
            </a:r>
          </a:p>
          <a:p>
            <a:pPr lvl="1"/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Gemma2-9b-it</a:t>
            </a:r>
          </a:p>
          <a:p>
            <a:pPr lvl="1"/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Yi-1.5-9b-chat</a:t>
            </a:r>
          </a:p>
          <a:p>
            <a:pPr marL="425450" indent="-285750"/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Evaluation method: Accuracy</a:t>
            </a:r>
          </a:p>
          <a:p>
            <a:pPr marL="425450" indent="-285750"/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For Copilot: </a:t>
            </a:r>
          </a:p>
          <a:p>
            <a:pPr marL="882650" lvl="1" indent="-285750"/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The student account cannot access the copilot studio.</a:t>
            </a:r>
          </a:p>
          <a:p>
            <a:pPr marL="882650" lvl="1" indent="-285750"/>
            <a:r>
              <a:rPr lang="en-US" altLang="zh-CN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So, I just import single pdf into copilot chat and ask the question from pdf</a:t>
            </a:r>
          </a:p>
          <a:p>
            <a:pPr marL="425450" indent="-285750"/>
            <a:r>
              <a: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For perplexity AI: only 3 free rag questions per day, so doesn’t include this time </a:t>
            </a:r>
          </a:p>
          <a:p>
            <a:pPr lvl="1"/>
            <a:endParaRPr lang="en-US" altLang="zh-CN" sz="135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CA3E77-C044-45C5-D536-A4457B81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85018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275" y="221932"/>
            <a:ext cx="2304574" cy="6410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HK" sz="3150" dirty="0"/>
              <a:t>Accuracy</a:t>
            </a:r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1050" dirty="0"/>
          </a:p>
          <a:p>
            <a:endParaRPr lang="en-US" altLang="zh-HK" sz="3000" dirty="0"/>
          </a:p>
          <a:p>
            <a:endParaRPr lang="en-US" altLang="zh-HK" sz="3000" dirty="0"/>
          </a:p>
          <a:p>
            <a:endParaRPr lang="zh-HK" altLang="en-US" sz="30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15</a:t>
            </a:fld>
            <a:endParaRPr lang="zh-HK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42169"/>
              </p:ext>
            </p:extLst>
          </p:nvPr>
        </p:nvGraphicFramePr>
        <p:xfrm>
          <a:off x="718752" y="1009817"/>
          <a:ext cx="7439245" cy="157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079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HK" sz="1100" dirty="0"/>
                        <a:t>RAG</a:t>
                      </a:r>
                      <a:endParaRPr lang="en-US" altLang="zh-TW" sz="11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079">
                <a:tc>
                  <a:txBody>
                    <a:bodyPr/>
                    <a:lstStyle/>
                    <a:p>
                      <a:endParaRPr lang="en-US" altLang="zh-H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/>
                        <a:t>Bleu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Rouge-1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>
                          <a:sym typeface="+mn-ea"/>
                        </a:rPr>
                        <a:t>Roug-e-h</a:t>
                      </a:r>
                      <a:endParaRPr lang="zh-HK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Meteor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079"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Gemma2-9b-it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0.315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0.532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0.451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0.486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079"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Yi-1.5-9b-chat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0.156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0.403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0.296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HK" sz="1400" dirty="0"/>
                        <a:t>0.419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6156696"/>
                  </a:ext>
                </a:extLst>
              </a:tr>
              <a:tr h="314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 dirty="0"/>
                        <a:t>Copilot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/>
                        <a:t>0.409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 dirty="0"/>
                        <a:t>0.606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 dirty="0"/>
                        <a:t>0.522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HK" sz="1400" dirty="0"/>
                        <a:t>0.537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09E9-F842-B2AF-2D68-61297EDA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F8E56D-D062-1F11-ED84-8B477E5C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7CEA6-17B5-4347-86B2-9520D0409059}" type="slidenum">
              <a:rPr lang="zh-HK" altLang="en-US" smtClean="0"/>
              <a:t>16</a:t>
            </a:fld>
            <a:endParaRPr lang="zh-HK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CBAD2C-5535-9957-F513-CF4922D2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Adjust different chunk size</a:t>
            </a:r>
          </a:p>
          <a:p>
            <a:endParaRPr lang="en-US" altLang="zh-CN" sz="1800" dirty="0">
              <a:solidFill>
                <a:schemeClr val="dk1"/>
              </a:solidFill>
              <a:latin typeface="+mn-lt"/>
              <a:ea typeface="+mn-ea"/>
              <a:cs typeface="+mn-cs"/>
              <a:sym typeface="Arial"/>
            </a:endParaRPr>
          </a:p>
          <a:p>
            <a:r>
              <a:rPr lang="en-US" alt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rPr>
              <a:t>Test different vector store</a:t>
            </a:r>
          </a:p>
          <a:p>
            <a:endParaRPr lang="zh-HK" alt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BDD73C4-001E-F60D-9440-867E2892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Future work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601703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1*275"/>
  <p:tag name="TABLE_ENDDRAG_RECT" val="68*106*791*2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4*106"/>
  <p:tag name="TABLE_ENDDRAG_RECT" val="31*168*834*106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1084</Words>
  <Application>Microsoft Office PowerPoint</Application>
  <PresentationFormat>On-screen Show (16:9)</PresentationFormat>
  <Paragraphs>306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Alata</vt:lpstr>
      <vt:lpstr>Anton</vt:lpstr>
      <vt:lpstr>Wingdings</vt:lpstr>
      <vt:lpstr>Calibri</vt:lpstr>
      <vt:lpstr>Arial</vt:lpstr>
      <vt:lpstr>Simple Light</vt:lpstr>
      <vt:lpstr>PowerPoint Presentation</vt:lpstr>
      <vt:lpstr>Description</vt:lpstr>
      <vt:lpstr>Retriever</vt:lpstr>
      <vt:lpstr>Dataset</vt:lpstr>
      <vt:lpstr>PowerPoint Presentation</vt:lpstr>
      <vt:lpstr>Correctly rerieved</vt:lpstr>
      <vt:lpstr>rerieved</vt:lpstr>
      <vt:lpstr>PowerPoint Presentation</vt:lpstr>
      <vt:lpstr>Discussion </vt:lpstr>
      <vt:lpstr>MTEB (Massive Text Embedding Benchmark)  </vt:lpstr>
      <vt:lpstr>PowerPoint Presentation</vt:lpstr>
      <vt:lpstr>PowerPoint Presentation</vt:lpstr>
      <vt:lpstr>Discussion </vt:lpstr>
      <vt:lpstr>Next  </vt:lpstr>
      <vt:lpstr>PowerPoint Presentation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WONG, Ko Yin</cp:lastModifiedBy>
  <cp:revision>23</cp:revision>
  <dcterms:modified xsi:type="dcterms:W3CDTF">2025-03-30T14:08:26Z</dcterms:modified>
</cp:coreProperties>
</file>