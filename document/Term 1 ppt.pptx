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42"/>
  </p:notesMasterIdLst>
  <p:sldIdLst>
    <p:sldId id="256" r:id="rId2"/>
    <p:sldId id="288" r:id="rId3"/>
    <p:sldId id="289" r:id="rId4"/>
    <p:sldId id="292" r:id="rId5"/>
    <p:sldId id="293" r:id="rId6"/>
    <p:sldId id="291" r:id="rId7"/>
    <p:sldId id="278" r:id="rId8"/>
    <p:sldId id="314" r:id="rId9"/>
    <p:sldId id="315" r:id="rId10"/>
    <p:sldId id="294" r:id="rId11"/>
    <p:sldId id="295" r:id="rId12"/>
    <p:sldId id="275" r:id="rId13"/>
    <p:sldId id="296" r:id="rId14"/>
    <p:sldId id="299" r:id="rId15"/>
    <p:sldId id="297" r:id="rId16"/>
    <p:sldId id="298" r:id="rId17"/>
    <p:sldId id="258" r:id="rId18"/>
    <p:sldId id="264" r:id="rId19"/>
    <p:sldId id="257" r:id="rId20"/>
    <p:sldId id="285" r:id="rId21"/>
    <p:sldId id="279" r:id="rId22"/>
    <p:sldId id="306" r:id="rId23"/>
    <p:sldId id="280" r:id="rId24"/>
    <p:sldId id="300" r:id="rId25"/>
    <p:sldId id="301" r:id="rId26"/>
    <p:sldId id="303" r:id="rId27"/>
    <p:sldId id="273" r:id="rId28"/>
    <p:sldId id="274" r:id="rId29"/>
    <p:sldId id="304" r:id="rId30"/>
    <p:sldId id="277" r:id="rId31"/>
    <p:sldId id="266" r:id="rId32"/>
    <p:sldId id="284" r:id="rId33"/>
    <p:sldId id="305" r:id="rId34"/>
    <p:sldId id="308" r:id="rId35"/>
    <p:sldId id="312" r:id="rId36"/>
    <p:sldId id="313" r:id="rId37"/>
    <p:sldId id="311" r:id="rId38"/>
    <p:sldId id="309" r:id="rId39"/>
    <p:sldId id="307" r:id="rId40"/>
    <p:sldId id="310" r:id="rId4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968" autoAdjust="0"/>
    <p:restoredTop sz="93137" autoAdjust="0"/>
  </p:normalViewPr>
  <p:slideViewPr>
    <p:cSldViewPr snapToGrid="0">
      <p:cViewPr varScale="1">
        <p:scale>
          <a:sx n="60" d="100"/>
          <a:sy n="60" d="100"/>
        </p:scale>
        <p:origin x="756"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HK"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82023B-AECB-4440-8ABF-535800EA7F1A}" type="datetimeFigureOut">
              <a:rPr lang="zh-HK" altLang="en-US" smtClean="0"/>
              <a:t>9/4/2025</a:t>
            </a:fld>
            <a:endParaRPr lang="zh-HK"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HK"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HK"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7B157F-408C-43EC-8929-4FE244936F8E}" type="slidenum">
              <a:rPr lang="zh-HK" altLang="en-US" smtClean="0"/>
              <a:t>‹#›</a:t>
            </a:fld>
            <a:endParaRPr lang="zh-HK" altLang="en-US"/>
          </a:p>
        </p:txBody>
      </p:sp>
    </p:spTree>
    <p:extLst>
      <p:ext uri="{BB962C8B-B14F-4D97-AF65-F5344CB8AC3E}">
        <p14:creationId xmlns:p14="http://schemas.microsoft.com/office/powerpoint/2010/main" val="15386272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D17B157F-408C-43EC-8929-4FE244936F8E}" type="slidenum">
              <a:rPr lang="zh-HK" altLang="en-US" smtClean="0"/>
              <a:t>1</a:t>
            </a:fld>
            <a:endParaRPr lang="zh-HK" altLang="en-US"/>
          </a:p>
        </p:txBody>
      </p:sp>
    </p:spTree>
    <p:extLst>
      <p:ext uri="{BB962C8B-B14F-4D97-AF65-F5344CB8AC3E}">
        <p14:creationId xmlns:p14="http://schemas.microsoft.com/office/powerpoint/2010/main" val="25684910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D17B157F-408C-43EC-8929-4FE244936F8E}" type="slidenum">
              <a:rPr lang="zh-HK" altLang="en-US" smtClean="0"/>
              <a:t>21</a:t>
            </a:fld>
            <a:endParaRPr lang="zh-HK" altLang="en-US"/>
          </a:p>
        </p:txBody>
      </p:sp>
    </p:spTree>
    <p:extLst>
      <p:ext uri="{BB962C8B-B14F-4D97-AF65-F5344CB8AC3E}">
        <p14:creationId xmlns:p14="http://schemas.microsoft.com/office/powerpoint/2010/main" val="2672391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HK" altLang="en-US" dirty="0"/>
          </a:p>
        </p:txBody>
      </p:sp>
      <p:sp>
        <p:nvSpPr>
          <p:cNvPr id="4" name="Slide Number Placeholder 3"/>
          <p:cNvSpPr>
            <a:spLocks noGrp="1"/>
          </p:cNvSpPr>
          <p:nvPr>
            <p:ph type="sldNum" sz="quarter" idx="5"/>
          </p:nvPr>
        </p:nvSpPr>
        <p:spPr/>
        <p:txBody>
          <a:bodyPr/>
          <a:lstStyle/>
          <a:p>
            <a:fld id="{D17B157F-408C-43EC-8929-4FE244936F8E}" type="slidenum">
              <a:rPr lang="zh-HK" altLang="en-US" smtClean="0"/>
              <a:t>32</a:t>
            </a:fld>
            <a:endParaRPr lang="zh-HK" altLang="en-US"/>
          </a:p>
        </p:txBody>
      </p:sp>
    </p:spTree>
    <p:extLst>
      <p:ext uri="{BB962C8B-B14F-4D97-AF65-F5344CB8AC3E}">
        <p14:creationId xmlns:p14="http://schemas.microsoft.com/office/powerpoint/2010/main" val="10936739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ltLang="zh-TW"/>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TW"/>
              <a:t>Click to edit Master subtitle style</a:t>
            </a:r>
            <a:endParaRPr lang="en-US" dirty="0"/>
          </a:p>
        </p:txBody>
      </p:sp>
      <p:sp>
        <p:nvSpPr>
          <p:cNvPr id="4" name="Date Placeholder 3"/>
          <p:cNvSpPr>
            <a:spLocks noGrp="1"/>
          </p:cNvSpPr>
          <p:nvPr>
            <p:ph type="dt" sz="half" idx="10"/>
          </p:nvPr>
        </p:nvSpPr>
        <p:spPr/>
        <p:txBody>
          <a:bodyPr/>
          <a:lstStyle/>
          <a:p>
            <a:fld id="{9E43CE7F-4FB6-433A-A7DF-EE1127209862}" type="datetime1">
              <a:rPr lang="zh-HK" altLang="en-US" smtClean="0"/>
              <a:t>9/4/2025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27739133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dirty="0"/>
          </a:p>
        </p:txBody>
      </p:sp>
      <p:sp>
        <p:nvSpPr>
          <p:cNvPr id="3" name="Content Placeholder 2"/>
          <p:cNvSpPr>
            <a:spLocks noGrp="1"/>
          </p:cNvSpPr>
          <p:nvPr>
            <p:ph idx="1"/>
          </p:nvPr>
        </p:nvSpPr>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7" name="Date Placeholder 3"/>
          <p:cNvSpPr>
            <a:spLocks noGrp="1"/>
          </p:cNvSpPr>
          <p:nvPr>
            <p:ph type="dt" sz="half" idx="10"/>
          </p:nvPr>
        </p:nvSpPr>
        <p:spPr/>
        <p:txBody>
          <a:bodyPr/>
          <a:lstStyle/>
          <a:p>
            <a:fld id="{FC2DBCFA-5C2F-402B-8730-2C507338872B}" type="datetime1">
              <a:rPr lang="zh-HK" altLang="en-US" smtClean="0"/>
              <a:t>9/4/2025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34097928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ltLang="zh-TW"/>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TW"/>
              <a:t>Click to edit Master text styles</a:t>
            </a:r>
          </a:p>
        </p:txBody>
      </p:sp>
      <p:sp>
        <p:nvSpPr>
          <p:cNvPr id="4" name="Date Placeholder 3"/>
          <p:cNvSpPr>
            <a:spLocks noGrp="1"/>
          </p:cNvSpPr>
          <p:nvPr>
            <p:ph type="dt" sz="half" idx="10"/>
          </p:nvPr>
        </p:nvSpPr>
        <p:spPr/>
        <p:txBody>
          <a:bodyPr/>
          <a:lstStyle/>
          <a:p>
            <a:fld id="{F9F21A6D-D9D8-420C-A5C7-B2073AAF78F2}" type="datetime1">
              <a:rPr lang="zh-HK" altLang="en-US" smtClean="0"/>
              <a:t>9/4/2025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12397183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5" name="Date Placeholder 4"/>
          <p:cNvSpPr>
            <a:spLocks noGrp="1"/>
          </p:cNvSpPr>
          <p:nvPr>
            <p:ph type="dt" sz="half" idx="10"/>
          </p:nvPr>
        </p:nvSpPr>
        <p:spPr/>
        <p:txBody>
          <a:bodyPr/>
          <a:lstStyle/>
          <a:p>
            <a:fld id="{9726361A-06F7-44A5-BD63-DAEE85A7089A}" type="datetime1">
              <a:rPr lang="zh-HK" altLang="en-US" smtClean="0"/>
              <a:t>9/4/2025</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40365267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ltLang="zh-TW"/>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7" name="Date Placeholder 6"/>
          <p:cNvSpPr>
            <a:spLocks noGrp="1"/>
          </p:cNvSpPr>
          <p:nvPr>
            <p:ph type="dt" sz="half" idx="10"/>
          </p:nvPr>
        </p:nvSpPr>
        <p:spPr/>
        <p:txBody>
          <a:bodyPr/>
          <a:lstStyle/>
          <a:p>
            <a:fld id="{D55B1CFC-1006-4769-91B3-64E7F6F9FFDC}" type="datetime1">
              <a:rPr lang="zh-HK" altLang="en-US" smtClean="0"/>
              <a:t>9/4/2025</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2245759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dirty="0"/>
          </a:p>
        </p:txBody>
      </p:sp>
      <p:sp>
        <p:nvSpPr>
          <p:cNvPr id="7" name="Date Placeholder 2"/>
          <p:cNvSpPr>
            <a:spLocks noGrp="1"/>
          </p:cNvSpPr>
          <p:nvPr>
            <p:ph type="dt" sz="half" idx="10"/>
          </p:nvPr>
        </p:nvSpPr>
        <p:spPr/>
        <p:txBody>
          <a:bodyPr/>
          <a:lstStyle/>
          <a:p>
            <a:fld id="{09BBF889-4924-48FC-8AD7-0EDF17945084}" type="datetime1">
              <a:rPr lang="zh-HK" altLang="en-US" smtClean="0"/>
              <a:t>9/4/2025</a:t>
            </a:fld>
            <a:endParaRPr lang="zh-HK" altLang="en-US"/>
          </a:p>
        </p:txBody>
      </p:sp>
      <p:sp>
        <p:nvSpPr>
          <p:cNvPr id="5" name="Footer Placeholder 3"/>
          <p:cNvSpPr>
            <a:spLocks noGrp="1"/>
          </p:cNvSpPr>
          <p:nvPr>
            <p:ph type="ftr" sz="quarter" idx="11"/>
          </p:nvPr>
        </p:nvSpPr>
        <p:spPr/>
        <p:txBody>
          <a:bodyPr/>
          <a:lstStyle/>
          <a:p>
            <a:endParaRPr lang="zh-HK" altLang="en-US"/>
          </a:p>
        </p:txBody>
      </p:sp>
      <p:sp>
        <p:nvSpPr>
          <p:cNvPr id="6" name="Slide Number Placeholder 4"/>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27471462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C51769DC-8B49-4480-8FAA-27FABF92F784}" type="datetime1">
              <a:rPr lang="zh-HK" altLang="en-US" smtClean="0"/>
              <a:t>9/4/2025</a:t>
            </a:fld>
            <a:endParaRPr lang="zh-HK" altLang="en-US"/>
          </a:p>
        </p:txBody>
      </p:sp>
      <p:sp>
        <p:nvSpPr>
          <p:cNvPr id="5" name="Footer Placeholder 2"/>
          <p:cNvSpPr>
            <a:spLocks noGrp="1"/>
          </p:cNvSpPr>
          <p:nvPr>
            <p:ph type="ftr" sz="quarter" idx="11"/>
          </p:nvPr>
        </p:nvSpPr>
        <p:spPr/>
        <p:txBody>
          <a:bodyPr/>
          <a:lstStyle/>
          <a:p>
            <a:endParaRPr lang="zh-HK" altLang="en-US"/>
          </a:p>
        </p:txBody>
      </p:sp>
      <p:sp>
        <p:nvSpPr>
          <p:cNvPr id="6" name="Slide Number Placeholder 3"/>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13984114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ltLang="zh-TW"/>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7" name="Date Placeholder 4"/>
          <p:cNvSpPr>
            <a:spLocks noGrp="1"/>
          </p:cNvSpPr>
          <p:nvPr>
            <p:ph type="dt" sz="half" idx="10"/>
          </p:nvPr>
        </p:nvSpPr>
        <p:spPr/>
        <p:txBody>
          <a:bodyPr/>
          <a:lstStyle/>
          <a:p>
            <a:fld id="{8863F313-ADA0-446D-BDC6-BF256C2A7F1C}" type="datetime1">
              <a:rPr lang="zh-HK" altLang="en-US" smtClean="0"/>
              <a:t>9/4/2025</a:t>
            </a:fld>
            <a:endParaRPr lang="zh-HK" altLang="en-US"/>
          </a:p>
        </p:txBody>
      </p:sp>
      <p:sp>
        <p:nvSpPr>
          <p:cNvPr id="5" name="Footer Placeholder 5"/>
          <p:cNvSpPr>
            <a:spLocks noGrp="1"/>
          </p:cNvSpPr>
          <p:nvPr>
            <p:ph type="ftr" sz="quarter" idx="11"/>
          </p:nvPr>
        </p:nvSpPr>
        <p:spPr/>
        <p:txBody>
          <a:bodyPr/>
          <a:lstStyle/>
          <a:p>
            <a:endParaRPr lang="zh-HK" altLang="en-US"/>
          </a:p>
        </p:txBody>
      </p:sp>
      <p:sp>
        <p:nvSpPr>
          <p:cNvPr id="6" name="Slide Number Placeholder 6"/>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1953246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ltLang="zh-TW"/>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TW"/>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Date Placeholder 4"/>
          <p:cNvSpPr>
            <a:spLocks noGrp="1"/>
          </p:cNvSpPr>
          <p:nvPr>
            <p:ph type="dt" sz="half" idx="10"/>
          </p:nvPr>
        </p:nvSpPr>
        <p:spPr/>
        <p:txBody>
          <a:bodyPr/>
          <a:lstStyle/>
          <a:p>
            <a:fld id="{8FD73986-E089-4D3E-AB50-B065F223595A}" type="datetime1">
              <a:rPr lang="zh-HK" altLang="en-US" smtClean="0"/>
              <a:t>9/4/2025</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25851444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ltLang="zh-TW"/>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TW"/>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Date Placeholder 4"/>
          <p:cNvSpPr>
            <a:spLocks noGrp="1"/>
          </p:cNvSpPr>
          <p:nvPr>
            <p:ph type="dt" sz="half" idx="10"/>
          </p:nvPr>
        </p:nvSpPr>
        <p:spPr/>
        <p:txBody>
          <a:bodyPr/>
          <a:lstStyle/>
          <a:p>
            <a:fld id="{20C0ADB2-3DF7-4403-A565-E1C175C368FF}" type="datetime1">
              <a:rPr lang="zh-HK" altLang="en-US" smtClean="0"/>
              <a:t>9/4/2025</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18369422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ltLang="zh-TW"/>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4" name="Date Placeholder 3"/>
          <p:cNvSpPr>
            <a:spLocks noGrp="1"/>
          </p:cNvSpPr>
          <p:nvPr>
            <p:ph type="dt" sz="half" idx="10"/>
          </p:nvPr>
        </p:nvSpPr>
        <p:spPr/>
        <p:txBody>
          <a:bodyPr/>
          <a:lstStyle/>
          <a:p>
            <a:fld id="{C9BFB707-0E03-4CC3-A4D5-B6CA4475C29E}" type="datetime1">
              <a:rPr lang="zh-HK" altLang="en-US" smtClean="0"/>
              <a:t>9/4/2025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30321861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ltLang="zh-TW"/>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ltLang="zh-TW"/>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4" name="Date Placeholder 3"/>
          <p:cNvSpPr>
            <a:spLocks noGrp="1"/>
          </p:cNvSpPr>
          <p:nvPr>
            <p:ph type="dt" sz="half" idx="10"/>
          </p:nvPr>
        </p:nvSpPr>
        <p:spPr/>
        <p:txBody>
          <a:bodyPr/>
          <a:lstStyle/>
          <a:p>
            <a:fld id="{A6E73DC8-33A0-45AF-B0FC-65AD9B6DA765}" type="datetime1">
              <a:rPr lang="zh-HK" altLang="en-US" smtClean="0"/>
              <a:t>9/4/2025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9411459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ltLang="zh-TW"/>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TW"/>
              <a:t>Click to edit Master text styles</a:t>
            </a:r>
          </a:p>
        </p:txBody>
      </p:sp>
      <p:sp>
        <p:nvSpPr>
          <p:cNvPr id="4" name="Date Placeholder 3"/>
          <p:cNvSpPr>
            <a:spLocks noGrp="1"/>
          </p:cNvSpPr>
          <p:nvPr>
            <p:ph type="dt" sz="half" idx="10"/>
          </p:nvPr>
        </p:nvSpPr>
        <p:spPr/>
        <p:txBody>
          <a:bodyPr/>
          <a:lstStyle/>
          <a:p>
            <a:fld id="{DBEA9574-8325-4BE3-A540-8B63141FE713}" type="datetime1">
              <a:rPr lang="zh-HK" altLang="en-US" smtClean="0"/>
              <a:t>9/4/2025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34949411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ltLang="zh-TW"/>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C37D449-2F68-455D-81C5-4178046088F3}" type="datetime1">
              <a:rPr lang="zh-HK" altLang="en-US" smtClean="0"/>
              <a:t>9/4/2025</a:t>
            </a:fld>
            <a:endParaRPr lang="zh-HK" altLang="en-US"/>
          </a:p>
        </p:txBody>
      </p:sp>
      <p:sp>
        <p:nvSpPr>
          <p:cNvPr id="4"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6492642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ltLang="zh-TW"/>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TW"/>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TW"/>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TW"/>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ltLang="zh-TW"/>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TW"/>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A49D4A36-7690-4208-8EA6-368194EFBC10}" type="datetime1">
              <a:rPr lang="zh-HK" altLang="en-US" smtClean="0"/>
              <a:t>9/4/2025</a:t>
            </a:fld>
            <a:endParaRPr lang="zh-HK" altLang="en-US"/>
          </a:p>
        </p:txBody>
      </p:sp>
      <p:sp>
        <p:nvSpPr>
          <p:cNvPr id="4"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123164327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4" name="Date Placeholder 3"/>
          <p:cNvSpPr>
            <a:spLocks noGrp="1"/>
          </p:cNvSpPr>
          <p:nvPr>
            <p:ph type="dt" sz="half" idx="10"/>
          </p:nvPr>
        </p:nvSpPr>
        <p:spPr/>
        <p:txBody>
          <a:bodyPr/>
          <a:lstStyle/>
          <a:p>
            <a:fld id="{3CDA9B1E-25B0-40EC-8209-CBFE063BE87E}" type="datetime1">
              <a:rPr lang="zh-HK" altLang="en-US" smtClean="0"/>
              <a:t>9/4/2025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5744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ltLang="zh-TW"/>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4" name="Date Placeholder 3"/>
          <p:cNvSpPr>
            <a:spLocks noGrp="1"/>
          </p:cNvSpPr>
          <p:nvPr>
            <p:ph type="dt" sz="half" idx="10"/>
          </p:nvPr>
        </p:nvSpPr>
        <p:spPr/>
        <p:txBody>
          <a:bodyPr/>
          <a:lstStyle/>
          <a:p>
            <a:fld id="{2E9BE3DD-A3A2-4023-8931-D2032F4FA3D6}" type="datetime1">
              <a:rPr lang="zh-HK" altLang="en-US" smtClean="0"/>
              <a:t>9/4/2025</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30403044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ltLang="zh-TW"/>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C003AF90-4E25-4E3C-AF54-02B846291CD3}" type="datetime1">
              <a:rPr lang="zh-HK" altLang="en-US" smtClean="0"/>
              <a:t>9/4/2025</a:t>
            </a:fld>
            <a:endParaRPr lang="zh-HK" alt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zh-HK" alt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B17CEA6-17B5-4347-86B2-9520D0409059}" type="slidenum">
              <a:rPr lang="zh-HK" altLang="en-US" smtClean="0"/>
              <a:t>‹#›</a:t>
            </a:fld>
            <a:endParaRPr lang="zh-HK" altLang="en-US"/>
          </a:p>
        </p:txBody>
      </p:sp>
    </p:spTree>
    <p:extLst>
      <p:ext uri="{BB962C8B-B14F-4D97-AF65-F5344CB8AC3E}">
        <p14:creationId xmlns:p14="http://schemas.microsoft.com/office/powerpoint/2010/main" val="777768614"/>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A951E-852A-D65D-0F98-AA080EAB8313}"/>
              </a:ext>
            </a:extLst>
          </p:cNvPr>
          <p:cNvSpPr>
            <a:spLocks noGrp="1"/>
          </p:cNvSpPr>
          <p:nvPr>
            <p:ph type="ctrTitle"/>
          </p:nvPr>
        </p:nvSpPr>
        <p:spPr>
          <a:xfrm>
            <a:off x="428847" y="923368"/>
            <a:ext cx="11334306" cy="4199454"/>
          </a:xfrm>
        </p:spPr>
        <p:txBody>
          <a:bodyPr/>
          <a:lstStyle/>
          <a:p>
            <a:pPr algn="ctr">
              <a:lnSpc>
                <a:spcPct val="115000"/>
              </a:lnSpc>
              <a:spcAft>
                <a:spcPts val="800"/>
              </a:spcAft>
            </a:pPr>
            <a:r>
              <a:rPr lang="en-US" altLang="zh-HK" sz="4000" b="1" dirty="0"/>
              <a:t>CUHK MSC Fintech </a:t>
            </a:r>
            <a:br>
              <a:rPr lang="en-US" altLang="zh-HK" sz="2400" dirty="0"/>
            </a:br>
            <a:r>
              <a:rPr lang="en-US" altLang="zh-HK" sz="4000" b="1" dirty="0"/>
              <a:t>FTEC 5910 Industrial Project </a:t>
            </a:r>
            <a:br>
              <a:rPr lang="en-US" altLang="zh-HK" sz="4000" b="1" dirty="0"/>
            </a:br>
            <a:r>
              <a:rPr lang="en-US" altLang="zh-HK" sz="4000" b="1" dirty="0"/>
              <a:t>Final</a:t>
            </a:r>
            <a:r>
              <a:rPr lang="zh-TW" altLang="en-US" sz="4000" b="1" dirty="0"/>
              <a:t> </a:t>
            </a:r>
            <a:r>
              <a:rPr lang="en-US" altLang="zh-HK" sz="4000" b="1" dirty="0"/>
              <a:t>Presentation</a:t>
            </a:r>
            <a:br>
              <a:rPr lang="en-US" altLang="zh-HK" dirty="0"/>
            </a:br>
            <a:r>
              <a:rPr lang="en-US" altLang="zh-HK" sz="2400" b="1" dirty="0">
                <a:effectLst/>
                <a:latin typeface="Calibri" panose="020F0502020204030204" pitchFamily="34" charset="0"/>
                <a:ea typeface="新細明體" panose="02020500000000000000" pitchFamily="18" charset="-120"/>
              </a:rPr>
              <a:t>Project Sponsor: Bank of Communications </a:t>
            </a:r>
            <a:r>
              <a:rPr lang="en-US" altLang="zh-HK" sz="2400" b="1" dirty="0" err="1">
                <a:effectLst/>
                <a:latin typeface="Calibri" panose="020F0502020204030204" pitchFamily="34" charset="0"/>
                <a:ea typeface="新細明體" panose="02020500000000000000" pitchFamily="18" charset="-120"/>
              </a:rPr>
              <a:t>Co.,Ltd</a:t>
            </a:r>
            <a:r>
              <a:rPr lang="en-US" altLang="zh-HK" sz="2400" b="1" dirty="0">
                <a:effectLst/>
                <a:latin typeface="Calibri" panose="020F0502020204030204" pitchFamily="34" charset="0"/>
                <a:ea typeface="新細明體" panose="02020500000000000000" pitchFamily="18" charset="-120"/>
              </a:rPr>
              <a:t>. Hong Kong Branch </a:t>
            </a:r>
            <a:br>
              <a:rPr lang="en-US" altLang="zh-HK" sz="2400" dirty="0">
                <a:effectLst/>
                <a:latin typeface="Calibri" panose="020F0502020204030204" pitchFamily="34" charset="0"/>
                <a:ea typeface="新細明體" panose="02020500000000000000" pitchFamily="18" charset="-120"/>
              </a:rPr>
            </a:br>
            <a:r>
              <a:rPr lang="en-US" altLang="zh-HK" sz="2400" b="1" dirty="0">
                <a:effectLst/>
                <a:latin typeface="Calibri" panose="020F0502020204030204" pitchFamily="34" charset="0"/>
                <a:ea typeface="新細明體" panose="02020500000000000000" pitchFamily="18" charset="-120"/>
              </a:rPr>
              <a:t>Topic: Large Language Model Building for </a:t>
            </a:r>
            <a:r>
              <a:rPr lang="en-US" altLang="zh-HK" sz="2400" b="1" dirty="0" err="1">
                <a:effectLst/>
                <a:latin typeface="Calibri" panose="020F0502020204030204" pitchFamily="34" charset="0"/>
                <a:ea typeface="新細明體" panose="02020500000000000000" pitchFamily="18" charset="-120"/>
              </a:rPr>
              <a:t>Bankwise</a:t>
            </a:r>
            <a:r>
              <a:rPr lang="en-US" altLang="zh-HK" sz="2400" b="1" dirty="0">
                <a:effectLst/>
                <a:latin typeface="Calibri" panose="020F0502020204030204" pitchFamily="34" charset="0"/>
                <a:ea typeface="新細明體" panose="02020500000000000000" pitchFamily="18" charset="-120"/>
              </a:rPr>
              <a:t> Processes</a:t>
            </a:r>
            <a:br>
              <a:rPr lang="en-US" altLang="zh-HK" sz="2400" b="1" dirty="0">
                <a:effectLst/>
                <a:latin typeface="Calibri" panose="020F0502020204030204" pitchFamily="34" charset="0"/>
                <a:ea typeface="新細明體" panose="02020500000000000000" pitchFamily="18" charset="-120"/>
              </a:rPr>
            </a:br>
            <a:br>
              <a:rPr lang="en-US" altLang="zh-HK" sz="2400" b="1" dirty="0">
                <a:effectLst/>
                <a:latin typeface="Calibri" panose="020F0502020204030204" pitchFamily="34" charset="0"/>
                <a:ea typeface="新細明體" panose="02020500000000000000" pitchFamily="18" charset="-120"/>
              </a:rPr>
            </a:br>
            <a:r>
              <a:rPr lang="en-US" altLang="zh-HK" sz="2400" kern="100" dirty="0">
                <a:effectLst/>
                <a:latin typeface="Calibri" panose="020F0502020204030204" pitchFamily="34" charset="0"/>
                <a:ea typeface="新細明體" panose="02020500000000000000" pitchFamily="18" charset="-120"/>
                <a:cs typeface="Calibri" panose="020F0502020204030204" pitchFamily="34" charset="0"/>
              </a:rPr>
              <a:t>Author: </a:t>
            </a:r>
            <a:br>
              <a:rPr lang="en-US" altLang="zh-HK" sz="2400" kern="100" dirty="0">
                <a:effectLst/>
                <a:latin typeface="Calibri" panose="020F0502020204030204" pitchFamily="34" charset="0"/>
                <a:ea typeface="新細明體" panose="02020500000000000000" pitchFamily="18" charset="-120"/>
                <a:cs typeface="Calibri" panose="020F0502020204030204" pitchFamily="34" charset="0"/>
              </a:rPr>
            </a:br>
            <a:r>
              <a:rPr lang="en-US" altLang="zh-HK" sz="2400" kern="100" dirty="0">
                <a:effectLst/>
                <a:latin typeface="Calibri" panose="020F0502020204030204" pitchFamily="34" charset="0"/>
                <a:ea typeface="新細明體" panose="02020500000000000000" pitchFamily="18" charset="-120"/>
                <a:cs typeface="Calibri" panose="020F0502020204030204" pitchFamily="34" charset="0"/>
              </a:rPr>
              <a:t>Wong Ko Yin</a:t>
            </a:r>
            <a:br>
              <a:rPr lang="zh-TW" altLang="zh-HK" sz="2400" kern="100" dirty="0">
                <a:effectLst/>
                <a:latin typeface="Calibri" panose="020F0502020204030204" pitchFamily="34" charset="0"/>
                <a:ea typeface="新細明體" panose="02020500000000000000" pitchFamily="18" charset="-120"/>
                <a:cs typeface="Calibri" panose="020F0502020204030204" pitchFamily="34" charset="0"/>
              </a:rPr>
            </a:br>
            <a:r>
              <a:rPr lang="en-US" altLang="zh-HK" sz="2400" kern="100" dirty="0">
                <a:effectLst/>
                <a:latin typeface="Calibri" panose="020F0502020204030204" pitchFamily="34" charset="0"/>
                <a:ea typeface="新細明體" panose="02020500000000000000" pitchFamily="18" charset="-120"/>
                <a:cs typeface="Calibri" panose="020F0502020204030204" pitchFamily="34" charset="0"/>
              </a:rPr>
              <a:t> </a:t>
            </a:r>
            <a:endParaRPr lang="zh-HK" altLang="en-US" sz="2400" dirty="0"/>
          </a:p>
        </p:txBody>
      </p:sp>
      <p:sp>
        <p:nvSpPr>
          <p:cNvPr id="6" name="TextBox 5">
            <a:extLst>
              <a:ext uri="{FF2B5EF4-FFF2-40B4-BE49-F238E27FC236}">
                <a16:creationId xmlns:a16="http://schemas.microsoft.com/office/drawing/2014/main" id="{0A9E3442-5A63-A2E4-8881-B1EC06CF070B}"/>
              </a:ext>
            </a:extLst>
          </p:cNvPr>
          <p:cNvSpPr txBox="1"/>
          <p:nvPr/>
        </p:nvSpPr>
        <p:spPr>
          <a:xfrm>
            <a:off x="2071117" y="4300845"/>
            <a:ext cx="3597798" cy="1200329"/>
          </a:xfrm>
          <a:prstGeom prst="rect">
            <a:avLst/>
          </a:prstGeom>
          <a:noFill/>
        </p:spPr>
        <p:txBody>
          <a:bodyPr wrap="square" rtlCol="0">
            <a:spAutoFit/>
          </a:bodyPr>
          <a:lstStyle/>
          <a:p>
            <a:r>
              <a:rPr lang="en-US" altLang="zh-HK" sz="2400" kern="100" dirty="0">
                <a:effectLst/>
                <a:latin typeface="Calibri" panose="020F0502020204030204" pitchFamily="34" charset="0"/>
                <a:ea typeface="新細明體" panose="02020500000000000000" pitchFamily="18" charset="-120"/>
                <a:cs typeface="Calibri" panose="020F0502020204030204" pitchFamily="34" charset="0"/>
              </a:rPr>
              <a:t> </a:t>
            </a:r>
            <a:br>
              <a:rPr lang="zh-TW" altLang="zh-HK" sz="2400" kern="100" dirty="0">
                <a:effectLst/>
                <a:latin typeface="Calibri" panose="020F0502020204030204" pitchFamily="34" charset="0"/>
                <a:ea typeface="新細明體" panose="02020500000000000000" pitchFamily="18" charset="-120"/>
                <a:cs typeface="Calibri" panose="020F0502020204030204" pitchFamily="34" charset="0"/>
              </a:rPr>
            </a:br>
            <a:r>
              <a:rPr lang="en-US" altLang="zh-HK" sz="2400" kern="100" dirty="0">
                <a:effectLst/>
                <a:latin typeface="Calibri" panose="020F0502020204030204" pitchFamily="34" charset="0"/>
                <a:ea typeface="新細明體" panose="02020500000000000000" pitchFamily="18" charset="-120"/>
                <a:cs typeface="Calibri" panose="020F0502020204030204" pitchFamily="34" charset="0"/>
              </a:rPr>
              <a:t>Academic Supervisor: </a:t>
            </a:r>
            <a:br>
              <a:rPr lang="en-US" altLang="zh-HK" sz="2400" kern="100" dirty="0">
                <a:effectLst/>
                <a:latin typeface="Calibri" panose="020F0502020204030204" pitchFamily="34" charset="0"/>
                <a:ea typeface="新細明體" panose="02020500000000000000" pitchFamily="18" charset="-120"/>
                <a:cs typeface="Calibri" panose="020F0502020204030204" pitchFamily="34" charset="0"/>
              </a:rPr>
            </a:br>
            <a:r>
              <a:rPr lang="en-US" altLang="zh-HK" sz="2400" kern="100" dirty="0">
                <a:effectLst/>
                <a:latin typeface="Calibri" panose="020F0502020204030204" pitchFamily="34" charset="0"/>
                <a:ea typeface="新細明體" panose="02020500000000000000" pitchFamily="18" charset="-120"/>
                <a:cs typeface="Calibri" panose="020F0502020204030204" pitchFamily="34" charset="0"/>
              </a:rPr>
              <a:t>Prof. Irwin King</a:t>
            </a:r>
            <a:endParaRPr lang="zh-TW" altLang="zh-HK" sz="2400" kern="100" dirty="0">
              <a:effectLst/>
              <a:latin typeface="Calibri" panose="020F0502020204030204" pitchFamily="34" charset="0"/>
              <a:ea typeface="新細明體" panose="02020500000000000000" pitchFamily="18" charset="-120"/>
              <a:cs typeface="Calibri" panose="020F0502020204030204" pitchFamily="34" charset="0"/>
            </a:endParaRPr>
          </a:p>
        </p:txBody>
      </p:sp>
      <p:sp>
        <p:nvSpPr>
          <p:cNvPr id="7" name="TextBox 6">
            <a:extLst>
              <a:ext uri="{FF2B5EF4-FFF2-40B4-BE49-F238E27FC236}">
                <a16:creationId xmlns:a16="http://schemas.microsoft.com/office/drawing/2014/main" id="{0ADCAC25-09A0-10CF-4025-E750513EC9EB}"/>
              </a:ext>
            </a:extLst>
          </p:cNvPr>
          <p:cNvSpPr txBox="1"/>
          <p:nvPr/>
        </p:nvSpPr>
        <p:spPr>
          <a:xfrm>
            <a:off x="7311184" y="4402445"/>
            <a:ext cx="3888420" cy="1477328"/>
          </a:xfrm>
          <a:prstGeom prst="rect">
            <a:avLst/>
          </a:prstGeom>
          <a:noFill/>
        </p:spPr>
        <p:txBody>
          <a:bodyPr wrap="square" rtlCol="0">
            <a:spAutoFit/>
          </a:bodyPr>
          <a:lstStyle/>
          <a:p>
            <a:r>
              <a:rPr lang="en-US" altLang="zh-HK" sz="1800" kern="100" dirty="0">
                <a:effectLst/>
                <a:latin typeface="Calibri" panose="020F0502020204030204" pitchFamily="34" charset="0"/>
                <a:ea typeface="新細明體" panose="02020500000000000000" pitchFamily="18" charset="-120"/>
                <a:cs typeface="Calibri" panose="020F0502020204030204" pitchFamily="34" charset="0"/>
              </a:rPr>
              <a:t> </a:t>
            </a:r>
            <a:br>
              <a:rPr lang="zh-TW" altLang="zh-HK" sz="1800" kern="100" dirty="0">
                <a:effectLst/>
                <a:latin typeface="Calibri" panose="020F0502020204030204" pitchFamily="34" charset="0"/>
                <a:ea typeface="新細明體" panose="02020500000000000000" pitchFamily="18" charset="-120"/>
                <a:cs typeface="Calibri" panose="020F0502020204030204" pitchFamily="34" charset="0"/>
              </a:rPr>
            </a:br>
            <a:r>
              <a:rPr lang="en-US" altLang="zh-HK" sz="2400" dirty="0">
                <a:effectLst/>
                <a:latin typeface="Calibri" panose="020F0502020204030204" pitchFamily="34" charset="0"/>
                <a:ea typeface="新細明體" panose="02020500000000000000" pitchFamily="18" charset="-120"/>
              </a:rPr>
              <a:t>Industrial Supervisor: </a:t>
            </a:r>
            <a:br>
              <a:rPr lang="en-US" altLang="zh-HK" sz="2400" dirty="0">
                <a:effectLst/>
                <a:latin typeface="Calibri" panose="020F0502020204030204" pitchFamily="34" charset="0"/>
                <a:ea typeface="新細明體" panose="02020500000000000000" pitchFamily="18" charset="-120"/>
              </a:rPr>
            </a:br>
            <a:r>
              <a:rPr lang="en-US" altLang="zh-HK" sz="2400" dirty="0">
                <a:effectLst/>
                <a:latin typeface="Calibri" panose="020F0502020204030204" pitchFamily="34" charset="0"/>
                <a:ea typeface="新細明體" panose="02020500000000000000" pitchFamily="18" charset="-120"/>
              </a:rPr>
              <a:t>Mr. Nathan Wong</a:t>
            </a:r>
            <a:br>
              <a:rPr lang="en-US" altLang="zh-HK" sz="2400" dirty="0">
                <a:effectLst/>
                <a:latin typeface="Calibri" panose="020F0502020204030204" pitchFamily="34" charset="0"/>
                <a:ea typeface="新細明體" panose="02020500000000000000" pitchFamily="18" charset="-120"/>
              </a:rPr>
            </a:br>
            <a:r>
              <a:rPr lang="en-US" altLang="zh-TW" sz="2400" kern="100" dirty="0">
                <a:latin typeface="Calibri" panose="020F0502020204030204" pitchFamily="34" charset="0"/>
                <a:ea typeface="新細明體" panose="02020500000000000000" pitchFamily="18" charset="-120"/>
                <a:cs typeface="Calibri" panose="020F0502020204030204" pitchFamily="34" charset="0"/>
              </a:rPr>
              <a:t>Ms. Ping Yuen</a:t>
            </a:r>
            <a:endParaRPr lang="zh-TW" altLang="zh-HK" sz="2400" kern="100" dirty="0">
              <a:effectLst/>
              <a:latin typeface="Calibri" panose="020F0502020204030204" pitchFamily="34" charset="0"/>
              <a:ea typeface="新細明體" panose="02020500000000000000" pitchFamily="18" charset="-120"/>
              <a:cs typeface="Calibri" panose="020F0502020204030204" pitchFamily="34" charset="0"/>
            </a:endParaRPr>
          </a:p>
        </p:txBody>
      </p:sp>
      <p:sp>
        <p:nvSpPr>
          <p:cNvPr id="3" name="投影片編號版面配置區 2">
            <a:extLst>
              <a:ext uri="{FF2B5EF4-FFF2-40B4-BE49-F238E27FC236}">
                <a16:creationId xmlns:a16="http://schemas.microsoft.com/office/drawing/2014/main" id="{C3D8561E-5330-4E0F-B81C-7C4FE8FD7B21}"/>
              </a:ext>
            </a:extLst>
          </p:cNvPr>
          <p:cNvSpPr>
            <a:spLocks noGrp="1"/>
          </p:cNvSpPr>
          <p:nvPr>
            <p:ph type="sldNum" sz="quarter" idx="12"/>
          </p:nvPr>
        </p:nvSpPr>
        <p:spPr/>
        <p:txBody>
          <a:bodyPr/>
          <a:lstStyle/>
          <a:p>
            <a:fld id="{DB17CEA6-17B5-4347-86B2-9520D0409059}" type="slidenum">
              <a:rPr lang="zh-HK" altLang="en-US" smtClean="0"/>
              <a:t>1</a:t>
            </a:fld>
            <a:endParaRPr lang="zh-HK" altLang="en-US"/>
          </a:p>
        </p:txBody>
      </p:sp>
    </p:spTree>
    <p:extLst>
      <p:ext uri="{BB962C8B-B14F-4D97-AF65-F5344CB8AC3E}">
        <p14:creationId xmlns:p14="http://schemas.microsoft.com/office/powerpoint/2010/main" val="1405785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Background</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a:xfrm>
            <a:off x="1104293" y="1712676"/>
            <a:ext cx="8946541" cy="4692606"/>
          </a:xfrm>
        </p:spPr>
        <p:txBody>
          <a:bodyPr>
            <a:normAutofit/>
          </a:bodyPr>
          <a:lstStyle/>
          <a:p>
            <a:r>
              <a:rPr lang="en-US" altLang="zh-HK" sz="2200" dirty="0"/>
              <a:t>Bell was launched in 2018 as an internally developed chatbot by Bank of Communications (BOCOM) R&amp;D team.</a:t>
            </a:r>
          </a:p>
          <a:p>
            <a:r>
              <a:rPr lang="en-US" altLang="zh-HK" sz="2200" dirty="0"/>
              <a:t>The R&amp;D team plans to integrate Generative AI into Bell to advance the bank’s AI capabilities.</a:t>
            </a:r>
          </a:p>
          <a:p>
            <a:r>
              <a:rPr lang="en-US" altLang="zh-HK" sz="2200" dirty="0"/>
              <a:t>BOCOM’s Expectations:</a:t>
            </a:r>
          </a:p>
          <a:p>
            <a:pPr lvl="1"/>
            <a:r>
              <a:rPr lang="en-US" altLang="zh-HK" sz="2000" dirty="0"/>
              <a:t>Compare the ability and strength of various open-source LLMs</a:t>
            </a:r>
          </a:p>
          <a:p>
            <a:pPr lvl="1"/>
            <a:r>
              <a:rPr lang="en-US" altLang="zh-HK" sz="2000" dirty="0"/>
              <a:t>Implement the prototype for </a:t>
            </a:r>
            <a:r>
              <a:rPr lang="en-US" altLang="zh-HK" sz="2000" dirty="0" err="1"/>
              <a:t>bankwide</a:t>
            </a:r>
            <a:r>
              <a:rPr lang="en-US" altLang="zh-HK" sz="2000" dirty="0"/>
              <a:t> processes by leveraging RAG and LLM</a:t>
            </a:r>
          </a:p>
          <a:p>
            <a:pPr lvl="1"/>
            <a:r>
              <a:rPr lang="en-US" altLang="zh-HK" sz="2000" dirty="0"/>
              <a:t>The prototype should be focusing on the document searching and FAQ as the major use cases</a:t>
            </a:r>
          </a:p>
          <a:p>
            <a:pPr lvl="1"/>
            <a:r>
              <a:rPr lang="en-US" altLang="zh-HK" sz="2000" dirty="0"/>
              <a:t>Data set: HKMA Supervisory Policy Manual (in both Chinese and English)</a:t>
            </a:r>
          </a:p>
          <a:p>
            <a:pPr lvl="1"/>
            <a:endParaRPr lang="en-US" altLang="zh-HK" sz="2000" dirty="0"/>
          </a:p>
          <a:p>
            <a:pPr lvl="1"/>
            <a:endParaRPr lang="en-US" altLang="zh-HK" sz="2000" dirty="0"/>
          </a:p>
        </p:txBody>
      </p:sp>
      <p:sp>
        <p:nvSpPr>
          <p:cNvPr id="8" name="投影片編號版面配置區 7">
            <a:extLst>
              <a:ext uri="{FF2B5EF4-FFF2-40B4-BE49-F238E27FC236}">
                <a16:creationId xmlns:a16="http://schemas.microsoft.com/office/drawing/2014/main" id="{A5B575DA-BC1C-4AE0-AFFB-4806467639D3}"/>
              </a:ext>
            </a:extLst>
          </p:cNvPr>
          <p:cNvSpPr>
            <a:spLocks noGrp="1"/>
          </p:cNvSpPr>
          <p:nvPr>
            <p:ph type="sldNum" sz="quarter" idx="12"/>
          </p:nvPr>
        </p:nvSpPr>
        <p:spPr/>
        <p:txBody>
          <a:bodyPr/>
          <a:lstStyle/>
          <a:p>
            <a:fld id="{DB17CEA6-17B5-4347-86B2-9520D0409059}" type="slidenum">
              <a:rPr lang="zh-HK" altLang="en-US" smtClean="0"/>
              <a:t>2</a:t>
            </a:fld>
            <a:endParaRPr lang="zh-HK" altLang="en-US"/>
          </a:p>
        </p:txBody>
      </p:sp>
    </p:spTree>
    <p:extLst>
      <p:ext uri="{BB962C8B-B14F-4D97-AF65-F5344CB8AC3E}">
        <p14:creationId xmlns:p14="http://schemas.microsoft.com/office/powerpoint/2010/main" val="9108728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Objectives</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p:txBody>
          <a:bodyPr>
            <a:normAutofit/>
          </a:bodyPr>
          <a:lstStyle/>
          <a:p>
            <a:pPr marL="0" indent="0">
              <a:buNone/>
            </a:pPr>
            <a:r>
              <a:rPr lang="en-US" altLang="zh-HK" sz="2200" dirty="0"/>
              <a:t>Goal:</a:t>
            </a:r>
          </a:p>
          <a:p>
            <a:r>
              <a:rPr lang="en-US" altLang="zh-HK" sz="2200" dirty="0"/>
              <a:t>Develop a secure Retrieval-Augmented Generation (RAG) chatbot system enabling bankers to efficiently query private internal documents and finance-related regulatory policies.</a:t>
            </a:r>
          </a:p>
          <a:p>
            <a:pPr marL="0" indent="0">
              <a:buNone/>
            </a:pPr>
            <a:r>
              <a:rPr lang="en-US" altLang="zh-HK" sz="2200" dirty="0"/>
              <a:t>Technical:</a:t>
            </a:r>
          </a:p>
          <a:p>
            <a:r>
              <a:rPr lang="en-US" altLang="zh-HK" sz="2200" dirty="0"/>
              <a:t>Incorporate </a:t>
            </a:r>
            <a:r>
              <a:rPr lang="en-US" altLang="zh-HK" sz="2200" b="1" dirty="0"/>
              <a:t>Retrieval-Augmented Generation (RAG) </a:t>
            </a:r>
            <a:r>
              <a:rPr lang="en-US" altLang="zh-HK" sz="2200" dirty="0"/>
              <a:t>techniques and </a:t>
            </a:r>
            <a:r>
              <a:rPr lang="en-US" altLang="zh-HK" sz="2200" b="1" dirty="0"/>
              <a:t>Large Language Models (LLMs) </a:t>
            </a:r>
            <a:r>
              <a:rPr lang="en-US" altLang="zh-HK" sz="2200" dirty="0"/>
              <a:t>to retrieve information and regulatory requirements efficiently.</a:t>
            </a:r>
            <a:endParaRPr lang="zh-HK" altLang="en-US" sz="2200" dirty="0"/>
          </a:p>
        </p:txBody>
      </p:sp>
      <p:sp>
        <p:nvSpPr>
          <p:cNvPr id="5" name="投影片編號版面配置區 4">
            <a:extLst>
              <a:ext uri="{FF2B5EF4-FFF2-40B4-BE49-F238E27FC236}">
                <a16:creationId xmlns:a16="http://schemas.microsoft.com/office/drawing/2014/main" id="{2200A105-B3FE-4E5F-8DBD-223D4DD4BCAA}"/>
              </a:ext>
            </a:extLst>
          </p:cNvPr>
          <p:cNvSpPr>
            <a:spLocks noGrp="1"/>
          </p:cNvSpPr>
          <p:nvPr>
            <p:ph type="sldNum" sz="quarter" idx="12"/>
          </p:nvPr>
        </p:nvSpPr>
        <p:spPr/>
        <p:txBody>
          <a:bodyPr/>
          <a:lstStyle/>
          <a:p>
            <a:fld id="{DB17CEA6-17B5-4347-86B2-9520D0409059}" type="slidenum">
              <a:rPr lang="zh-HK" altLang="en-US" smtClean="0"/>
              <a:t>3</a:t>
            </a:fld>
            <a:endParaRPr lang="zh-HK" altLang="en-US"/>
          </a:p>
        </p:txBody>
      </p:sp>
    </p:spTree>
    <p:extLst>
      <p:ext uri="{BB962C8B-B14F-4D97-AF65-F5344CB8AC3E}">
        <p14:creationId xmlns:p14="http://schemas.microsoft.com/office/powerpoint/2010/main" val="20061900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Risk and Challenges for Existing Open-source Chatbot System</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a:xfrm>
            <a:off x="1103312" y="2052918"/>
            <a:ext cx="9614307" cy="4195481"/>
          </a:xfrm>
        </p:spPr>
        <p:txBody>
          <a:bodyPr>
            <a:normAutofit/>
          </a:bodyPr>
          <a:lstStyle/>
          <a:p>
            <a:r>
              <a:rPr lang="en-US" altLang="zh-HK" sz="2200" b="1" dirty="0"/>
              <a:t>Language Proficiency Risk</a:t>
            </a:r>
            <a:r>
              <a:rPr lang="en-US" altLang="zh-HK" sz="2200" dirty="0"/>
              <a:t>: </a:t>
            </a:r>
          </a:p>
          <a:p>
            <a:pPr lvl="1"/>
            <a:r>
              <a:rPr lang="en-US" altLang="zh-HK" sz="2200" dirty="0"/>
              <a:t>LLMs used for those system are primarily trained on English datasets and often underperform on Chinese tasks.</a:t>
            </a:r>
          </a:p>
          <a:p>
            <a:r>
              <a:rPr lang="en-US" altLang="zh-HK" sz="2200" b="1" dirty="0"/>
              <a:t>Data Privacy Risk</a:t>
            </a:r>
          </a:p>
          <a:p>
            <a:pPr lvl="1"/>
            <a:r>
              <a:rPr lang="en-US" altLang="zh-HK" sz="2200" dirty="0"/>
              <a:t>They usually used Closed-source or cloud-based LLMs that may expose sensitive internal documents, creating confidentiality concerns</a:t>
            </a:r>
          </a:p>
          <a:p>
            <a:r>
              <a:rPr lang="en-US" altLang="zh-HK" sz="2200" b="1" dirty="0"/>
              <a:t>Domain-Specific Knowledge Challenge</a:t>
            </a:r>
          </a:p>
          <a:p>
            <a:pPr lvl="1"/>
            <a:r>
              <a:rPr lang="en-US" altLang="zh-HK" sz="2200" dirty="0"/>
              <a:t>LLMs used for those system may not have sufficient training on banking-specific terminology or regulatory requirements</a:t>
            </a:r>
          </a:p>
        </p:txBody>
      </p:sp>
      <p:sp>
        <p:nvSpPr>
          <p:cNvPr id="4" name="投影片編號版面配置區 3">
            <a:extLst>
              <a:ext uri="{FF2B5EF4-FFF2-40B4-BE49-F238E27FC236}">
                <a16:creationId xmlns:a16="http://schemas.microsoft.com/office/drawing/2014/main" id="{8CEB142E-B908-4B6C-A3B1-36CBF581E51B}"/>
              </a:ext>
            </a:extLst>
          </p:cNvPr>
          <p:cNvSpPr>
            <a:spLocks noGrp="1"/>
          </p:cNvSpPr>
          <p:nvPr>
            <p:ph type="sldNum" sz="quarter" idx="12"/>
          </p:nvPr>
        </p:nvSpPr>
        <p:spPr/>
        <p:txBody>
          <a:bodyPr/>
          <a:lstStyle/>
          <a:p>
            <a:fld id="{DB17CEA6-17B5-4347-86B2-9520D0409059}" type="slidenum">
              <a:rPr lang="zh-HK" altLang="en-US" smtClean="0"/>
              <a:t>4</a:t>
            </a:fld>
            <a:endParaRPr lang="zh-HK" altLang="en-US"/>
          </a:p>
        </p:txBody>
      </p:sp>
    </p:spTree>
    <p:extLst>
      <p:ext uri="{BB962C8B-B14F-4D97-AF65-F5344CB8AC3E}">
        <p14:creationId xmlns:p14="http://schemas.microsoft.com/office/powerpoint/2010/main" val="38993535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Hardware for this Project</a:t>
            </a:r>
            <a:endParaRPr lang="zh-HK" altLang="en-US" dirty="0"/>
          </a:p>
        </p:txBody>
      </p:sp>
      <p:graphicFrame>
        <p:nvGraphicFramePr>
          <p:cNvPr id="4" name="表格 3">
            <a:extLst>
              <a:ext uri="{FF2B5EF4-FFF2-40B4-BE49-F238E27FC236}">
                <a16:creationId xmlns:a16="http://schemas.microsoft.com/office/drawing/2014/main" id="{CB1F36E1-D527-43FD-9B52-64D57714CA2F}"/>
              </a:ext>
            </a:extLst>
          </p:cNvPr>
          <p:cNvGraphicFramePr>
            <a:graphicFrameLocks noGrp="1"/>
          </p:cNvGraphicFramePr>
          <p:nvPr>
            <p:extLst>
              <p:ext uri="{D42A27DB-BD31-4B8C-83A1-F6EECF244321}">
                <p14:modId xmlns:p14="http://schemas.microsoft.com/office/powerpoint/2010/main" val="1133439463"/>
              </p:ext>
            </p:extLst>
          </p:nvPr>
        </p:nvGraphicFramePr>
        <p:xfrm>
          <a:off x="355600" y="1463041"/>
          <a:ext cx="11592559" cy="4454797"/>
        </p:xfrm>
        <a:graphic>
          <a:graphicData uri="http://schemas.openxmlformats.org/drawingml/2006/table">
            <a:tbl>
              <a:tblPr firstRow="1" bandRow="1">
                <a:tableStyleId>{5C22544A-7EE6-4342-B048-85BDC9FD1C3A}</a:tableStyleId>
              </a:tblPr>
              <a:tblGrid>
                <a:gridCol w="2929860">
                  <a:extLst>
                    <a:ext uri="{9D8B030D-6E8A-4147-A177-3AD203B41FA5}">
                      <a16:colId xmlns:a16="http://schemas.microsoft.com/office/drawing/2014/main" val="1665040712"/>
                    </a:ext>
                  </a:extLst>
                </a:gridCol>
                <a:gridCol w="3476847">
                  <a:extLst>
                    <a:ext uri="{9D8B030D-6E8A-4147-A177-3AD203B41FA5}">
                      <a16:colId xmlns:a16="http://schemas.microsoft.com/office/drawing/2014/main" val="3425775895"/>
                    </a:ext>
                  </a:extLst>
                </a:gridCol>
                <a:gridCol w="5185852">
                  <a:extLst>
                    <a:ext uri="{9D8B030D-6E8A-4147-A177-3AD203B41FA5}">
                      <a16:colId xmlns:a16="http://schemas.microsoft.com/office/drawing/2014/main" val="1227704038"/>
                    </a:ext>
                  </a:extLst>
                </a:gridCol>
              </a:tblGrid>
              <a:tr h="693905">
                <a:tc>
                  <a:txBody>
                    <a:bodyPr/>
                    <a:lstStyle/>
                    <a:p>
                      <a:pPr algn="ctr"/>
                      <a:r>
                        <a:rPr lang="en-US" altLang="zh-HK" sz="3600" dirty="0"/>
                        <a:t>Component</a:t>
                      </a:r>
                      <a:endParaRPr lang="zh-HK" altLang="en-US" sz="3600" dirty="0"/>
                    </a:p>
                  </a:txBody>
                  <a:tcPr>
                    <a:solidFill>
                      <a:schemeClr val="accent5">
                        <a:lumMod val="50000"/>
                      </a:schemeClr>
                    </a:solidFill>
                  </a:tcPr>
                </a:tc>
                <a:tc>
                  <a:txBody>
                    <a:bodyPr/>
                    <a:lstStyle/>
                    <a:p>
                      <a:pPr algn="ctr"/>
                      <a:r>
                        <a:rPr lang="en-US" altLang="zh-HK" sz="3600" dirty="0"/>
                        <a:t>Specification</a:t>
                      </a:r>
                      <a:endParaRPr lang="zh-HK" altLang="en-US" sz="3600" dirty="0"/>
                    </a:p>
                  </a:txBody>
                  <a:tcPr>
                    <a:solidFill>
                      <a:schemeClr val="accent5">
                        <a:lumMod val="50000"/>
                      </a:schemeClr>
                    </a:solidFill>
                  </a:tcPr>
                </a:tc>
                <a:tc>
                  <a:txBody>
                    <a:bodyPr/>
                    <a:lstStyle/>
                    <a:p>
                      <a:pPr algn="ctr"/>
                      <a:r>
                        <a:rPr lang="en-US" altLang="zh-HK" sz="3600" dirty="0"/>
                        <a:t>Impact</a:t>
                      </a:r>
                      <a:endParaRPr lang="zh-HK" altLang="en-US" sz="3600" dirty="0"/>
                    </a:p>
                  </a:txBody>
                  <a:tcPr>
                    <a:solidFill>
                      <a:schemeClr val="accent5">
                        <a:lumMod val="50000"/>
                      </a:schemeClr>
                    </a:solidFill>
                  </a:tcPr>
                </a:tc>
                <a:extLst>
                  <a:ext uri="{0D108BD9-81ED-4DB2-BD59-A6C34878D82A}">
                    <a16:rowId xmlns:a16="http://schemas.microsoft.com/office/drawing/2014/main" val="3578491984"/>
                  </a:ext>
                </a:extLst>
              </a:tr>
              <a:tr h="1255123">
                <a:tc>
                  <a:txBody>
                    <a:bodyPr/>
                    <a:lstStyle/>
                    <a:p>
                      <a:pPr algn="ctr"/>
                      <a:r>
                        <a:rPr lang="en-US" altLang="zh-HK" sz="2200" dirty="0"/>
                        <a:t>Accelerator</a:t>
                      </a:r>
                      <a:endParaRPr lang="zh-HK" altLang="en-US" sz="2200" dirty="0"/>
                    </a:p>
                  </a:txBody>
                  <a:tcPr>
                    <a:solidFill>
                      <a:schemeClr val="accent5">
                        <a:lumMod val="60000"/>
                        <a:lumOff val="40000"/>
                      </a:schemeClr>
                    </a:solidFill>
                  </a:tcPr>
                </a:tc>
                <a:tc>
                  <a:txBody>
                    <a:bodyPr/>
                    <a:lstStyle/>
                    <a:p>
                      <a:pPr algn="ctr"/>
                      <a:r>
                        <a:rPr lang="en-US" altLang="zh-HK" sz="2200" dirty="0"/>
                        <a:t>4x NVIDIA </a:t>
                      </a:r>
                    </a:p>
                    <a:p>
                      <a:pPr algn="ctr"/>
                      <a:r>
                        <a:rPr lang="en-US" altLang="zh-HK" sz="2200" b="1" dirty="0"/>
                        <a:t>1080Ti GPUs</a:t>
                      </a:r>
                      <a:endParaRPr lang="zh-HK" altLang="en-US" sz="2200" b="1" dirty="0"/>
                    </a:p>
                  </a:txBody>
                  <a:tcPr>
                    <a:solidFill>
                      <a:schemeClr val="accent5">
                        <a:lumMod val="60000"/>
                        <a:lumOff val="40000"/>
                      </a:schemeClr>
                    </a:solidFill>
                  </a:tcPr>
                </a:tc>
                <a:tc>
                  <a:txBody>
                    <a:bodyPr/>
                    <a:lstStyle/>
                    <a:p>
                      <a:pPr algn="l"/>
                      <a:r>
                        <a:rPr lang="en-US" altLang="zh-HK" sz="2200" dirty="0"/>
                        <a:t>Limited VRAM may increase response time for:</a:t>
                      </a:r>
                    </a:p>
                    <a:p>
                      <a:pPr algn="l"/>
                      <a:r>
                        <a:rPr lang="en-US" altLang="zh-HK" sz="2200" b="1" dirty="0"/>
                        <a:t>Multiple interactions</a:t>
                      </a:r>
                      <a:r>
                        <a:rPr lang="en-US" altLang="zh-HK" sz="2200" dirty="0"/>
                        <a:t> with the LLM</a:t>
                      </a:r>
                    </a:p>
                    <a:p>
                      <a:pPr algn="l"/>
                      <a:r>
                        <a:rPr lang="en-US" altLang="zh-HK" sz="2200" b="1" dirty="0"/>
                        <a:t>Large token inputs</a:t>
                      </a:r>
                      <a:r>
                        <a:rPr lang="en-US" altLang="zh-HK" sz="2200" dirty="0"/>
                        <a:t> during queries</a:t>
                      </a:r>
                      <a:endParaRPr lang="zh-HK" altLang="en-US" sz="2200" dirty="0"/>
                    </a:p>
                  </a:txBody>
                  <a:tcPr>
                    <a:solidFill>
                      <a:schemeClr val="accent5">
                        <a:lumMod val="60000"/>
                        <a:lumOff val="40000"/>
                      </a:schemeClr>
                    </a:solidFill>
                  </a:tcPr>
                </a:tc>
                <a:extLst>
                  <a:ext uri="{0D108BD9-81ED-4DB2-BD59-A6C34878D82A}">
                    <a16:rowId xmlns:a16="http://schemas.microsoft.com/office/drawing/2014/main" val="860467189"/>
                  </a:ext>
                </a:extLst>
              </a:tr>
              <a:tr h="1255123">
                <a:tc>
                  <a:txBody>
                    <a:bodyPr/>
                    <a:lstStyle/>
                    <a:p>
                      <a:pPr algn="ctr"/>
                      <a:r>
                        <a:rPr lang="pt-BR" altLang="zh-HK" sz="2200"/>
                        <a:t>GPU VRAM</a:t>
                      </a:r>
                      <a:endParaRPr lang="zh-HK" altLang="en-US" sz="2200"/>
                    </a:p>
                  </a:txBody>
                  <a:tcPr>
                    <a:solidFill>
                      <a:schemeClr val="accent5">
                        <a:lumMod val="60000"/>
                        <a:lumOff val="40000"/>
                      </a:schemeClr>
                    </a:solidFill>
                  </a:tcPr>
                </a:tc>
                <a:tc>
                  <a:txBody>
                    <a:bodyPr/>
                    <a:lstStyle/>
                    <a:p>
                      <a:pPr algn="ctr"/>
                      <a:r>
                        <a:rPr lang="pt-BR" altLang="zh-HK" sz="2200" b="0" dirty="0"/>
                        <a:t>11,264 MB x 4</a:t>
                      </a:r>
                      <a:r>
                        <a:rPr lang="pt-BR" altLang="zh-HK" sz="2200" b="1" dirty="0"/>
                        <a:t> </a:t>
                      </a:r>
                    </a:p>
                    <a:p>
                      <a:pPr algn="ctr"/>
                      <a:r>
                        <a:rPr lang="pt-BR" altLang="zh-HK" sz="2200" b="1" dirty="0"/>
                        <a:t>=</a:t>
                      </a:r>
                      <a:r>
                        <a:rPr lang="en-US" altLang="zh-HK" sz="2200" b="1" dirty="0"/>
                        <a:t>~45 GB</a:t>
                      </a:r>
                      <a:endParaRPr lang="zh-HK" altLang="en-US" sz="2200" b="1" dirty="0"/>
                    </a:p>
                  </a:txBody>
                  <a:tcPr>
                    <a:solidFill>
                      <a:schemeClr val="accent5">
                        <a:lumMod val="60000"/>
                        <a:lumOff val="40000"/>
                      </a:schemeClr>
                    </a:solidFill>
                  </a:tcPr>
                </a:tc>
                <a:tc>
                  <a:txBody>
                    <a:bodyPr/>
                    <a:lstStyle/>
                    <a:p>
                      <a:pPr algn="l"/>
                      <a:r>
                        <a:rPr lang="en-US" altLang="zh-HK" sz="2200" dirty="0"/>
                        <a:t>Insufficient CUDA memory for running or fine-tuning </a:t>
                      </a:r>
                      <a:r>
                        <a:rPr lang="en-US" altLang="zh-HK" sz="2200" b="0" dirty="0"/>
                        <a:t>large-size LLMs </a:t>
                      </a:r>
                      <a:r>
                        <a:rPr lang="en-US" altLang="zh-HK" sz="2200" dirty="0"/>
                        <a:t>(e.g., Llama 3.2 90B, </a:t>
                      </a:r>
                      <a:r>
                        <a:rPr lang="en-US" altLang="zh-HK" sz="2200" dirty="0" err="1"/>
                        <a:t>Qwen</a:t>
                      </a:r>
                      <a:r>
                        <a:rPr lang="en-US" altLang="zh-HK" sz="2200" dirty="0"/>
                        <a:t> 2.5 72B)</a:t>
                      </a:r>
                      <a:endParaRPr lang="zh-HK" altLang="en-US" sz="2200" dirty="0"/>
                    </a:p>
                  </a:txBody>
                  <a:tcPr>
                    <a:solidFill>
                      <a:schemeClr val="accent5">
                        <a:lumMod val="60000"/>
                        <a:lumOff val="40000"/>
                      </a:schemeClr>
                    </a:solidFill>
                  </a:tcPr>
                </a:tc>
                <a:extLst>
                  <a:ext uri="{0D108BD9-81ED-4DB2-BD59-A6C34878D82A}">
                    <a16:rowId xmlns:a16="http://schemas.microsoft.com/office/drawing/2014/main" val="3021713614"/>
                  </a:ext>
                </a:extLst>
              </a:tr>
              <a:tr h="1073209">
                <a:tc>
                  <a:txBody>
                    <a:bodyPr/>
                    <a:lstStyle/>
                    <a:p>
                      <a:pPr algn="ctr"/>
                      <a:r>
                        <a:rPr lang="en-US" altLang="zh-HK" sz="2200" dirty="0"/>
                        <a:t>Motherboard Memory</a:t>
                      </a:r>
                      <a:endParaRPr lang="zh-HK" altLang="en-US" sz="2200" dirty="0"/>
                    </a:p>
                  </a:txBody>
                  <a:tcPr>
                    <a:solidFill>
                      <a:schemeClr val="accent5">
                        <a:lumMod val="60000"/>
                        <a:lumOff val="40000"/>
                      </a:schemeClr>
                    </a:solidFill>
                  </a:tcPr>
                </a:tc>
                <a:tc>
                  <a:txBody>
                    <a:bodyPr/>
                    <a:lstStyle/>
                    <a:p>
                      <a:pPr algn="ctr"/>
                      <a:r>
                        <a:rPr lang="en-US" altLang="zh-HK" sz="2200" b="1" dirty="0"/>
                        <a:t>900 GB</a:t>
                      </a:r>
                      <a:endParaRPr lang="zh-HK" altLang="en-US" sz="2200" dirty="0"/>
                    </a:p>
                  </a:txBody>
                  <a:tcPr>
                    <a:solidFill>
                      <a:schemeClr val="accent5">
                        <a:lumMod val="60000"/>
                        <a:lumOff val="40000"/>
                      </a:schemeClr>
                    </a:solidFill>
                  </a:tcPr>
                </a:tc>
                <a:tc>
                  <a:txBody>
                    <a:bodyPr/>
                    <a:lstStyle/>
                    <a:p>
                      <a:pPr algn="l"/>
                      <a:r>
                        <a:rPr lang="en-US" altLang="zh-HK" sz="2200" dirty="0"/>
                        <a:t>Adequate for storing multiple LLMs and datasets handing</a:t>
                      </a:r>
                      <a:endParaRPr lang="zh-HK" altLang="en-US" sz="2200" dirty="0"/>
                    </a:p>
                  </a:txBody>
                  <a:tcPr>
                    <a:solidFill>
                      <a:schemeClr val="accent5">
                        <a:lumMod val="60000"/>
                        <a:lumOff val="40000"/>
                      </a:schemeClr>
                    </a:solidFill>
                  </a:tcPr>
                </a:tc>
                <a:extLst>
                  <a:ext uri="{0D108BD9-81ED-4DB2-BD59-A6C34878D82A}">
                    <a16:rowId xmlns:a16="http://schemas.microsoft.com/office/drawing/2014/main" val="683303186"/>
                  </a:ext>
                </a:extLst>
              </a:tr>
            </a:tbl>
          </a:graphicData>
        </a:graphic>
      </p:graphicFrame>
      <p:sp>
        <p:nvSpPr>
          <p:cNvPr id="5" name="文字方塊 4">
            <a:extLst>
              <a:ext uri="{FF2B5EF4-FFF2-40B4-BE49-F238E27FC236}">
                <a16:creationId xmlns:a16="http://schemas.microsoft.com/office/drawing/2014/main" id="{377BDE4A-3708-4398-B531-79853526F092}"/>
              </a:ext>
            </a:extLst>
          </p:cNvPr>
          <p:cNvSpPr txBox="1"/>
          <p:nvPr/>
        </p:nvSpPr>
        <p:spPr>
          <a:xfrm>
            <a:off x="355600" y="5954008"/>
            <a:ext cx="8747760" cy="523220"/>
          </a:xfrm>
          <a:prstGeom prst="rect">
            <a:avLst/>
          </a:prstGeom>
          <a:noFill/>
        </p:spPr>
        <p:txBody>
          <a:bodyPr wrap="square" rtlCol="0">
            <a:spAutoFit/>
          </a:bodyPr>
          <a:lstStyle/>
          <a:p>
            <a:r>
              <a:rPr lang="en-US" altLang="zh-HK" sz="2800" dirty="0"/>
              <a:t>Hardware Provider: CUHK Fintech Department</a:t>
            </a:r>
            <a:endParaRPr lang="zh-HK" altLang="en-US" sz="2800" dirty="0"/>
          </a:p>
        </p:txBody>
      </p:sp>
      <p:sp>
        <p:nvSpPr>
          <p:cNvPr id="6" name="投影片編號版面配置區 5">
            <a:extLst>
              <a:ext uri="{FF2B5EF4-FFF2-40B4-BE49-F238E27FC236}">
                <a16:creationId xmlns:a16="http://schemas.microsoft.com/office/drawing/2014/main" id="{262F9FF8-7973-4071-8BA9-FB69C42D282C}"/>
              </a:ext>
            </a:extLst>
          </p:cNvPr>
          <p:cNvSpPr>
            <a:spLocks noGrp="1"/>
          </p:cNvSpPr>
          <p:nvPr>
            <p:ph type="sldNum" sz="quarter" idx="12"/>
          </p:nvPr>
        </p:nvSpPr>
        <p:spPr/>
        <p:txBody>
          <a:bodyPr/>
          <a:lstStyle/>
          <a:p>
            <a:fld id="{DB17CEA6-17B5-4347-86B2-9520D0409059}" type="slidenum">
              <a:rPr lang="zh-HK" altLang="en-US" smtClean="0"/>
              <a:t>5</a:t>
            </a:fld>
            <a:endParaRPr lang="zh-HK" altLang="en-US"/>
          </a:p>
        </p:txBody>
      </p:sp>
    </p:spTree>
    <p:extLst>
      <p:ext uri="{BB962C8B-B14F-4D97-AF65-F5344CB8AC3E}">
        <p14:creationId xmlns:p14="http://schemas.microsoft.com/office/powerpoint/2010/main" val="410248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a:xfrm>
            <a:off x="646111" y="452718"/>
            <a:ext cx="9818689" cy="1400530"/>
          </a:xfrm>
        </p:spPr>
        <p:txBody>
          <a:bodyPr/>
          <a:lstStyle/>
          <a:p>
            <a:r>
              <a:rPr lang="en-US" altLang="zh-HK" dirty="0"/>
              <a:t>Solutions to the Risks and Challenges</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a:xfrm>
            <a:off x="1082184" y="1331259"/>
            <a:ext cx="8946541" cy="5760421"/>
          </a:xfrm>
        </p:spPr>
        <p:txBody>
          <a:bodyPr>
            <a:noAutofit/>
          </a:bodyPr>
          <a:lstStyle/>
          <a:p>
            <a:r>
              <a:rPr lang="en-US" altLang="zh-HK" sz="2200" b="1" dirty="0"/>
              <a:t>Chinese Dataset Compatibility</a:t>
            </a:r>
          </a:p>
          <a:p>
            <a:pPr lvl="1"/>
            <a:r>
              <a:rPr lang="en-US" altLang="zh-HK" sz="2200" dirty="0"/>
              <a:t>Use LLMs trained on Chinese datasets to ensure high performance in Chinese retrieval tasks.</a:t>
            </a:r>
          </a:p>
          <a:p>
            <a:pPr lvl="1"/>
            <a:r>
              <a:rPr lang="en-US" altLang="zh-HK" sz="2200" dirty="0"/>
              <a:t>Perform experiments to benchmark their effectiveness</a:t>
            </a:r>
          </a:p>
          <a:p>
            <a:r>
              <a:rPr lang="en-US" altLang="zh-HK" sz="2200" b="1" dirty="0"/>
              <a:t>Data Privacy Assurance</a:t>
            </a:r>
          </a:p>
          <a:p>
            <a:pPr lvl="1"/>
            <a:r>
              <a:rPr lang="en-US" altLang="zh-HK" sz="2200" dirty="0"/>
              <a:t>Deploy open-source LLMs on local servers to prevent sensitive data from being exposed to external providers</a:t>
            </a:r>
          </a:p>
          <a:p>
            <a:r>
              <a:rPr lang="en-US" altLang="zh-HK" sz="2200" b="1" dirty="0"/>
              <a:t>Retrieval-Augmented Generation (RAG)</a:t>
            </a:r>
          </a:p>
          <a:p>
            <a:pPr lvl="1"/>
            <a:r>
              <a:rPr lang="en-US" altLang="zh-HK" sz="2200" dirty="0"/>
              <a:t>Reduces hallucination by grounding the LLM’s outputs with relevant information </a:t>
            </a:r>
          </a:p>
          <a:p>
            <a:r>
              <a:rPr lang="en-US" altLang="zh-HK" sz="2200" b="1" dirty="0"/>
              <a:t>Hardware Optimization</a:t>
            </a:r>
          </a:p>
          <a:p>
            <a:pPr lvl="1"/>
            <a:r>
              <a:rPr lang="en-US" altLang="zh-HK" sz="2200" dirty="0"/>
              <a:t>Adapt smaller parameter-sized LLMs that fit within the GPU resources available at CUHK Fintech</a:t>
            </a:r>
          </a:p>
        </p:txBody>
      </p:sp>
      <p:sp>
        <p:nvSpPr>
          <p:cNvPr id="5" name="投影片編號版面配置區 4">
            <a:extLst>
              <a:ext uri="{FF2B5EF4-FFF2-40B4-BE49-F238E27FC236}">
                <a16:creationId xmlns:a16="http://schemas.microsoft.com/office/drawing/2014/main" id="{EDEF9D75-88E5-4C2D-ADE0-36E6A051030C}"/>
              </a:ext>
            </a:extLst>
          </p:cNvPr>
          <p:cNvSpPr>
            <a:spLocks noGrp="1"/>
          </p:cNvSpPr>
          <p:nvPr>
            <p:ph type="sldNum" sz="quarter" idx="12"/>
          </p:nvPr>
        </p:nvSpPr>
        <p:spPr/>
        <p:txBody>
          <a:bodyPr/>
          <a:lstStyle/>
          <a:p>
            <a:fld id="{DB17CEA6-17B5-4347-86B2-9520D0409059}" type="slidenum">
              <a:rPr lang="zh-HK" altLang="en-US" smtClean="0"/>
              <a:t>6</a:t>
            </a:fld>
            <a:endParaRPr lang="zh-HK" altLang="en-US"/>
          </a:p>
        </p:txBody>
      </p:sp>
    </p:spTree>
    <p:extLst>
      <p:ext uri="{BB962C8B-B14F-4D97-AF65-F5344CB8AC3E}">
        <p14:creationId xmlns:p14="http://schemas.microsoft.com/office/powerpoint/2010/main" val="23461286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1B6B-BE78-2742-0363-DD6C4906F938}"/>
              </a:ext>
            </a:extLst>
          </p:cNvPr>
          <p:cNvSpPr>
            <a:spLocks noGrp="1"/>
          </p:cNvSpPr>
          <p:nvPr>
            <p:ph type="title"/>
          </p:nvPr>
        </p:nvSpPr>
        <p:spPr>
          <a:xfrm>
            <a:off x="646111" y="452718"/>
            <a:ext cx="9788209" cy="1400530"/>
          </a:xfrm>
        </p:spPr>
        <p:txBody>
          <a:bodyPr/>
          <a:lstStyle/>
          <a:p>
            <a:r>
              <a:rPr lang="en-US" altLang="zh-HK" dirty="0"/>
              <a:t>Step-by-Step Development Progress</a:t>
            </a:r>
            <a:endParaRPr lang="zh-HK" altLang="en-US" dirty="0"/>
          </a:p>
        </p:txBody>
      </p:sp>
      <p:sp>
        <p:nvSpPr>
          <p:cNvPr id="3" name="Content Placeholder 2">
            <a:extLst>
              <a:ext uri="{FF2B5EF4-FFF2-40B4-BE49-F238E27FC236}">
                <a16:creationId xmlns:a16="http://schemas.microsoft.com/office/drawing/2014/main" id="{2FCFB08D-28AD-DF27-2AB4-A5D30C5C7535}"/>
              </a:ext>
            </a:extLst>
          </p:cNvPr>
          <p:cNvSpPr>
            <a:spLocks noGrp="1"/>
          </p:cNvSpPr>
          <p:nvPr>
            <p:ph idx="1"/>
          </p:nvPr>
        </p:nvSpPr>
        <p:spPr>
          <a:xfrm>
            <a:off x="1104293" y="1853248"/>
            <a:ext cx="8946541" cy="4195481"/>
          </a:xfrm>
        </p:spPr>
        <p:txBody>
          <a:bodyPr>
            <a:normAutofit fontScale="85000" lnSpcReduction="10000"/>
          </a:bodyPr>
          <a:lstStyle/>
          <a:p>
            <a:r>
              <a:rPr lang="en-US" altLang="zh-HK" sz="2600" b="1" dirty="0"/>
              <a:t>Term 1</a:t>
            </a:r>
            <a:r>
              <a:rPr lang="en-US" altLang="zh-HK" sz="2600" dirty="0"/>
              <a:t>:</a:t>
            </a:r>
          </a:p>
          <a:p>
            <a:pPr lvl="1"/>
            <a:r>
              <a:rPr lang="en-US" altLang="zh-HK" sz="2600" b="1" dirty="0"/>
              <a:t>Experiment 1: </a:t>
            </a:r>
            <a:r>
              <a:rPr lang="en-US" altLang="zh-HK" sz="2600" dirty="0"/>
              <a:t>Comparison of Open-Source LLMs to ensure the selection of a model suitable for Chinese RAG tasks.</a:t>
            </a:r>
          </a:p>
          <a:p>
            <a:pPr lvl="1"/>
            <a:r>
              <a:rPr lang="en-US" altLang="zh-HK" sz="2600" b="1" dirty="0"/>
              <a:t>Experiment 2: </a:t>
            </a:r>
            <a:r>
              <a:rPr lang="en-US" altLang="zh-HK" sz="2600" dirty="0"/>
              <a:t>Comparison of RAG Framework to identify the most effective retrieval mechanism for document search.</a:t>
            </a:r>
          </a:p>
          <a:p>
            <a:r>
              <a:rPr lang="en-US" altLang="zh-HK" sz="2600" b="1" dirty="0"/>
              <a:t>Term 2</a:t>
            </a:r>
            <a:r>
              <a:rPr lang="en-US" altLang="zh-HK" sz="2600" dirty="0"/>
              <a:t>:</a:t>
            </a:r>
          </a:p>
          <a:p>
            <a:pPr lvl="1"/>
            <a:r>
              <a:rPr lang="en-US" altLang="zh-HK" sz="2600" b="1" dirty="0"/>
              <a:t>LLM Fine-Tuning</a:t>
            </a:r>
            <a:r>
              <a:rPr lang="en-US" altLang="zh-HK" sz="2600" dirty="0"/>
              <a:t> to adapt the selected model to the domain-specific requirements of Finance and Banking</a:t>
            </a:r>
          </a:p>
          <a:p>
            <a:pPr lvl="1"/>
            <a:r>
              <a:rPr lang="en-US" altLang="zh-HK" sz="2600" b="1" dirty="0"/>
              <a:t>Prototype Development</a:t>
            </a:r>
            <a:r>
              <a:rPr lang="en-US" altLang="zh-HK" sz="2600" dirty="0"/>
              <a:t> to ensure a functional chatbot system for real-world testing in BOCOM’s environment</a:t>
            </a:r>
          </a:p>
          <a:p>
            <a:pPr lvl="1"/>
            <a:endParaRPr lang="en-US" altLang="zh-HK" sz="2600" b="1" dirty="0">
              <a:effectLst/>
              <a:latin typeface="Calibri" panose="020F0502020204030204" pitchFamily="34" charset="0"/>
              <a:ea typeface="新細明體" panose="02020500000000000000" pitchFamily="18" charset="-120"/>
            </a:endParaRPr>
          </a:p>
          <a:p>
            <a:endParaRPr lang="en-US" altLang="zh-HK" sz="1800" b="1" dirty="0">
              <a:effectLst/>
              <a:latin typeface="Calibri" panose="020F0502020204030204" pitchFamily="34" charset="0"/>
              <a:ea typeface="新細明體" panose="02020500000000000000" pitchFamily="18" charset="-120"/>
            </a:endParaRPr>
          </a:p>
          <a:p>
            <a:endParaRPr lang="zh-HK" altLang="en-US" dirty="0"/>
          </a:p>
        </p:txBody>
      </p:sp>
      <p:sp>
        <p:nvSpPr>
          <p:cNvPr id="5" name="投影片編號版面配置區 4">
            <a:extLst>
              <a:ext uri="{FF2B5EF4-FFF2-40B4-BE49-F238E27FC236}">
                <a16:creationId xmlns:a16="http://schemas.microsoft.com/office/drawing/2014/main" id="{5CF9182D-966F-4003-991B-B4E27054D570}"/>
              </a:ext>
            </a:extLst>
          </p:cNvPr>
          <p:cNvSpPr>
            <a:spLocks noGrp="1"/>
          </p:cNvSpPr>
          <p:nvPr>
            <p:ph type="sldNum" sz="quarter" idx="12"/>
          </p:nvPr>
        </p:nvSpPr>
        <p:spPr/>
        <p:txBody>
          <a:bodyPr/>
          <a:lstStyle/>
          <a:p>
            <a:fld id="{DB17CEA6-17B5-4347-86B2-9520D0409059}" type="slidenum">
              <a:rPr lang="zh-HK" altLang="en-US" smtClean="0"/>
              <a:t>7</a:t>
            </a:fld>
            <a:endParaRPr lang="zh-HK" altLang="en-US"/>
          </a:p>
        </p:txBody>
      </p:sp>
    </p:spTree>
    <p:extLst>
      <p:ext uri="{BB962C8B-B14F-4D97-AF65-F5344CB8AC3E}">
        <p14:creationId xmlns:p14="http://schemas.microsoft.com/office/powerpoint/2010/main" val="30551446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80D0D-ECB0-A24C-8C22-3496800EB61A}"/>
            </a:ext>
          </a:extLst>
        </p:cNvPr>
        <p:cNvGrpSpPr/>
        <p:nvPr/>
      </p:nvGrpSpPr>
      <p:grpSpPr>
        <a:xfrm>
          <a:off x="0" y="0"/>
          <a:ext cx="0" cy="0"/>
          <a:chOff x="0" y="0"/>
          <a:chExt cx="0" cy="0"/>
        </a:xfrm>
      </p:grpSpPr>
      <p:pic>
        <p:nvPicPr>
          <p:cNvPr id="5" name="Picture 4" descr="被移到培養皿中的樣本">
            <a:extLst>
              <a:ext uri="{FF2B5EF4-FFF2-40B4-BE49-F238E27FC236}">
                <a16:creationId xmlns:a16="http://schemas.microsoft.com/office/drawing/2014/main" id="{64BD7D71-D495-CCDC-FA5E-3DB508B21A98}"/>
              </a:ext>
            </a:extLst>
          </p:cNvPr>
          <p:cNvPicPr>
            <a:picLocks noChangeAspect="1"/>
          </p:cNvPicPr>
          <p:nvPr/>
        </p:nvPicPr>
        <p:blipFill>
          <a:blip r:embed="rId2"/>
          <a:srcRect l="47791" r="3357" b="-2"/>
          <a:stretch/>
        </p:blipFill>
        <p:spPr>
          <a:xfrm>
            <a:off x="20" y="10"/>
            <a:ext cx="4481944" cy="6857990"/>
          </a:xfrm>
          <a:custGeom>
            <a:avLst/>
            <a:gdLst/>
            <a:ahLst/>
            <a:cxnLst/>
            <a:rect l="l" t="t" r="r" b="b"/>
            <a:pathLst>
              <a:path w="4481964" h="6858000">
                <a:moveTo>
                  <a:pt x="0" y="0"/>
                </a:moveTo>
                <a:lnTo>
                  <a:pt x="3137249" y="0"/>
                </a:ln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0" y="6858000"/>
                </a:lnTo>
                <a:close/>
              </a:path>
            </a:pathLst>
          </a:custGeom>
        </p:spPr>
      </p:pic>
      <p:sp>
        <p:nvSpPr>
          <p:cNvPr id="6" name="TextBox 5">
            <a:extLst>
              <a:ext uri="{FF2B5EF4-FFF2-40B4-BE49-F238E27FC236}">
                <a16:creationId xmlns:a16="http://schemas.microsoft.com/office/drawing/2014/main" id="{A24455F9-E449-F884-57A2-726400CC7078}"/>
              </a:ext>
            </a:extLst>
          </p:cNvPr>
          <p:cNvSpPr txBox="1"/>
          <p:nvPr/>
        </p:nvSpPr>
        <p:spPr>
          <a:xfrm>
            <a:off x="5410950" y="2669685"/>
            <a:ext cx="6181610" cy="357871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altLang="zh-HK" sz="4200" dirty="0">
                <a:latin typeface="+mj-lt"/>
                <a:ea typeface="+mj-ea"/>
                <a:cs typeface="+mj-cs"/>
              </a:rPr>
              <a:t>Experiment 1: </a:t>
            </a:r>
          </a:p>
        </p:txBody>
      </p:sp>
      <p:sp>
        <p:nvSpPr>
          <p:cNvPr id="2" name="投影片編號版面配置區 1">
            <a:extLst>
              <a:ext uri="{FF2B5EF4-FFF2-40B4-BE49-F238E27FC236}">
                <a16:creationId xmlns:a16="http://schemas.microsoft.com/office/drawing/2014/main" id="{7B77205A-6621-A8E6-1E39-8B1DFCC8F36A}"/>
              </a:ext>
            </a:extLst>
          </p:cNvPr>
          <p:cNvSpPr>
            <a:spLocks noGrp="1"/>
          </p:cNvSpPr>
          <p:nvPr>
            <p:ph type="sldNum" sz="quarter" idx="12"/>
          </p:nvPr>
        </p:nvSpPr>
        <p:spPr/>
        <p:txBody>
          <a:bodyPr/>
          <a:lstStyle/>
          <a:p>
            <a:fld id="{DB17CEA6-17B5-4347-86B2-9520D0409059}" type="slidenum">
              <a:rPr lang="zh-HK" altLang="en-US" smtClean="0"/>
              <a:t>8</a:t>
            </a:fld>
            <a:endParaRPr lang="zh-HK" altLang="en-US"/>
          </a:p>
        </p:txBody>
      </p:sp>
    </p:spTree>
    <p:extLst>
      <p:ext uri="{BB962C8B-B14F-4D97-AF65-F5344CB8AC3E}">
        <p14:creationId xmlns:p14="http://schemas.microsoft.com/office/powerpoint/2010/main" val="22200937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8CC08-3882-F185-8DF7-FFA005E2B4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20CC1C-CA00-AC8F-05B0-82E4765510C0}"/>
              </a:ext>
            </a:extLst>
          </p:cNvPr>
          <p:cNvSpPr>
            <a:spLocks noGrp="1"/>
          </p:cNvSpPr>
          <p:nvPr>
            <p:ph type="title"/>
          </p:nvPr>
        </p:nvSpPr>
        <p:spPr/>
        <p:txBody>
          <a:bodyPr/>
          <a:lstStyle/>
          <a:p>
            <a:r>
              <a:rPr lang="en-US" altLang="zh-HK" dirty="0"/>
              <a:t>Description</a:t>
            </a:r>
            <a:endParaRPr lang="zh-HK" altLang="en-US" dirty="0"/>
          </a:p>
        </p:txBody>
      </p:sp>
      <p:sp>
        <p:nvSpPr>
          <p:cNvPr id="3" name="Content Placeholder 2">
            <a:extLst>
              <a:ext uri="{FF2B5EF4-FFF2-40B4-BE49-F238E27FC236}">
                <a16:creationId xmlns:a16="http://schemas.microsoft.com/office/drawing/2014/main" id="{1C9F2809-3BD3-A032-B9D8-E1FE0D39C261}"/>
              </a:ext>
            </a:extLst>
          </p:cNvPr>
          <p:cNvSpPr>
            <a:spLocks noGrp="1"/>
          </p:cNvSpPr>
          <p:nvPr>
            <p:ph idx="1"/>
          </p:nvPr>
        </p:nvSpPr>
        <p:spPr>
          <a:xfrm>
            <a:off x="1240927" y="1694794"/>
            <a:ext cx="10304962" cy="4805082"/>
          </a:xfrm>
        </p:spPr>
        <p:txBody>
          <a:bodyPr>
            <a:noAutofit/>
          </a:bodyPr>
          <a:lstStyle/>
          <a:p>
            <a:r>
              <a:rPr lang="en-US" altLang="zh-HK" sz="2200" dirty="0"/>
              <a:t>Objective: Judge whether the retriever can correctly retrieve the document</a:t>
            </a:r>
          </a:p>
          <a:p>
            <a:r>
              <a:rPr lang="en-US" altLang="zh-HK" sz="2200" dirty="0"/>
              <a:t>Test Set: 90 Questions for 9 PDFs</a:t>
            </a:r>
          </a:p>
          <a:p>
            <a:r>
              <a:rPr lang="en-US" altLang="zh-HK" sz="2200" dirty="0"/>
              <a:t>Methodology: </a:t>
            </a:r>
          </a:p>
          <a:p>
            <a:pPr lvl="1"/>
            <a:r>
              <a:rPr lang="en-US" altLang="zh-HK" sz="2000" dirty="0"/>
              <a:t>Retrieve the relevant document for each question</a:t>
            </a:r>
          </a:p>
          <a:p>
            <a:r>
              <a:rPr lang="en-US" altLang="zh-HK" sz="2200" dirty="0"/>
              <a:t>Evaluation Metrics (Hit rate</a:t>
            </a:r>
            <a:r>
              <a:rPr lang="en-US" altLang="zh-TW" sz="2200" dirty="0"/>
              <a:t>)</a:t>
            </a:r>
            <a:endParaRPr lang="en-US" altLang="zh-HK" sz="2200" dirty="0"/>
          </a:p>
          <a:p>
            <a:r>
              <a:rPr lang="en-US" altLang="zh-HK" sz="2200" dirty="0"/>
              <a:t>Goal: Select the best RAG framework for this chatbot system</a:t>
            </a:r>
          </a:p>
          <a:p>
            <a:pPr marL="0" indent="0">
              <a:buNone/>
            </a:pPr>
            <a:endParaRPr lang="en-US" altLang="zh-HK" sz="2200" dirty="0"/>
          </a:p>
        </p:txBody>
      </p:sp>
      <p:sp>
        <p:nvSpPr>
          <p:cNvPr id="4" name="投影片編號版面配置區 3">
            <a:extLst>
              <a:ext uri="{FF2B5EF4-FFF2-40B4-BE49-F238E27FC236}">
                <a16:creationId xmlns:a16="http://schemas.microsoft.com/office/drawing/2014/main" id="{707803A9-6089-69C5-CEDE-A969EEA9C735}"/>
              </a:ext>
            </a:extLst>
          </p:cNvPr>
          <p:cNvSpPr>
            <a:spLocks noGrp="1"/>
          </p:cNvSpPr>
          <p:nvPr>
            <p:ph type="sldNum" sz="quarter" idx="12"/>
          </p:nvPr>
        </p:nvSpPr>
        <p:spPr/>
        <p:txBody>
          <a:bodyPr/>
          <a:lstStyle/>
          <a:p>
            <a:fld id="{DB17CEA6-17B5-4347-86B2-9520D0409059}" type="slidenum">
              <a:rPr lang="zh-HK" altLang="en-US" smtClean="0"/>
              <a:t>9</a:t>
            </a:fld>
            <a:endParaRPr lang="zh-HK" altLang="en-US"/>
          </a:p>
        </p:txBody>
      </p:sp>
    </p:spTree>
    <p:extLst>
      <p:ext uri="{BB962C8B-B14F-4D97-AF65-F5344CB8AC3E}">
        <p14:creationId xmlns:p14="http://schemas.microsoft.com/office/powerpoint/2010/main" val="2573778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1B6B-BE78-2742-0363-DD6C4906F938}"/>
              </a:ext>
            </a:extLst>
          </p:cNvPr>
          <p:cNvSpPr>
            <a:spLocks noGrp="1"/>
          </p:cNvSpPr>
          <p:nvPr>
            <p:ph type="title"/>
          </p:nvPr>
        </p:nvSpPr>
        <p:spPr/>
        <p:txBody>
          <a:bodyPr/>
          <a:lstStyle/>
          <a:p>
            <a:r>
              <a:rPr lang="en-US" altLang="zh-HK" dirty="0"/>
              <a:t>Retriever</a:t>
            </a:r>
            <a:endParaRPr lang="zh-HK" altLang="en-US" dirty="0"/>
          </a:p>
        </p:txBody>
      </p:sp>
      <p:sp>
        <p:nvSpPr>
          <p:cNvPr id="3" name="Content Placeholder 2">
            <a:extLst>
              <a:ext uri="{FF2B5EF4-FFF2-40B4-BE49-F238E27FC236}">
                <a16:creationId xmlns:a16="http://schemas.microsoft.com/office/drawing/2014/main" id="{2FCFB08D-28AD-DF27-2AB4-A5D30C5C7535}"/>
              </a:ext>
            </a:extLst>
          </p:cNvPr>
          <p:cNvSpPr>
            <a:spLocks noGrp="1"/>
          </p:cNvSpPr>
          <p:nvPr>
            <p:ph idx="1"/>
          </p:nvPr>
        </p:nvSpPr>
        <p:spPr>
          <a:xfrm>
            <a:off x="1104293" y="1523639"/>
            <a:ext cx="8946541" cy="4679632"/>
          </a:xfrm>
        </p:spPr>
        <p:txBody>
          <a:bodyPr>
            <a:normAutofit/>
          </a:bodyPr>
          <a:lstStyle/>
          <a:p>
            <a:r>
              <a:rPr lang="en-US" altLang="zh-HK" sz="2400" b="1" dirty="0"/>
              <a:t>Embedding Model: </a:t>
            </a:r>
            <a:r>
              <a:rPr lang="en-US" altLang="zh-HK" sz="2400" dirty="0" err="1"/>
              <a:t>Chuxin</a:t>
            </a:r>
            <a:r>
              <a:rPr lang="en-US" altLang="zh-HK" sz="2400" dirty="0"/>
              <a:t>-Embedding</a:t>
            </a:r>
            <a:endParaRPr lang="en-US" altLang="zh-HK" sz="2400" b="1" dirty="0"/>
          </a:p>
          <a:p>
            <a:r>
              <a:rPr lang="en-US" altLang="zh-HK" sz="2400" b="1" dirty="0"/>
              <a:t>Model Size</a:t>
            </a:r>
            <a:r>
              <a:rPr lang="en-US" altLang="zh-HK" sz="2400" dirty="0"/>
              <a:t>: 568M parameters</a:t>
            </a:r>
          </a:p>
          <a:p>
            <a:r>
              <a:rPr lang="en-US" altLang="zh-HK" sz="2400" b="1" dirty="0"/>
              <a:t>Search Type</a:t>
            </a:r>
            <a:r>
              <a:rPr lang="en-US" altLang="zh-HK" sz="2400" dirty="0"/>
              <a:t>: Use similarity-based search to retrieve the most relevant document chunks.</a:t>
            </a:r>
          </a:p>
          <a:p>
            <a:r>
              <a:rPr lang="en-US" altLang="zh-HK" sz="2400" b="1" dirty="0"/>
              <a:t>Chunks</a:t>
            </a:r>
            <a:r>
              <a:rPr lang="en-US" altLang="zh-HK" sz="2400" dirty="0"/>
              <a:t>: Split by pages</a:t>
            </a:r>
            <a:endParaRPr lang="en-US" altLang="zh-HK" sz="2400" b="1" dirty="0">
              <a:effectLst/>
              <a:latin typeface="Calibri" panose="020F0502020204030204" pitchFamily="34" charset="0"/>
              <a:ea typeface="新細明體" panose="02020500000000000000" pitchFamily="18" charset="-120"/>
            </a:endParaRPr>
          </a:p>
          <a:p>
            <a:endParaRPr lang="en-US" altLang="zh-HK" sz="1800" b="1" dirty="0">
              <a:effectLst/>
              <a:latin typeface="Calibri" panose="020F0502020204030204" pitchFamily="34" charset="0"/>
              <a:ea typeface="新細明體" panose="02020500000000000000" pitchFamily="18" charset="-120"/>
            </a:endParaRPr>
          </a:p>
          <a:p>
            <a:endParaRPr lang="zh-HK" altLang="en-US" dirty="0"/>
          </a:p>
        </p:txBody>
      </p:sp>
      <p:sp>
        <p:nvSpPr>
          <p:cNvPr id="4" name="投影片編號版面配置區 3">
            <a:extLst>
              <a:ext uri="{FF2B5EF4-FFF2-40B4-BE49-F238E27FC236}">
                <a16:creationId xmlns:a16="http://schemas.microsoft.com/office/drawing/2014/main" id="{C6A6193F-8BBA-44BC-B473-5463C9F6BE5D}"/>
              </a:ext>
            </a:extLst>
          </p:cNvPr>
          <p:cNvSpPr>
            <a:spLocks noGrp="1"/>
          </p:cNvSpPr>
          <p:nvPr>
            <p:ph type="sldNum" sz="quarter" idx="12"/>
          </p:nvPr>
        </p:nvSpPr>
        <p:spPr/>
        <p:txBody>
          <a:bodyPr/>
          <a:lstStyle/>
          <a:p>
            <a:fld id="{DB17CEA6-17B5-4347-86B2-9520D0409059}" type="slidenum">
              <a:rPr lang="zh-HK" altLang="en-US" smtClean="0"/>
              <a:t>10</a:t>
            </a:fld>
            <a:endParaRPr lang="zh-HK" altLang="en-US"/>
          </a:p>
        </p:txBody>
      </p:sp>
    </p:spTree>
    <p:extLst>
      <p:ext uri="{BB962C8B-B14F-4D97-AF65-F5344CB8AC3E}">
        <p14:creationId xmlns:p14="http://schemas.microsoft.com/office/powerpoint/2010/main" val="2815931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1B6B-BE78-2742-0363-DD6C4906F938}"/>
              </a:ext>
            </a:extLst>
          </p:cNvPr>
          <p:cNvSpPr>
            <a:spLocks noGrp="1"/>
          </p:cNvSpPr>
          <p:nvPr>
            <p:ph type="title"/>
          </p:nvPr>
        </p:nvSpPr>
        <p:spPr>
          <a:xfrm>
            <a:off x="646111" y="452718"/>
            <a:ext cx="7867969" cy="837602"/>
          </a:xfrm>
        </p:spPr>
        <p:txBody>
          <a:bodyPr/>
          <a:lstStyle/>
          <a:p>
            <a:r>
              <a:rPr lang="en-US" altLang="zh-HK" sz="4400" dirty="0"/>
              <a:t>Dataset</a:t>
            </a:r>
            <a:endParaRPr lang="zh-TW" altLang="en-US" sz="4400" dirty="0"/>
          </a:p>
        </p:txBody>
      </p:sp>
      <p:graphicFrame>
        <p:nvGraphicFramePr>
          <p:cNvPr id="6" name="Table 4">
            <a:extLst>
              <a:ext uri="{FF2B5EF4-FFF2-40B4-BE49-F238E27FC236}">
                <a16:creationId xmlns:a16="http://schemas.microsoft.com/office/drawing/2014/main" id="{52E885C9-233F-4381-80ED-CC7C4D2E3E00}"/>
              </a:ext>
            </a:extLst>
          </p:cNvPr>
          <p:cNvGraphicFramePr>
            <a:graphicFrameLocks noGrp="1"/>
          </p:cNvGraphicFramePr>
          <p:nvPr>
            <p:extLst>
              <p:ext uri="{D42A27DB-BD31-4B8C-83A1-F6EECF244321}">
                <p14:modId xmlns:p14="http://schemas.microsoft.com/office/powerpoint/2010/main" val="2338075184"/>
              </p:ext>
            </p:extLst>
          </p:nvPr>
        </p:nvGraphicFramePr>
        <p:xfrm>
          <a:off x="330554" y="1319254"/>
          <a:ext cx="7756805" cy="5286127"/>
        </p:xfrm>
        <a:graphic>
          <a:graphicData uri="http://schemas.openxmlformats.org/drawingml/2006/table">
            <a:tbl>
              <a:tblPr firstRow="1" bandRow="1">
                <a:tableStyleId>{5C22544A-7EE6-4342-B048-85BDC9FD1C3A}</a:tableStyleId>
              </a:tblPr>
              <a:tblGrid>
                <a:gridCol w="3970888">
                  <a:extLst>
                    <a:ext uri="{9D8B030D-6E8A-4147-A177-3AD203B41FA5}">
                      <a16:colId xmlns:a16="http://schemas.microsoft.com/office/drawing/2014/main" val="1783179698"/>
                    </a:ext>
                  </a:extLst>
                </a:gridCol>
                <a:gridCol w="1449208">
                  <a:extLst>
                    <a:ext uri="{9D8B030D-6E8A-4147-A177-3AD203B41FA5}">
                      <a16:colId xmlns:a16="http://schemas.microsoft.com/office/drawing/2014/main" val="315227423"/>
                    </a:ext>
                  </a:extLst>
                </a:gridCol>
                <a:gridCol w="1190822">
                  <a:extLst>
                    <a:ext uri="{9D8B030D-6E8A-4147-A177-3AD203B41FA5}">
                      <a16:colId xmlns:a16="http://schemas.microsoft.com/office/drawing/2014/main" val="1534250952"/>
                    </a:ext>
                  </a:extLst>
                </a:gridCol>
                <a:gridCol w="1145887">
                  <a:extLst>
                    <a:ext uri="{9D8B030D-6E8A-4147-A177-3AD203B41FA5}">
                      <a16:colId xmlns:a16="http://schemas.microsoft.com/office/drawing/2014/main" val="842815445"/>
                    </a:ext>
                  </a:extLst>
                </a:gridCol>
              </a:tblGrid>
              <a:tr h="413937">
                <a:tc>
                  <a:txBody>
                    <a:bodyPr/>
                    <a:lstStyle/>
                    <a:p>
                      <a:pPr algn="ctr"/>
                      <a:r>
                        <a:rPr lang="en-US" altLang="zh-HK" dirty="0"/>
                        <a:t>Topic</a:t>
                      </a:r>
                      <a:endParaRPr lang="zh-HK" altLang="en-US" dirty="0"/>
                    </a:p>
                  </a:txBody>
                  <a:tcPr/>
                </a:tc>
                <a:tc>
                  <a:txBody>
                    <a:bodyPr/>
                    <a:lstStyle/>
                    <a:p>
                      <a:pPr algn="ctr"/>
                      <a:r>
                        <a:rPr lang="en-US" altLang="zh-HK" dirty="0"/>
                        <a:t>Language</a:t>
                      </a:r>
                      <a:endParaRPr lang="zh-HK" altLang="en-US" dirty="0"/>
                    </a:p>
                  </a:txBody>
                  <a:tcPr/>
                </a:tc>
                <a:tc>
                  <a:txBody>
                    <a:bodyPr/>
                    <a:lstStyle/>
                    <a:p>
                      <a:pPr algn="ctr"/>
                      <a:r>
                        <a:rPr lang="en-US" altLang="zh-HK" dirty="0"/>
                        <a:t>Pages</a:t>
                      </a:r>
                      <a:endParaRPr lang="zh-HK" altLang="en-US" dirty="0"/>
                    </a:p>
                  </a:txBody>
                  <a:tcPr/>
                </a:tc>
                <a:tc>
                  <a:txBody>
                    <a:bodyPr/>
                    <a:lstStyle/>
                    <a:p>
                      <a:pPr algn="ctr"/>
                      <a:r>
                        <a:rPr lang="en-US" altLang="zh-HK" dirty="0"/>
                        <a:t>Tokens</a:t>
                      </a:r>
                      <a:endParaRPr lang="zh-HK" altLang="en-US" dirty="0"/>
                    </a:p>
                  </a:txBody>
                  <a:tcPr/>
                </a:tc>
                <a:extLst>
                  <a:ext uri="{0D108BD9-81ED-4DB2-BD59-A6C34878D82A}">
                    <a16:rowId xmlns:a16="http://schemas.microsoft.com/office/drawing/2014/main" val="1822064419"/>
                  </a:ext>
                </a:extLst>
              </a:tr>
              <a:tr h="227434">
                <a:tc>
                  <a:txBody>
                    <a:bodyPr/>
                    <a:lstStyle/>
                    <a:p>
                      <a:r>
                        <a:rPr lang="en-US" altLang="zh-HK" sz="1400" b="0" i="0" kern="1200" dirty="0">
                          <a:solidFill>
                            <a:schemeClr val="dk1"/>
                          </a:solidFill>
                          <a:effectLst/>
                          <a:latin typeface="+mn-lt"/>
                          <a:ea typeface="+mn-ea"/>
                          <a:cs typeface="+mn-cs"/>
                        </a:rPr>
                        <a:t>Corporate Governance of Locally Registered Authorized Institutions</a:t>
                      </a:r>
                      <a:endParaRPr lang="zh-HK" altLang="en-US" sz="1400" dirty="0"/>
                    </a:p>
                  </a:txBody>
                  <a:tcPr/>
                </a:tc>
                <a:tc>
                  <a:txBody>
                    <a:bodyPr/>
                    <a:lstStyle/>
                    <a:p>
                      <a:pPr algn="ctr"/>
                      <a:r>
                        <a:rPr lang="en-US" altLang="zh-TW" sz="1800" dirty="0"/>
                        <a:t>Chinese</a:t>
                      </a:r>
                      <a:endParaRPr lang="zh-HK" altLang="en-US" sz="1800" dirty="0"/>
                    </a:p>
                  </a:txBody>
                  <a:tcPr/>
                </a:tc>
                <a:tc>
                  <a:txBody>
                    <a:bodyPr/>
                    <a:lstStyle/>
                    <a:p>
                      <a:pPr algn="ctr"/>
                      <a:r>
                        <a:rPr lang="en-US" altLang="zh-TW" sz="1800" dirty="0"/>
                        <a:t>38</a:t>
                      </a:r>
                      <a:endParaRPr lang="zh-HK" altLang="en-US" sz="1800" dirty="0"/>
                    </a:p>
                  </a:txBody>
                  <a:tcPr/>
                </a:tc>
                <a:tc>
                  <a:txBody>
                    <a:bodyPr/>
                    <a:lstStyle/>
                    <a:p>
                      <a:pPr algn="ctr"/>
                      <a:r>
                        <a:rPr lang="en-US" altLang="zh-HK" sz="1800" dirty="0"/>
                        <a:t>38912</a:t>
                      </a:r>
                      <a:endParaRPr lang="zh-HK" altLang="en-US" sz="1800" dirty="0"/>
                    </a:p>
                  </a:txBody>
                  <a:tcPr/>
                </a:tc>
                <a:extLst>
                  <a:ext uri="{0D108BD9-81ED-4DB2-BD59-A6C34878D82A}">
                    <a16:rowId xmlns:a16="http://schemas.microsoft.com/office/drawing/2014/main" val="1466386362"/>
                  </a:ext>
                </a:extLst>
              </a:tr>
              <a:tr h="397031">
                <a:tc>
                  <a:txBody>
                    <a:bodyPr/>
                    <a:lstStyle/>
                    <a:p>
                      <a:r>
                        <a:rPr lang="en-US" altLang="zh-TW" sz="1400" dirty="0"/>
                        <a:t>Climate Risk Management</a:t>
                      </a:r>
                      <a:endParaRPr lang="zh-HK" altLang="en-US" sz="1400" dirty="0"/>
                    </a:p>
                  </a:txBody>
                  <a:tcPr/>
                </a:tc>
                <a:tc>
                  <a:txBody>
                    <a:bodyPr/>
                    <a:lstStyle/>
                    <a:p>
                      <a:pPr algn="ctr"/>
                      <a:r>
                        <a:rPr lang="en-US" altLang="zh-TW" sz="1800" dirty="0"/>
                        <a:t>English</a:t>
                      </a:r>
                      <a:endParaRPr lang="zh-HK" altLang="en-US" sz="1800" dirty="0"/>
                    </a:p>
                  </a:txBody>
                  <a:tcPr/>
                </a:tc>
                <a:tc>
                  <a:txBody>
                    <a:bodyPr/>
                    <a:lstStyle/>
                    <a:p>
                      <a:pPr algn="ctr"/>
                      <a:r>
                        <a:rPr lang="en-US" altLang="zh-HK" sz="1800" dirty="0"/>
                        <a:t>35</a:t>
                      </a:r>
                      <a:endParaRPr lang="zh-HK" altLang="en-US" sz="1800" dirty="0"/>
                    </a:p>
                  </a:txBody>
                  <a:tcPr/>
                </a:tc>
                <a:tc>
                  <a:txBody>
                    <a:bodyPr/>
                    <a:lstStyle/>
                    <a:p>
                      <a:pPr algn="ctr"/>
                      <a:r>
                        <a:rPr lang="en-US" altLang="zh-HK" sz="1800" dirty="0"/>
                        <a:t>35840</a:t>
                      </a:r>
                      <a:endParaRPr lang="zh-HK" altLang="en-US" sz="1800" dirty="0"/>
                    </a:p>
                  </a:txBody>
                  <a:tcPr/>
                </a:tc>
                <a:extLst>
                  <a:ext uri="{0D108BD9-81ED-4DB2-BD59-A6C34878D82A}">
                    <a16:rowId xmlns:a16="http://schemas.microsoft.com/office/drawing/2014/main" val="3468041867"/>
                  </a:ext>
                </a:extLst>
              </a:tr>
              <a:tr h="720925">
                <a:tc>
                  <a:txBody>
                    <a:bodyPr/>
                    <a:lstStyle/>
                    <a:p>
                      <a:r>
                        <a:rPr lang="en-US" altLang="zh-HK" sz="1400" b="0" i="0" kern="1200" dirty="0">
                          <a:solidFill>
                            <a:schemeClr val="dk1"/>
                          </a:solidFill>
                          <a:effectLst/>
                          <a:latin typeface="+mn-lt"/>
                          <a:ea typeface="+mn-ea"/>
                          <a:cs typeface="+mn-cs"/>
                        </a:rPr>
                        <a:t>Guidelines on Combating Money Laundering and Counter-Terrorist Financing</a:t>
                      </a:r>
                      <a:endParaRPr lang="zh-TW" altLang="en-US" sz="1400" dirty="0"/>
                    </a:p>
                  </a:txBody>
                  <a:tcPr/>
                </a:tc>
                <a:tc>
                  <a:txBody>
                    <a:bodyPr/>
                    <a:lstStyle/>
                    <a:p>
                      <a:pPr algn="ctr"/>
                      <a:r>
                        <a:rPr lang="en-US" altLang="zh-TW" sz="1800" dirty="0"/>
                        <a:t>Chinese</a:t>
                      </a:r>
                      <a:endParaRPr lang="zh-HK" altLang="en-US" sz="1800" dirty="0"/>
                    </a:p>
                  </a:txBody>
                  <a:tcPr/>
                </a:tc>
                <a:tc>
                  <a:txBody>
                    <a:bodyPr/>
                    <a:lstStyle/>
                    <a:p>
                      <a:pPr algn="ctr"/>
                      <a:r>
                        <a:rPr lang="en-US" altLang="zh-HK" sz="1800" dirty="0"/>
                        <a:t>83</a:t>
                      </a:r>
                      <a:endParaRPr lang="zh-HK" altLang="en-US" sz="1800" dirty="0"/>
                    </a:p>
                  </a:txBody>
                  <a:tcPr/>
                </a:tc>
                <a:tc>
                  <a:txBody>
                    <a:bodyPr/>
                    <a:lstStyle/>
                    <a:p>
                      <a:pPr algn="ctr"/>
                      <a:r>
                        <a:rPr lang="en-US" altLang="zh-HK" sz="1800" dirty="0"/>
                        <a:t>84992</a:t>
                      </a:r>
                      <a:endParaRPr lang="zh-HK" altLang="en-US" sz="1800" dirty="0"/>
                    </a:p>
                  </a:txBody>
                  <a:tcPr/>
                </a:tc>
                <a:extLst>
                  <a:ext uri="{0D108BD9-81ED-4DB2-BD59-A6C34878D82A}">
                    <a16:rowId xmlns:a16="http://schemas.microsoft.com/office/drawing/2014/main" val="3407278552"/>
                  </a:ext>
                </a:extLst>
              </a:tr>
              <a:tr h="410189">
                <a:tc>
                  <a:txBody>
                    <a:bodyPr/>
                    <a:lstStyle/>
                    <a:p>
                      <a:r>
                        <a:rPr lang="en-US" altLang="zh-HK" sz="1400" b="0" i="0" kern="1200" dirty="0">
                          <a:solidFill>
                            <a:schemeClr val="dk1"/>
                          </a:solidFill>
                          <a:effectLst/>
                          <a:latin typeface="+mn-lt"/>
                          <a:ea typeface="+mn-ea"/>
                          <a:cs typeface="+mn-cs"/>
                        </a:rPr>
                        <a:t>Risk-based Regulatory System</a:t>
                      </a:r>
                      <a:endParaRPr lang="zh-HK" altLang="en-US" sz="1400" dirty="0"/>
                    </a:p>
                  </a:txBody>
                  <a:tcPr/>
                </a:tc>
                <a:tc>
                  <a:txBody>
                    <a:bodyPr/>
                    <a:lstStyle/>
                    <a:p>
                      <a:pPr algn="ctr"/>
                      <a:r>
                        <a:rPr lang="en-US" altLang="zh-TW" sz="1800" dirty="0"/>
                        <a:t>Chinese</a:t>
                      </a:r>
                      <a:endParaRPr lang="zh-HK" altLang="en-US" sz="1800" dirty="0"/>
                    </a:p>
                  </a:txBody>
                  <a:tcPr/>
                </a:tc>
                <a:tc>
                  <a:txBody>
                    <a:bodyPr/>
                    <a:lstStyle/>
                    <a:p>
                      <a:pPr algn="ctr"/>
                      <a:r>
                        <a:rPr lang="en-US" altLang="zh-HK" sz="1800" dirty="0"/>
                        <a:t>30</a:t>
                      </a:r>
                      <a:endParaRPr lang="zh-HK" altLang="en-US" sz="1800" dirty="0"/>
                    </a:p>
                  </a:txBody>
                  <a:tcPr/>
                </a:tc>
                <a:tc>
                  <a:txBody>
                    <a:bodyPr/>
                    <a:lstStyle/>
                    <a:p>
                      <a:pPr algn="ctr"/>
                      <a:r>
                        <a:rPr lang="en-US" altLang="zh-HK" sz="1800" dirty="0"/>
                        <a:t>30720</a:t>
                      </a:r>
                      <a:endParaRPr lang="zh-HK" altLang="en-US" sz="1800" dirty="0"/>
                    </a:p>
                  </a:txBody>
                  <a:tcPr/>
                </a:tc>
                <a:extLst>
                  <a:ext uri="{0D108BD9-81ED-4DB2-BD59-A6C34878D82A}">
                    <a16:rowId xmlns:a16="http://schemas.microsoft.com/office/drawing/2014/main" val="2129253707"/>
                  </a:ext>
                </a:extLst>
              </a:tr>
              <a:tr h="419686">
                <a:tc>
                  <a:txBody>
                    <a:bodyPr/>
                    <a:lstStyle/>
                    <a:p>
                      <a:r>
                        <a:rPr lang="en-US" altLang="zh-HK" sz="1400" dirty="0"/>
                        <a:t>Outsourcing</a:t>
                      </a:r>
                      <a:endParaRPr lang="zh-HK" altLang="en-US" sz="1400" dirty="0"/>
                    </a:p>
                  </a:txBody>
                  <a:tcPr/>
                </a:tc>
                <a:tc>
                  <a:txBody>
                    <a:bodyPr/>
                    <a:lstStyle/>
                    <a:p>
                      <a:pPr algn="ctr"/>
                      <a:r>
                        <a:rPr lang="en-US" altLang="zh-TW" sz="1800" dirty="0"/>
                        <a:t>Chinese</a:t>
                      </a:r>
                      <a:endParaRPr lang="zh-HK" altLang="en-US" sz="1800" dirty="0"/>
                    </a:p>
                  </a:txBody>
                  <a:tcPr/>
                </a:tc>
                <a:tc>
                  <a:txBody>
                    <a:bodyPr/>
                    <a:lstStyle/>
                    <a:p>
                      <a:pPr algn="ctr"/>
                      <a:r>
                        <a:rPr lang="en-US" altLang="zh-TW" sz="1800" dirty="0"/>
                        <a:t>14</a:t>
                      </a:r>
                      <a:endParaRPr lang="zh-HK" altLang="en-US" sz="1800" dirty="0"/>
                    </a:p>
                  </a:txBody>
                  <a:tcPr/>
                </a:tc>
                <a:tc>
                  <a:txBody>
                    <a:bodyPr/>
                    <a:lstStyle/>
                    <a:p>
                      <a:pPr algn="ctr"/>
                      <a:r>
                        <a:rPr lang="en-US" altLang="zh-HK" sz="1800" dirty="0"/>
                        <a:t>14336</a:t>
                      </a:r>
                      <a:endParaRPr lang="zh-HK" altLang="en-US" sz="1800" dirty="0"/>
                    </a:p>
                  </a:txBody>
                  <a:tcPr/>
                </a:tc>
                <a:extLst>
                  <a:ext uri="{0D108BD9-81ED-4DB2-BD59-A6C34878D82A}">
                    <a16:rowId xmlns:a16="http://schemas.microsoft.com/office/drawing/2014/main" val="569373826"/>
                  </a:ext>
                </a:extLst>
              </a:tr>
              <a:tr h="628981">
                <a:tc>
                  <a:txBody>
                    <a:bodyPr/>
                    <a:lstStyle/>
                    <a:p>
                      <a:r>
                        <a:rPr lang="en-US" altLang="zh-HK" sz="1400" b="0" i="0" kern="1200" dirty="0">
                          <a:solidFill>
                            <a:schemeClr val="dk1"/>
                          </a:solidFill>
                          <a:effectLst/>
                          <a:latin typeface="+mn-lt"/>
                          <a:ea typeface="+mn-ea"/>
                          <a:cs typeface="+mn-cs"/>
                        </a:rPr>
                        <a:t>Regulatory Approach to Combating Money Laundering and Terrorist Financing</a:t>
                      </a:r>
                      <a:endParaRPr lang="zh-HK" altLang="en-US" sz="1400" dirty="0"/>
                    </a:p>
                  </a:txBody>
                  <a:tcPr/>
                </a:tc>
                <a:tc>
                  <a:txBody>
                    <a:bodyPr/>
                    <a:lstStyle/>
                    <a:p>
                      <a:pPr algn="ctr"/>
                      <a:r>
                        <a:rPr lang="en-US" altLang="zh-TW" sz="1800" dirty="0"/>
                        <a:t>Chinese</a:t>
                      </a:r>
                      <a:endParaRPr lang="zh-HK" altLang="en-US" sz="1800" dirty="0"/>
                    </a:p>
                  </a:txBody>
                  <a:tcPr/>
                </a:tc>
                <a:tc>
                  <a:txBody>
                    <a:bodyPr/>
                    <a:lstStyle/>
                    <a:p>
                      <a:pPr algn="ctr"/>
                      <a:r>
                        <a:rPr lang="en-US" altLang="zh-TW" sz="1800" dirty="0"/>
                        <a:t>20</a:t>
                      </a:r>
                      <a:endParaRPr lang="zh-HK" altLang="en-US" sz="1800" dirty="0"/>
                    </a:p>
                  </a:txBody>
                  <a:tcPr/>
                </a:tc>
                <a:tc>
                  <a:txBody>
                    <a:bodyPr/>
                    <a:lstStyle/>
                    <a:p>
                      <a:pPr algn="ctr"/>
                      <a:r>
                        <a:rPr lang="en-US" altLang="zh-HK" sz="1800" dirty="0"/>
                        <a:t>20480</a:t>
                      </a:r>
                      <a:endParaRPr lang="zh-HK" altLang="en-US" sz="1800" dirty="0"/>
                    </a:p>
                  </a:txBody>
                  <a:tcPr/>
                </a:tc>
                <a:extLst>
                  <a:ext uri="{0D108BD9-81ED-4DB2-BD59-A6C34878D82A}">
                    <a16:rowId xmlns:a16="http://schemas.microsoft.com/office/drawing/2014/main" val="1984652356"/>
                  </a:ext>
                </a:extLst>
              </a:tr>
              <a:tr h="419686">
                <a:tc>
                  <a:txBody>
                    <a:bodyPr/>
                    <a:lstStyle/>
                    <a:p>
                      <a:r>
                        <a:rPr lang="en-US" altLang="zh-HK" sz="1400" b="0" i="0" kern="1200" dirty="0">
                          <a:solidFill>
                            <a:schemeClr val="dk1"/>
                          </a:solidFill>
                          <a:effectLst/>
                          <a:latin typeface="+mn-lt"/>
                          <a:ea typeface="+mn-ea"/>
                          <a:cs typeface="+mn-cs"/>
                        </a:rPr>
                        <a:t>Risk management of electronic banking</a:t>
                      </a:r>
                      <a:endParaRPr lang="zh-HK" altLang="en-US" sz="1400" dirty="0"/>
                    </a:p>
                  </a:txBody>
                  <a:tcPr/>
                </a:tc>
                <a:tc>
                  <a:txBody>
                    <a:bodyPr/>
                    <a:lstStyle/>
                    <a:p>
                      <a:pPr algn="ctr"/>
                      <a:r>
                        <a:rPr lang="en-US" altLang="zh-TW" sz="1800" dirty="0"/>
                        <a:t>English</a:t>
                      </a:r>
                      <a:endParaRPr lang="zh-HK" altLang="en-US" sz="1800" dirty="0"/>
                    </a:p>
                  </a:txBody>
                  <a:tcPr/>
                </a:tc>
                <a:tc>
                  <a:txBody>
                    <a:bodyPr/>
                    <a:lstStyle/>
                    <a:p>
                      <a:pPr algn="ctr"/>
                      <a:r>
                        <a:rPr lang="en-US" altLang="zh-HK" sz="1800" dirty="0"/>
                        <a:t>37</a:t>
                      </a:r>
                      <a:endParaRPr lang="zh-HK" altLang="en-US" sz="1800" dirty="0"/>
                    </a:p>
                  </a:txBody>
                  <a:tcPr/>
                </a:tc>
                <a:tc>
                  <a:txBody>
                    <a:bodyPr/>
                    <a:lstStyle/>
                    <a:p>
                      <a:pPr algn="ctr"/>
                      <a:r>
                        <a:rPr lang="en-US" altLang="zh-HK" sz="1800" dirty="0"/>
                        <a:t>37888</a:t>
                      </a:r>
                      <a:endParaRPr lang="zh-HK" altLang="en-US" sz="1800" dirty="0"/>
                    </a:p>
                  </a:txBody>
                  <a:tcPr/>
                </a:tc>
                <a:extLst>
                  <a:ext uri="{0D108BD9-81ED-4DB2-BD59-A6C34878D82A}">
                    <a16:rowId xmlns:a16="http://schemas.microsoft.com/office/drawing/2014/main" val="977191548"/>
                  </a:ext>
                </a:extLst>
              </a:tr>
              <a:tr h="419686">
                <a:tc>
                  <a:txBody>
                    <a:bodyPr/>
                    <a:lstStyle/>
                    <a:p>
                      <a:r>
                        <a:rPr lang="en-US" altLang="zh-HK" sz="1400" b="0" i="0" kern="1200" dirty="0">
                          <a:solidFill>
                            <a:schemeClr val="dk1"/>
                          </a:solidFill>
                          <a:effectLst/>
                          <a:latin typeface="+mn-lt"/>
                          <a:ea typeface="+mn-ea"/>
                          <a:cs typeface="+mn-cs"/>
                        </a:rPr>
                        <a:t>General Principles of Technology Risk Management</a:t>
                      </a:r>
                      <a:endParaRPr lang="zh-HK" altLang="en-US" sz="1400" dirty="0"/>
                    </a:p>
                  </a:txBody>
                  <a:tcPr/>
                </a:tc>
                <a:tc>
                  <a:txBody>
                    <a:bodyPr/>
                    <a:lstStyle/>
                    <a:p>
                      <a:pPr algn="ctr"/>
                      <a:r>
                        <a:rPr lang="en-US" altLang="zh-TW" sz="1800" dirty="0"/>
                        <a:t>Chinese</a:t>
                      </a:r>
                      <a:endParaRPr lang="zh-HK" altLang="en-US" sz="1800" dirty="0"/>
                    </a:p>
                  </a:txBody>
                  <a:tcPr/>
                </a:tc>
                <a:tc>
                  <a:txBody>
                    <a:bodyPr/>
                    <a:lstStyle/>
                    <a:p>
                      <a:pPr algn="ctr"/>
                      <a:r>
                        <a:rPr lang="en-US" altLang="zh-TW" sz="1800" dirty="0"/>
                        <a:t>29</a:t>
                      </a:r>
                      <a:endParaRPr lang="zh-HK" altLang="en-US" sz="1800" dirty="0"/>
                    </a:p>
                  </a:txBody>
                  <a:tcPr/>
                </a:tc>
                <a:tc>
                  <a:txBody>
                    <a:bodyPr/>
                    <a:lstStyle/>
                    <a:p>
                      <a:pPr algn="ctr"/>
                      <a:r>
                        <a:rPr lang="en-US" altLang="zh-HK" sz="1800" dirty="0"/>
                        <a:t>29696</a:t>
                      </a:r>
                      <a:endParaRPr lang="zh-HK" altLang="en-US" sz="1800" dirty="0"/>
                    </a:p>
                  </a:txBody>
                  <a:tcPr/>
                </a:tc>
                <a:extLst>
                  <a:ext uri="{0D108BD9-81ED-4DB2-BD59-A6C34878D82A}">
                    <a16:rowId xmlns:a16="http://schemas.microsoft.com/office/drawing/2014/main" val="3605923583"/>
                  </a:ext>
                </a:extLst>
              </a:tr>
              <a:tr h="419686">
                <a:tc>
                  <a:txBody>
                    <a:bodyPr/>
                    <a:lstStyle/>
                    <a:p>
                      <a:r>
                        <a:rPr lang="en-US" altLang="zh-TW" sz="1400" dirty="0"/>
                        <a:t>Continuing business operations planning</a:t>
                      </a:r>
                      <a:endParaRPr lang="zh-HK" altLang="en-US" sz="1400" dirty="0"/>
                    </a:p>
                  </a:txBody>
                  <a:tcPr/>
                </a:tc>
                <a:tc>
                  <a:txBody>
                    <a:bodyPr/>
                    <a:lstStyle/>
                    <a:p>
                      <a:pPr algn="ctr"/>
                      <a:r>
                        <a:rPr lang="en-US" altLang="zh-TW" sz="1800" dirty="0"/>
                        <a:t>Chinese</a:t>
                      </a:r>
                      <a:endParaRPr lang="zh-HK" altLang="en-US" sz="1800" dirty="0"/>
                    </a:p>
                  </a:txBody>
                  <a:tcPr/>
                </a:tc>
                <a:tc>
                  <a:txBody>
                    <a:bodyPr/>
                    <a:lstStyle/>
                    <a:p>
                      <a:pPr algn="ctr"/>
                      <a:r>
                        <a:rPr lang="en-US" altLang="zh-HK" sz="1800" dirty="0"/>
                        <a:t>24</a:t>
                      </a:r>
                      <a:endParaRPr lang="zh-HK" altLang="en-US" sz="1800" dirty="0"/>
                    </a:p>
                  </a:txBody>
                  <a:tcPr/>
                </a:tc>
                <a:tc>
                  <a:txBody>
                    <a:bodyPr/>
                    <a:lstStyle/>
                    <a:p>
                      <a:pPr algn="ctr"/>
                      <a:r>
                        <a:rPr lang="en-US" altLang="zh-HK" sz="1800" dirty="0"/>
                        <a:t>24576</a:t>
                      </a:r>
                      <a:endParaRPr lang="zh-HK" altLang="en-US" sz="1800" dirty="0"/>
                    </a:p>
                  </a:txBody>
                  <a:tcPr/>
                </a:tc>
                <a:extLst>
                  <a:ext uri="{0D108BD9-81ED-4DB2-BD59-A6C34878D82A}">
                    <a16:rowId xmlns:a16="http://schemas.microsoft.com/office/drawing/2014/main" val="462986924"/>
                  </a:ext>
                </a:extLst>
              </a:tr>
              <a:tr h="419686">
                <a:tc>
                  <a:txBody>
                    <a:bodyPr/>
                    <a:lstStyle/>
                    <a:p>
                      <a:r>
                        <a:rPr lang="en-US" altLang="zh-HK" sz="1400" dirty="0"/>
                        <a:t>Total</a:t>
                      </a:r>
                      <a:endParaRPr lang="zh-HK" altLang="en-US" sz="1400" dirty="0"/>
                    </a:p>
                  </a:txBody>
                  <a:tcPr/>
                </a:tc>
                <a:tc>
                  <a:txBody>
                    <a:bodyPr/>
                    <a:lstStyle/>
                    <a:p>
                      <a:pPr algn="ctr"/>
                      <a:endParaRPr lang="zh-HK" altLang="en-US" sz="1800" dirty="0"/>
                    </a:p>
                  </a:txBody>
                  <a:tcPr/>
                </a:tc>
                <a:tc>
                  <a:txBody>
                    <a:bodyPr/>
                    <a:lstStyle/>
                    <a:p>
                      <a:pPr algn="ctr"/>
                      <a:r>
                        <a:rPr lang="en-US" altLang="zh-TW" sz="1800" dirty="0"/>
                        <a:t>310</a:t>
                      </a:r>
                      <a:endParaRPr lang="zh-HK" altLang="en-US" sz="1800" dirty="0"/>
                    </a:p>
                  </a:txBody>
                  <a:tcPr/>
                </a:tc>
                <a:tc>
                  <a:txBody>
                    <a:bodyPr/>
                    <a:lstStyle/>
                    <a:p>
                      <a:pPr algn="ctr"/>
                      <a:r>
                        <a:rPr lang="en-US" altLang="zh-HK" sz="1800" dirty="0"/>
                        <a:t>317440</a:t>
                      </a:r>
                      <a:endParaRPr lang="zh-HK" altLang="en-US" sz="1800" dirty="0"/>
                    </a:p>
                  </a:txBody>
                  <a:tcPr/>
                </a:tc>
                <a:extLst>
                  <a:ext uri="{0D108BD9-81ED-4DB2-BD59-A6C34878D82A}">
                    <a16:rowId xmlns:a16="http://schemas.microsoft.com/office/drawing/2014/main" val="1188334087"/>
                  </a:ext>
                </a:extLst>
              </a:tr>
            </a:tbl>
          </a:graphicData>
        </a:graphic>
      </p:graphicFrame>
      <p:sp>
        <p:nvSpPr>
          <p:cNvPr id="7" name="文字方塊 6">
            <a:extLst>
              <a:ext uri="{FF2B5EF4-FFF2-40B4-BE49-F238E27FC236}">
                <a16:creationId xmlns:a16="http://schemas.microsoft.com/office/drawing/2014/main" id="{E8481529-EFC8-4D5D-AE2D-B9AD73F96EFF}"/>
              </a:ext>
            </a:extLst>
          </p:cNvPr>
          <p:cNvSpPr txBox="1"/>
          <p:nvPr/>
        </p:nvSpPr>
        <p:spPr>
          <a:xfrm>
            <a:off x="8249920" y="1146161"/>
            <a:ext cx="3718560" cy="5632311"/>
          </a:xfrm>
          <a:prstGeom prst="rect">
            <a:avLst/>
          </a:prstGeom>
          <a:noFill/>
        </p:spPr>
        <p:txBody>
          <a:bodyPr wrap="square" rtlCol="0">
            <a:spAutoFit/>
          </a:bodyPr>
          <a:lstStyle/>
          <a:p>
            <a:r>
              <a:rPr lang="en-US" altLang="zh-HK" sz="2000" dirty="0"/>
              <a:t>Source: HKMA Supervisory Policy Manual</a:t>
            </a:r>
          </a:p>
          <a:p>
            <a:pPr marL="285750" indent="-285750">
              <a:buFont typeface="Wingdings" panose="05000000000000000000" pitchFamily="2" charset="2"/>
              <a:buChar char="Ø"/>
            </a:pPr>
            <a:r>
              <a:rPr lang="en-US" altLang="zh-HK" sz="2000" dirty="0"/>
              <a:t>Finance Regulatory Domain </a:t>
            </a:r>
          </a:p>
          <a:p>
            <a:pPr marL="285750" indent="-285750">
              <a:buFont typeface="Wingdings" panose="05000000000000000000" pitchFamily="2" charset="2"/>
              <a:buChar char="Ø"/>
            </a:pPr>
            <a:endParaRPr lang="en-US" altLang="zh-HK" sz="2000" dirty="0"/>
          </a:p>
          <a:p>
            <a:r>
              <a:rPr lang="en-US" altLang="zh-HK" sz="2000" dirty="0"/>
              <a:t>Language :</a:t>
            </a:r>
          </a:p>
          <a:p>
            <a:r>
              <a:rPr lang="en-US" altLang="zh-HK" sz="2000" dirty="0"/>
              <a:t>7 in Chinese, 2 in English</a:t>
            </a:r>
          </a:p>
          <a:p>
            <a:pPr marL="285750" indent="-285750">
              <a:buFont typeface="Wingdings" panose="05000000000000000000" pitchFamily="2" charset="2"/>
              <a:buChar char="Ø"/>
            </a:pPr>
            <a:r>
              <a:rPr lang="en-US" altLang="zh-HK" sz="2000" dirty="0"/>
              <a:t>Mainly Chinese with small proportion of English Content</a:t>
            </a:r>
          </a:p>
          <a:p>
            <a:pPr marL="285750" indent="-285750">
              <a:buFont typeface="Wingdings" panose="05000000000000000000" pitchFamily="2" charset="2"/>
              <a:buChar char="Ø"/>
            </a:pPr>
            <a:endParaRPr lang="en-US" altLang="zh-HK" sz="2000" dirty="0"/>
          </a:p>
          <a:p>
            <a:r>
              <a:rPr lang="en-US" altLang="zh-HK" sz="2000" dirty="0"/>
              <a:t>Memory Size: 5 MB</a:t>
            </a:r>
          </a:p>
          <a:p>
            <a:endParaRPr lang="en-US" altLang="zh-HK" sz="2000" dirty="0"/>
          </a:p>
          <a:p>
            <a:r>
              <a:rPr lang="en-US" altLang="zh-HK" sz="2000" dirty="0"/>
              <a:t>Tokens Count by Retriever:</a:t>
            </a:r>
          </a:p>
          <a:p>
            <a:r>
              <a:rPr lang="en-US" altLang="zh-HK" sz="2000" dirty="0"/>
              <a:t>317,440 tokens</a:t>
            </a:r>
          </a:p>
          <a:p>
            <a:endParaRPr lang="en-US" altLang="zh-HK" sz="2000" dirty="0"/>
          </a:p>
          <a:p>
            <a:r>
              <a:rPr lang="en-US" altLang="zh-HK" sz="2000" dirty="0"/>
              <a:t>Dataset is selected by project sponsor</a:t>
            </a:r>
            <a:endParaRPr lang="zh-HK" altLang="en-US" sz="2000" dirty="0"/>
          </a:p>
        </p:txBody>
      </p:sp>
      <p:sp>
        <p:nvSpPr>
          <p:cNvPr id="8" name="投影片編號版面配置區 7">
            <a:extLst>
              <a:ext uri="{FF2B5EF4-FFF2-40B4-BE49-F238E27FC236}">
                <a16:creationId xmlns:a16="http://schemas.microsoft.com/office/drawing/2014/main" id="{5C676714-CECD-46FF-8E3D-D214D662E865}"/>
              </a:ext>
            </a:extLst>
          </p:cNvPr>
          <p:cNvSpPr>
            <a:spLocks noGrp="1"/>
          </p:cNvSpPr>
          <p:nvPr>
            <p:ph type="sldNum" sz="quarter" idx="12"/>
          </p:nvPr>
        </p:nvSpPr>
        <p:spPr/>
        <p:txBody>
          <a:bodyPr/>
          <a:lstStyle/>
          <a:p>
            <a:fld id="{DB17CEA6-17B5-4347-86B2-9520D0409059}" type="slidenum">
              <a:rPr lang="zh-HK" altLang="en-US" smtClean="0"/>
              <a:t>11</a:t>
            </a:fld>
            <a:endParaRPr lang="zh-HK" altLang="en-US"/>
          </a:p>
        </p:txBody>
      </p:sp>
    </p:spTree>
    <p:extLst>
      <p:ext uri="{BB962C8B-B14F-4D97-AF65-F5344CB8AC3E}">
        <p14:creationId xmlns:p14="http://schemas.microsoft.com/office/powerpoint/2010/main" val="11365088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F19BAF3-7E20-4B9D-B544-BABAEEA1FA7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950648F4-ABCD-4DF0-8641-76CFB235472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989BE678-777B-482A-A616-FEDC47B16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HK" altLang="en-US"/>
          </a:p>
        </p:txBody>
      </p:sp>
      <p:pic>
        <p:nvPicPr>
          <p:cNvPr id="16" name="Picture 15">
            <a:extLst>
              <a:ext uri="{FF2B5EF4-FFF2-40B4-BE49-F238E27FC236}">
                <a16:creationId xmlns:a16="http://schemas.microsoft.com/office/drawing/2014/main" id="{CF1EB4BD-9C7E-4AA3-9681-C7EB0DA6250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94AAE3AA-3759-4D28-B0EF-575F25A514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D28BE0C3-2102-4820-B88B-A448B1840D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zh-HK" altLang="en-US"/>
          </a:p>
        </p:txBody>
      </p:sp>
      <p:sp>
        <p:nvSpPr>
          <p:cNvPr id="22" name="Rectangle 21">
            <a:extLst>
              <a:ext uri="{FF2B5EF4-FFF2-40B4-BE49-F238E27FC236}">
                <a16:creationId xmlns:a16="http://schemas.microsoft.com/office/drawing/2014/main" id="{C6A81905-F480-46A4-BC10-215D24EA1A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4" name="Freeform 8">
            <a:extLst>
              <a:ext uri="{FF2B5EF4-FFF2-40B4-BE49-F238E27FC236}">
                <a16:creationId xmlns:a16="http://schemas.microsoft.com/office/drawing/2014/main" id="{36FD4D9D-3784-41E8-8405-A42B72F51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135692"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pic>
        <p:nvPicPr>
          <p:cNvPr id="5" name="Picture 4" descr="被移到培養皿中的樣本">
            <a:extLst>
              <a:ext uri="{FF2B5EF4-FFF2-40B4-BE49-F238E27FC236}">
                <a16:creationId xmlns:a16="http://schemas.microsoft.com/office/drawing/2014/main" id="{F1CB6107-FB0E-9758-3B78-EB68BC9FC4EC}"/>
              </a:ext>
            </a:extLst>
          </p:cNvPr>
          <p:cNvPicPr>
            <a:picLocks noChangeAspect="1"/>
          </p:cNvPicPr>
          <p:nvPr/>
        </p:nvPicPr>
        <p:blipFill>
          <a:blip r:embed="rId7"/>
          <a:srcRect l="47791" r="3357" b="-2"/>
          <a:stretch/>
        </p:blipFill>
        <p:spPr>
          <a:xfrm>
            <a:off x="20" y="10"/>
            <a:ext cx="4481944" cy="6857990"/>
          </a:xfrm>
          <a:custGeom>
            <a:avLst/>
            <a:gdLst/>
            <a:ahLst/>
            <a:cxnLst/>
            <a:rect l="l" t="t" r="r" b="b"/>
            <a:pathLst>
              <a:path w="4481964" h="6858000">
                <a:moveTo>
                  <a:pt x="0" y="0"/>
                </a:moveTo>
                <a:lnTo>
                  <a:pt x="3137249" y="0"/>
                </a:ln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0" y="6858000"/>
                </a:lnTo>
                <a:close/>
              </a:path>
            </a:pathLst>
          </a:custGeom>
        </p:spPr>
      </p:pic>
      <p:sp>
        <p:nvSpPr>
          <p:cNvPr id="26" name="Rectangle 25">
            <a:extLst>
              <a:ext uri="{FF2B5EF4-FFF2-40B4-BE49-F238E27FC236}">
                <a16:creationId xmlns:a16="http://schemas.microsoft.com/office/drawing/2014/main" id="{60817A52-B891-4228-A61E-0C0A57632D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zh-HK" altLang="en-US"/>
          </a:p>
        </p:txBody>
      </p:sp>
      <p:sp>
        <p:nvSpPr>
          <p:cNvPr id="6" name="TextBox 5">
            <a:extLst>
              <a:ext uri="{FF2B5EF4-FFF2-40B4-BE49-F238E27FC236}">
                <a16:creationId xmlns:a16="http://schemas.microsoft.com/office/drawing/2014/main" id="{F9617E2F-AD65-FA83-232D-9464CD18C12A}"/>
              </a:ext>
            </a:extLst>
          </p:cNvPr>
          <p:cNvSpPr txBox="1"/>
          <p:nvPr/>
        </p:nvSpPr>
        <p:spPr>
          <a:xfrm>
            <a:off x="5410950" y="2669685"/>
            <a:ext cx="6181610" cy="357871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altLang="zh-HK" sz="4200" dirty="0">
                <a:latin typeface="+mj-lt"/>
                <a:ea typeface="+mj-ea"/>
                <a:cs typeface="+mj-cs"/>
              </a:rPr>
              <a:t>Experiment 1: </a:t>
            </a:r>
          </a:p>
          <a:p>
            <a:pPr>
              <a:spcBef>
                <a:spcPts val="1000"/>
              </a:spcBef>
              <a:buClr>
                <a:schemeClr val="bg2">
                  <a:lumMod val="40000"/>
                  <a:lumOff val="60000"/>
                </a:schemeClr>
              </a:buClr>
              <a:buSzPct val="80000"/>
              <a:buFont typeface="Wingdings 3" charset="2"/>
              <a:buChar char=""/>
            </a:pPr>
            <a:r>
              <a:rPr lang="en-US" altLang="zh-HK" sz="2400" dirty="0"/>
              <a:t>Comparison of Open-Source LLMs</a:t>
            </a:r>
            <a:endParaRPr lang="en-US" altLang="zh-HK" sz="2400" dirty="0">
              <a:latin typeface="+mj-lt"/>
              <a:ea typeface="+mj-ea"/>
              <a:cs typeface="+mj-cs"/>
            </a:endParaRPr>
          </a:p>
        </p:txBody>
      </p:sp>
      <p:sp>
        <p:nvSpPr>
          <p:cNvPr id="2" name="投影片編號版面配置區 1">
            <a:extLst>
              <a:ext uri="{FF2B5EF4-FFF2-40B4-BE49-F238E27FC236}">
                <a16:creationId xmlns:a16="http://schemas.microsoft.com/office/drawing/2014/main" id="{E45E6180-20E0-446A-8E58-481B0AFB9625}"/>
              </a:ext>
            </a:extLst>
          </p:cNvPr>
          <p:cNvSpPr>
            <a:spLocks noGrp="1"/>
          </p:cNvSpPr>
          <p:nvPr>
            <p:ph type="sldNum" sz="quarter" idx="12"/>
          </p:nvPr>
        </p:nvSpPr>
        <p:spPr/>
        <p:txBody>
          <a:bodyPr/>
          <a:lstStyle/>
          <a:p>
            <a:fld id="{DB17CEA6-17B5-4347-86B2-9520D0409059}" type="slidenum">
              <a:rPr lang="zh-HK" altLang="en-US" smtClean="0"/>
              <a:t>12</a:t>
            </a:fld>
            <a:endParaRPr lang="zh-HK" altLang="en-US"/>
          </a:p>
        </p:txBody>
      </p:sp>
    </p:spTree>
    <p:extLst>
      <p:ext uri="{BB962C8B-B14F-4D97-AF65-F5344CB8AC3E}">
        <p14:creationId xmlns:p14="http://schemas.microsoft.com/office/powerpoint/2010/main" val="2006713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Description</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a:xfrm>
            <a:off x="1240927" y="1694794"/>
            <a:ext cx="8946541" cy="4805082"/>
          </a:xfrm>
        </p:spPr>
        <p:txBody>
          <a:bodyPr>
            <a:noAutofit/>
          </a:bodyPr>
          <a:lstStyle/>
          <a:p>
            <a:r>
              <a:rPr lang="en-US" altLang="zh-HK" sz="2200" dirty="0"/>
              <a:t>Objective: Conduct a comprehensive comparison of various open-source LLMs to evaluate their performance in RAG tasks.</a:t>
            </a:r>
          </a:p>
          <a:p>
            <a:r>
              <a:rPr lang="en-US" altLang="zh-HK" sz="2200" dirty="0"/>
              <a:t>Test Set: 27 Questions</a:t>
            </a:r>
          </a:p>
          <a:p>
            <a:pPr lvl="1"/>
            <a:r>
              <a:rPr lang="en-US" altLang="zh-HK" sz="2200" dirty="0"/>
              <a:t>3 questions generated from each of the 9 PDFs in the dataset.</a:t>
            </a:r>
          </a:p>
          <a:p>
            <a:r>
              <a:rPr lang="en-US" altLang="zh-HK" sz="2200" dirty="0"/>
              <a:t>Methodology</a:t>
            </a:r>
          </a:p>
          <a:p>
            <a:pPr lvl="1"/>
            <a:r>
              <a:rPr lang="en-US" altLang="zh-HK" sz="2200" b="1" dirty="0"/>
              <a:t>RAG</a:t>
            </a:r>
            <a:r>
              <a:rPr lang="en-US" altLang="zh-HK" sz="2200" dirty="0"/>
              <a:t> &amp; </a:t>
            </a:r>
            <a:r>
              <a:rPr lang="en-US" altLang="zh-HK" sz="2200" b="1" dirty="0"/>
              <a:t>No RAG </a:t>
            </a:r>
            <a:r>
              <a:rPr lang="en-US" altLang="zh-HK" sz="2200" dirty="0"/>
              <a:t>(Baseline)</a:t>
            </a:r>
          </a:p>
          <a:p>
            <a:r>
              <a:rPr lang="en-US" altLang="zh-HK" sz="2200" dirty="0"/>
              <a:t>Evaluation Metrics</a:t>
            </a:r>
          </a:p>
          <a:p>
            <a:pPr lvl="1"/>
            <a:r>
              <a:rPr lang="en-US" altLang="zh-HK" sz="2200" dirty="0"/>
              <a:t> </a:t>
            </a:r>
            <a:r>
              <a:rPr lang="en-US" altLang="zh-HK" sz="2200" b="1" dirty="0"/>
              <a:t>Accuracy</a:t>
            </a:r>
            <a:r>
              <a:rPr lang="en-US" altLang="zh-HK" sz="2200" dirty="0"/>
              <a:t> (METEOR) &amp; </a:t>
            </a:r>
            <a:r>
              <a:rPr lang="en-US" altLang="zh-HK" sz="2200" b="1" dirty="0"/>
              <a:t>Efficiency</a:t>
            </a:r>
            <a:r>
              <a:rPr lang="en-US" altLang="zh-HK" sz="2200" dirty="0"/>
              <a:t> (Response Time)</a:t>
            </a:r>
          </a:p>
          <a:p>
            <a:r>
              <a:rPr lang="en-US" altLang="zh-HK" sz="2200" dirty="0"/>
              <a:t>Goal: Select the best 3 LLMs on RAG task for future progress</a:t>
            </a:r>
          </a:p>
          <a:p>
            <a:pPr marL="0" indent="0">
              <a:buNone/>
            </a:pPr>
            <a:endParaRPr lang="en-US" altLang="zh-HK" sz="2200" dirty="0"/>
          </a:p>
        </p:txBody>
      </p:sp>
      <p:sp>
        <p:nvSpPr>
          <p:cNvPr id="5" name="投影片編號版面配置區 4">
            <a:extLst>
              <a:ext uri="{FF2B5EF4-FFF2-40B4-BE49-F238E27FC236}">
                <a16:creationId xmlns:a16="http://schemas.microsoft.com/office/drawing/2014/main" id="{4CA1C824-5E34-4506-B283-243678F59358}"/>
              </a:ext>
            </a:extLst>
          </p:cNvPr>
          <p:cNvSpPr>
            <a:spLocks noGrp="1"/>
          </p:cNvSpPr>
          <p:nvPr>
            <p:ph type="sldNum" sz="quarter" idx="12"/>
          </p:nvPr>
        </p:nvSpPr>
        <p:spPr/>
        <p:txBody>
          <a:bodyPr/>
          <a:lstStyle/>
          <a:p>
            <a:fld id="{DB17CEA6-17B5-4347-86B2-9520D0409059}" type="slidenum">
              <a:rPr lang="zh-HK" altLang="en-US" smtClean="0"/>
              <a:t>13</a:t>
            </a:fld>
            <a:endParaRPr lang="zh-HK" altLang="en-US"/>
          </a:p>
        </p:txBody>
      </p:sp>
    </p:spTree>
    <p:extLst>
      <p:ext uri="{BB962C8B-B14F-4D97-AF65-F5344CB8AC3E}">
        <p14:creationId xmlns:p14="http://schemas.microsoft.com/office/powerpoint/2010/main" val="3404313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Large Language Models</a:t>
            </a:r>
            <a:endParaRPr lang="zh-HK" altLang="en-US" dirty="0"/>
          </a:p>
        </p:txBody>
      </p:sp>
      <p:graphicFrame>
        <p:nvGraphicFramePr>
          <p:cNvPr id="4" name="表格 3">
            <a:extLst>
              <a:ext uri="{FF2B5EF4-FFF2-40B4-BE49-F238E27FC236}">
                <a16:creationId xmlns:a16="http://schemas.microsoft.com/office/drawing/2014/main" id="{1E42191B-751D-4EF2-9FE5-01E217386D6C}"/>
              </a:ext>
            </a:extLst>
          </p:cNvPr>
          <p:cNvGraphicFramePr>
            <a:graphicFrameLocks noGrp="1"/>
          </p:cNvGraphicFramePr>
          <p:nvPr>
            <p:extLst>
              <p:ext uri="{D42A27DB-BD31-4B8C-83A1-F6EECF244321}">
                <p14:modId xmlns:p14="http://schemas.microsoft.com/office/powerpoint/2010/main" val="937348248"/>
              </p:ext>
            </p:extLst>
          </p:nvPr>
        </p:nvGraphicFramePr>
        <p:xfrm>
          <a:off x="314959" y="1390226"/>
          <a:ext cx="11230929" cy="3078692"/>
        </p:xfrm>
        <a:graphic>
          <a:graphicData uri="http://schemas.openxmlformats.org/drawingml/2006/table">
            <a:tbl>
              <a:tblPr firstRow="1" bandRow="1">
                <a:tableStyleId>{5C22544A-7EE6-4342-B048-85BDC9FD1C3A}</a:tableStyleId>
              </a:tblPr>
              <a:tblGrid>
                <a:gridCol w="2529841">
                  <a:extLst>
                    <a:ext uri="{9D8B030D-6E8A-4147-A177-3AD203B41FA5}">
                      <a16:colId xmlns:a16="http://schemas.microsoft.com/office/drawing/2014/main" val="818007089"/>
                    </a:ext>
                  </a:extLst>
                </a:gridCol>
                <a:gridCol w="1962531">
                  <a:extLst>
                    <a:ext uri="{9D8B030D-6E8A-4147-A177-3AD203B41FA5}">
                      <a16:colId xmlns:a16="http://schemas.microsoft.com/office/drawing/2014/main" val="45648213"/>
                    </a:ext>
                  </a:extLst>
                </a:gridCol>
                <a:gridCol w="1756029">
                  <a:extLst>
                    <a:ext uri="{9D8B030D-6E8A-4147-A177-3AD203B41FA5}">
                      <a16:colId xmlns:a16="http://schemas.microsoft.com/office/drawing/2014/main" val="1244471234"/>
                    </a:ext>
                  </a:extLst>
                </a:gridCol>
                <a:gridCol w="3086712">
                  <a:extLst>
                    <a:ext uri="{9D8B030D-6E8A-4147-A177-3AD203B41FA5}">
                      <a16:colId xmlns:a16="http://schemas.microsoft.com/office/drawing/2014/main" val="1266900960"/>
                    </a:ext>
                  </a:extLst>
                </a:gridCol>
                <a:gridCol w="1895816">
                  <a:extLst>
                    <a:ext uri="{9D8B030D-6E8A-4147-A177-3AD203B41FA5}">
                      <a16:colId xmlns:a16="http://schemas.microsoft.com/office/drawing/2014/main" val="3186317662"/>
                    </a:ext>
                  </a:extLst>
                </a:gridCol>
              </a:tblGrid>
              <a:tr h="568219">
                <a:tc>
                  <a:txBody>
                    <a:bodyPr/>
                    <a:lstStyle/>
                    <a:p>
                      <a:endParaRPr lang="zh-HK" altLang="en-US" dirty="0"/>
                    </a:p>
                  </a:txBody>
                  <a:tcPr/>
                </a:tc>
                <a:tc>
                  <a:txBody>
                    <a:bodyPr/>
                    <a:lstStyle/>
                    <a:p>
                      <a:pPr algn="ctr"/>
                      <a:r>
                        <a:rPr lang="es-ES" altLang="zh-HK" dirty="0"/>
                        <a:t>Llama 3.2</a:t>
                      </a:r>
                      <a:endParaRPr lang="zh-HK" altLang="en-US" dirty="0"/>
                    </a:p>
                  </a:txBody>
                  <a:tcPr/>
                </a:tc>
                <a:tc>
                  <a:txBody>
                    <a:bodyPr/>
                    <a:lstStyle/>
                    <a:p>
                      <a:pPr algn="ctr"/>
                      <a:r>
                        <a:rPr lang="es-ES" altLang="zh-HK" dirty="0"/>
                        <a:t>Gemma 2</a:t>
                      </a:r>
                      <a:endParaRPr lang="zh-HK" altLang="en-US" dirty="0"/>
                    </a:p>
                  </a:txBody>
                  <a:tcPr/>
                </a:tc>
                <a:tc>
                  <a:txBody>
                    <a:bodyPr/>
                    <a:lstStyle/>
                    <a:p>
                      <a:pPr algn="ctr"/>
                      <a:r>
                        <a:rPr lang="es-ES" altLang="zh-HK" dirty="0"/>
                        <a:t>Qwen 2.5</a:t>
                      </a:r>
                      <a:endParaRPr lang="zh-HK" altLang="en-US" dirty="0"/>
                    </a:p>
                  </a:txBody>
                  <a:tcPr/>
                </a:tc>
                <a:tc>
                  <a:txBody>
                    <a:bodyPr/>
                    <a:lstStyle/>
                    <a:p>
                      <a:pPr algn="ctr"/>
                      <a:r>
                        <a:rPr lang="es-ES" altLang="zh-HK" dirty="0"/>
                        <a:t>Yi 1.5</a:t>
                      </a:r>
                      <a:endParaRPr lang="zh-HK" altLang="en-US" dirty="0"/>
                    </a:p>
                  </a:txBody>
                  <a:tcPr/>
                </a:tc>
                <a:extLst>
                  <a:ext uri="{0D108BD9-81ED-4DB2-BD59-A6C34878D82A}">
                    <a16:rowId xmlns:a16="http://schemas.microsoft.com/office/drawing/2014/main" val="3580391902"/>
                  </a:ext>
                </a:extLst>
              </a:tr>
              <a:tr h="368195">
                <a:tc>
                  <a:txBody>
                    <a:bodyPr/>
                    <a:lstStyle/>
                    <a:p>
                      <a:r>
                        <a:rPr lang="en-US" altLang="zh-HK" dirty="0"/>
                        <a:t>Company:</a:t>
                      </a:r>
                      <a:endParaRPr lang="zh-HK" altLang="en-US" dirty="0"/>
                    </a:p>
                  </a:txBody>
                  <a:tcPr/>
                </a:tc>
                <a:tc>
                  <a:txBody>
                    <a:bodyPr/>
                    <a:lstStyle/>
                    <a:p>
                      <a:pPr algn="ctr"/>
                      <a:r>
                        <a:rPr lang="en-US" altLang="zh-HK" dirty="0"/>
                        <a:t>Meta AI (US)</a:t>
                      </a:r>
                      <a:endParaRPr lang="zh-HK" altLang="en-US" dirty="0"/>
                    </a:p>
                  </a:txBody>
                  <a:tcPr/>
                </a:tc>
                <a:tc>
                  <a:txBody>
                    <a:bodyPr/>
                    <a:lstStyle/>
                    <a:p>
                      <a:pPr algn="ctr"/>
                      <a:r>
                        <a:rPr lang="en-US" altLang="zh-HK" dirty="0"/>
                        <a:t>Google (US)</a:t>
                      </a:r>
                      <a:endParaRPr lang="zh-HK" altLang="en-US" dirty="0"/>
                    </a:p>
                  </a:txBody>
                  <a:tcPr/>
                </a:tc>
                <a:tc>
                  <a:txBody>
                    <a:bodyPr/>
                    <a:lstStyle/>
                    <a:p>
                      <a:pPr algn="ctr"/>
                      <a:r>
                        <a:rPr lang="en-US" altLang="zh-HK" dirty="0"/>
                        <a:t>Alibaba Cloud (China)</a:t>
                      </a:r>
                      <a:endParaRPr lang="zh-HK" altLang="en-US" dirty="0"/>
                    </a:p>
                  </a:txBody>
                  <a:tcPr/>
                </a:tc>
                <a:tc>
                  <a:txBody>
                    <a:bodyPr/>
                    <a:lstStyle/>
                    <a:p>
                      <a:pPr algn="ctr"/>
                      <a:r>
                        <a:rPr lang="en-US" altLang="zh-HK" dirty="0"/>
                        <a:t>01-AI (China)</a:t>
                      </a:r>
                      <a:endParaRPr lang="zh-HK" altLang="en-US" dirty="0"/>
                    </a:p>
                  </a:txBody>
                  <a:tcPr/>
                </a:tc>
                <a:extLst>
                  <a:ext uri="{0D108BD9-81ED-4DB2-BD59-A6C34878D82A}">
                    <a16:rowId xmlns:a16="http://schemas.microsoft.com/office/drawing/2014/main" val="642286937"/>
                  </a:ext>
                </a:extLst>
              </a:tr>
              <a:tr h="365760">
                <a:tc>
                  <a:txBody>
                    <a:bodyPr/>
                    <a:lstStyle/>
                    <a:p>
                      <a:r>
                        <a:rPr lang="en-US" altLang="zh-HK" dirty="0"/>
                        <a:t>Released Date</a:t>
                      </a:r>
                      <a:endParaRPr lang="zh-HK" altLang="en-US" dirty="0"/>
                    </a:p>
                  </a:txBody>
                  <a:tcPr/>
                </a:tc>
                <a:tc>
                  <a:txBody>
                    <a:bodyPr/>
                    <a:lstStyle/>
                    <a:p>
                      <a:pPr algn="ctr"/>
                      <a:r>
                        <a:rPr lang="en-US" altLang="zh-HK" dirty="0"/>
                        <a:t>09/2024</a:t>
                      </a:r>
                      <a:endParaRPr lang="zh-HK" altLang="en-US" dirty="0"/>
                    </a:p>
                  </a:txBody>
                  <a:tcPr/>
                </a:tc>
                <a:tc>
                  <a:txBody>
                    <a:bodyPr/>
                    <a:lstStyle/>
                    <a:p>
                      <a:pPr algn="ctr"/>
                      <a:r>
                        <a:rPr lang="en-US" altLang="zh-HK" dirty="0"/>
                        <a:t>06/2024</a:t>
                      </a:r>
                      <a:endParaRPr lang="zh-HK" altLang="en-US" dirty="0"/>
                    </a:p>
                  </a:txBody>
                  <a:tcPr/>
                </a:tc>
                <a:tc>
                  <a:txBody>
                    <a:bodyPr/>
                    <a:lstStyle/>
                    <a:p>
                      <a:pPr algn="ctr"/>
                      <a:r>
                        <a:rPr lang="en-US" altLang="zh-HK" dirty="0"/>
                        <a:t>09/2024</a:t>
                      </a:r>
                      <a:endParaRPr lang="zh-HK" altLang="en-US" dirty="0"/>
                    </a:p>
                  </a:txBody>
                  <a:tcPr/>
                </a:tc>
                <a:tc>
                  <a:txBody>
                    <a:bodyPr/>
                    <a:lstStyle/>
                    <a:p>
                      <a:pPr algn="ctr"/>
                      <a:r>
                        <a:rPr lang="en-US" altLang="zh-HK" dirty="0"/>
                        <a:t>05/2024</a:t>
                      </a:r>
                      <a:endParaRPr lang="zh-HK" altLang="en-US" dirty="0"/>
                    </a:p>
                  </a:txBody>
                  <a:tcPr/>
                </a:tc>
                <a:extLst>
                  <a:ext uri="{0D108BD9-81ED-4DB2-BD59-A6C34878D82A}">
                    <a16:rowId xmlns:a16="http://schemas.microsoft.com/office/drawing/2014/main" val="771074292"/>
                  </a:ext>
                </a:extLst>
              </a:tr>
              <a:tr h="568219">
                <a:tc>
                  <a:txBody>
                    <a:bodyPr/>
                    <a:lstStyle/>
                    <a:p>
                      <a:r>
                        <a:rPr lang="en-US" altLang="zh-HK" dirty="0"/>
                        <a:t>Model Size: (billion) </a:t>
                      </a:r>
                      <a:endParaRPr lang="zh-HK" altLang="en-US" dirty="0"/>
                    </a:p>
                  </a:txBody>
                  <a:tcPr/>
                </a:tc>
                <a:tc>
                  <a:txBody>
                    <a:bodyPr/>
                    <a:lstStyle/>
                    <a:p>
                      <a:pPr algn="ctr"/>
                      <a:r>
                        <a:rPr lang="en-US" altLang="zh-HK" dirty="0"/>
                        <a:t>1b/3b/11b</a:t>
                      </a:r>
                      <a:endParaRPr lang="zh-HK" altLang="en-US" dirty="0"/>
                    </a:p>
                  </a:txBody>
                  <a:tcPr/>
                </a:tc>
                <a:tc>
                  <a:txBody>
                    <a:bodyPr/>
                    <a:lstStyle/>
                    <a:p>
                      <a:pPr algn="ctr"/>
                      <a:r>
                        <a:rPr lang="en-US" altLang="zh-HK" dirty="0"/>
                        <a:t>2b/9b</a:t>
                      </a:r>
                      <a:endParaRPr lang="zh-HK" altLang="en-US" dirty="0"/>
                    </a:p>
                  </a:txBody>
                  <a:tcPr/>
                </a:tc>
                <a:tc>
                  <a:txBody>
                    <a:bodyPr/>
                    <a:lstStyle/>
                    <a:p>
                      <a:pPr algn="ctr"/>
                      <a:r>
                        <a:rPr lang="en-US" altLang="zh-HK" dirty="0"/>
                        <a:t>0.5B/1.5B/3B/7B</a:t>
                      </a:r>
                    </a:p>
                  </a:txBody>
                  <a:tcPr/>
                </a:tc>
                <a:tc>
                  <a:txBody>
                    <a:bodyPr/>
                    <a:lstStyle/>
                    <a:p>
                      <a:pPr algn="ctr"/>
                      <a:r>
                        <a:rPr lang="en-US" altLang="zh-HK" dirty="0"/>
                        <a:t>6b/9b</a:t>
                      </a:r>
                      <a:endParaRPr lang="zh-HK" altLang="en-US" dirty="0"/>
                    </a:p>
                  </a:txBody>
                  <a:tcPr/>
                </a:tc>
                <a:extLst>
                  <a:ext uri="{0D108BD9-81ED-4DB2-BD59-A6C34878D82A}">
                    <a16:rowId xmlns:a16="http://schemas.microsoft.com/office/drawing/2014/main" val="3057198145"/>
                  </a:ext>
                </a:extLst>
              </a:tr>
              <a:tr h="568219">
                <a:tc>
                  <a:txBody>
                    <a:bodyPr/>
                    <a:lstStyle/>
                    <a:p>
                      <a:r>
                        <a:rPr lang="en-US" altLang="zh-HK" dirty="0"/>
                        <a:t>Maximum Tokens</a:t>
                      </a:r>
                      <a:endParaRPr lang="zh-HK" altLang="en-US" dirty="0"/>
                    </a:p>
                  </a:txBody>
                  <a:tcPr/>
                </a:tc>
                <a:tc>
                  <a:txBody>
                    <a:bodyPr/>
                    <a:lstStyle/>
                    <a:p>
                      <a:pPr algn="ctr"/>
                      <a:r>
                        <a:rPr lang="en-US" altLang="zh-HK" dirty="0"/>
                        <a:t>128,000</a:t>
                      </a:r>
                      <a:endParaRPr lang="zh-HK" altLang="en-US" dirty="0"/>
                    </a:p>
                  </a:txBody>
                  <a:tcPr/>
                </a:tc>
                <a:tc>
                  <a:txBody>
                    <a:bodyPr/>
                    <a:lstStyle/>
                    <a:p>
                      <a:pPr algn="ctr"/>
                      <a:r>
                        <a:rPr lang="en-US" altLang="zh-HK" dirty="0"/>
                        <a:t>8192</a:t>
                      </a:r>
                      <a:endParaRPr lang="zh-HK" altLang="en-US" dirty="0"/>
                    </a:p>
                  </a:txBody>
                  <a:tcPr/>
                </a:tc>
                <a:tc>
                  <a:txBody>
                    <a:bodyPr/>
                    <a:lstStyle/>
                    <a:p>
                      <a:pPr algn="ctr"/>
                      <a:r>
                        <a:rPr lang="en-US" altLang="zh-HK" dirty="0"/>
                        <a:t>3,200/128,000</a:t>
                      </a:r>
                      <a:endParaRPr lang="zh-HK" altLang="en-US" dirty="0"/>
                    </a:p>
                  </a:txBody>
                  <a:tcPr/>
                </a:tc>
                <a:tc>
                  <a:txBody>
                    <a:bodyPr/>
                    <a:lstStyle/>
                    <a:p>
                      <a:pPr algn="ctr"/>
                      <a:r>
                        <a:rPr lang="en-US" altLang="zh-HK" dirty="0"/>
                        <a:t>128,000</a:t>
                      </a:r>
                      <a:endParaRPr lang="zh-HK" altLang="en-US" dirty="0"/>
                    </a:p>
                  </a:txBody>
                  <a:tcPr/>
                </a:tc>
                <a:extLst>
                  <a:ext uri="{0D108BD9-81ED-4DB2-BD59-A6C34878D82A}">
                    <a16:rowId xmlns:a16="http://schemas.microsoft.com/office/drawing/2014/main" val="1602068511"/>
                  </a:ext>
                </a:extLst>
              </a:tr>
              <a:tr h="568219">
                <a:tc>
                  <a:txBody>
                    <a:bodyPr/>
                    <a:lstStyle/>
                    <a:p>
                      <a:r>
                        <a:rPr lang="en-US" altLang="zh-HK" dirty="0"/>
                        <a:t>Supported Language (Official)</a:t>
                      </a:r>
                      <a:endParaRPr lang="zh-HK" altLang="en-US" dirty="0"/>
                    </a:p>
                  </a:txBody>
                  <a:tcPr/>
                </a:tc>
                <a:tc>
                  <a:txBody>
                    <a:bodyPr/>
                    <a:lstStyle/>
                    <a:p>
                      <a:pPr algn="ctr"/>
                      <a:r>
                        <a:rPr lang="en-US" altLang="zh-HK" dirty="0"/>
                        <a:t>English</a:t>
                      </a:r>
                      <a:endParaRPr lang="zh-HK" altLang="en-US" dirty="0"/>
                    </a:p>
                  </a:txBody>
                  <a:tcPr/>
                </a:tc>
                <a:tc>
                  <a:txBody>
                    <a:bodyPr/>
                    <a:lstStyle/>
                    <a:p>
                      <a:pPr algn="ctr"/>
                      <a:r>
                        <a:rPr lang="en-US" altLang="zh-HK" dirty="0"/>
                        <a:t>English Chinese</a:t>
                      </a:r>
                      <a:endParaRPr lang="zh-HK" altLang="en-US" dirty="0"/>
                    </a:p>
                  </a:txBody>
                  <a:tcPr/>
                </a:tc>
                <a:tc>
                  <a:txBody>
                    <a:bodyPr/>
                    <a:lstStyle/>
                    <a:p>
                      <a:pPr algn="ctr"/>
                      <a:r>
                        <a:rPr lang="en-US" altLang="zh-HK" dirty="0"/>
                        <a:t>English </a:t>
                      </a:r>
                    </a:p>
                    <a:p>
                      <a:pPr algn="ctr"/>
                      <a:r>
                        <a:rPr lang="en-US" altLang="zh-HK" dirty="0"/>
                        <a:t>Chinese</a:t>
                      </a:r>
                      <a:endParaRPr lang="zh-HK" altLang="en-US" dirty="0"/>
                    </a:p>
                  </a:txBody>
                  <a:tcPr/>
                </a:tc>
                <a:tc>
                  <a:txBody>
                    <a:bodyPr/>
                    <a:lstStyle/>
                    <a:p>
                      <a:pPr algn="ctr"/>
                      <a:r>
                        <a:rPr lang="en-US" altLang="zh-HK" dirty="0"/>
                        <a:t>English </a:t>
                      </a:r>
                    </a:p>
                    <a:p>
                      <a:pPr algn="ctr"/>
                      <a:r>
                        <a:rPr lang="en-US" altLang="zh-HK" dirty="0"/>
                        <a:t>Chinese</a:t>
                      </a:r>
                      <a:endParaRPr lang="zh-HK" altLang="en-US" dirty="0"/>
                    </a:p>
                  </a:txBody>
                  <a:tcPr/>
                </a:tc>
                <a:extLst>
                  <a:ext uri="{0D108BD9-81ED-4DB2-BD59-A6C34878D82A}">
                    <a16:rowId xmlns:a16="http://schemas.microsoft.com/office/drawing/2014/main" val="388055284"/>
                  </a:ext>
                </a:extLst>
              </a:tr>
            </a:tbl>
          </a:graphicData>
        </a:graphic>
      </p:graphicFrame>
      <p:sp>
        <p:nvSpPr>
          <p:cNvPr id="5" name="文字方塊 4">
            <a:extLst>
              <a:ext uri="{FF2B5EF4-FFF2-40B4-BE49-F238E27FC236}">
                <a16:creationId xmlns:a16="http://schemas.microsoft.com/office/drawing/2014/main" id="{26234E26-B986-4D51-BD06-58C618F603B4}"/>
              </a:ext>
            </a:extLst>
          </p:cNvPr>
          <p:cNvSpPr txBox="1"/>
          <p:nvPr/>
        </p:nvSpPr>
        <p:spPr>
          <a:xfrm>
            <a:off x="314959" y="4776986"/>
            <a:ext cx="10688321" cy="1785104"/>
          </a:xfrm>
          <a:prstGeom prst="rect">
            <a:avLst/>
          </a:prstGeom>
          <a:noFill/>
        </p:spPr>
        <p:txBody>
          <a:bodyPr wrap="square" rtlCol="0">
            <a:spAutoFit/>
          </a:bodyPr>
          <a:lstStyle/>
          <a:p>
            <a:r>
              <a:rPr lang="en-US" altLang="zh-HK" sz="2200" dirty="0"/>
              <a:t>For model size: Only limited models can be used in this experiment due to hardware limitation</a:t>
            </a:r>
          </a:p>
          <a:p>
            <a:r>
              <a:rPr lang="en-US" altLang="zh-HK" sz="2200" dirty="0"/>
              <a:t>For Llama 3.2, although this model series officially does not support Chinese. However, this model is trained by a large collection of languages which includes Chinese.</a:t>
            </a:r>
            <a:endParaRPr lang="zh-HK" altLang="en-US" sz="2200" dirty="0"/>
          </a:p>
        </p:txBody>
      </p:sp>
      <p:sp>
        <p:nvSpPr>
          <p:cNvPr id="6" name="投影片編號版面配置區 5">
            <a:extLst>
              <a:ext uri="{FF2B5EF4-FFF2-40B4-BE49-F238E27FC236}">
                <a16:creationId xmlns:a16="http://schemas.microsoft.com/office/drawing/2014/main" id="{5CD9C32F-ED3E-43DE-937E-28F398AC2DE0}"/>
              </a:ext>
            </a:extLst>
          </p:cNvPr>
          <p:cNvSpPr>
            <a:spLocks noGrp="1"/>
          </p:cNvSpPr>
          <p:nvPr>
            <p:ph type="sldNum" sz="quarter" idx="12"/>
          </p:nvPr>
        </p:nvSpPr>
        <p:spPr/>
        <p:txBody>
          <a:bodyPr/>
          <a:lstStyle/>
          <a:p>
            <a:fld id="{DB17CEA6-17B5-4347-86B2-9520D0409059}" type="slidenum">
              <a:rPr lang="zh-HK" altLang="en-US" smtClean="0"/>
              <a:t>14</a:t>
            </a:fld>
            <a:endParaRPr lang="zh-HK" altLang="en-US"/>
          </a:p>
        </p:txBody>
      </p:sp>
    </p:spTree>
    <p:extLst>
      <p:ext uri="{BB962C8B-B14F-4D97-AF65-F5344CB8AC3E}">
        <p14:creationId xmlns:p14="http://schemas.microsoft.com/office/powerpoint/2010/main" val="1687402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Methodology: No RAG (Baseline)</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a:xfrm>
            <a:off x="5435600" y="1270590"/>
            <a:ext cx="5984240" cy="5134692"/>
          </a:xfrm>
        </p:spPr>
        <p:txBody>
          <a:bodyPr>
            <a:noAutofit/>
          </a:bodyPr>
          <a:lstStyle/>
          <a:p>
            <a:pPr marL="0" indent="0">
              <a:buNone/>
            </a:pPr>
            <a:r>
              <a:rPr lang="en-US" altLang="zh-HK" sz="2200" b="1" dirty="0"/>
              <a:t>Summary</a:t>
            </a:r>
            <a:r>
              <a:rPr lang="en-US" altLang="zh-HK" sz="2200" dirty="0"/>
              <a:t>: Generate responses without incorporating external document retrieval.</a:t>
            </a:r>
          </a:p>
          <a:p>
            <a:pPr marL="0" indent="0">
              <a:buNone/>
            </a:pPr>
            <a:endParaRPr lang="en-US" altLang="zh-HK" sz="2200" dirty="0"/>
          </a:p>
          <a:p>
            <a:pPr marL="0" indent="0">
              <a:buNone/>
            </a:pPr>
            <a:r>
              <a:rPr lang="en-US" altLang="zh-HK" sz="2200" b="1" dirty="0"/>
              <a:t>Role</a:t>
            </a:r>
            <a:r>
              <a:rPr lang="en-US" altLang="zh-HK" sz="2200" dirty="0"/>
              <a:t>: </a:t>
            </a:r>
          </a:p>
          <a:p>
            <a:r>
              <a:rPr lang="en-US" altLang="zh-HK" sz="2200" dirty="0"/>
              <a:t>	Serves as the baseline to compare performance with the RAG approach.</a:t>
            </a:r>
          </a:p>
          <a:p>
            <a:r>
              <a:rPr lang="en-US" altLang="zh-HK" sz="2200" dirty="0"/>
              <a:t>	Help to evaluate how much RAG method improves the model's accuracy on finance regulatory task</a:t>
            </a:r>
          </a:p>
        </p:txBody>
      </p:sp>
      <p:pic>
        <p:nvPicPr>
          <p:cNvPr id="4" name="Picture 4">
            <a:extLst>
              <a:ext uri="{FF2B5EF4-FFF2-40B4-BE49-F238E27FC236}">
                <a16:creationId xmlns:a16="http://schemas.microsoft.com/office/drawing/2014/main" id="{5AA8AAA0-DDB3-48DC-B4E8-9C17C2C6520B}"/>
              </a:ext>
            </a:extLst>
          </p:cNvPr>
          <p:cNvPicPr>
            <a:picLocks noChangeAspect="1"/>
          </p:cNvPicPr>
          <p:nvPr/>
        </p:nvPicPr>
        <p:blipFill>
          <a:blip r:embed="rId2"/>
          <a:stretch>
            <a:fillRect/>
          </a:stretch>
        </p:blipFill>
        <p:spPr>
          <a:xfrm>
            <a:off x="849311" y="1270590"/>
            <a:ext cx="4086795" cy="5134692"/>
          </a:xfrm>
          <a:prstGeom prst="rect">
            <a:avLst/>
          </a:prstGeom>
        </p:spPr>
      </p:pic>
      <p:sp>
        <p:nvSpPr>
          <p:cNvPr id="6" name="投影片編號版面配置區 5">
            <a:extLst>
              <a:ext uri="{FF2B5EF4-FFF2-40B4-BE49-F238E27FC236}">
                <a16:creationId xmlns:a16="http://schemas.microsoft.com/office/drawing/2014/main" id="{E41E10CE-87F3-49B4-B4B4-975D3F6F55EB}"/>
              </a:ext>
            </a:extLst>
          </p:cNvPr>
          <p:cNvSpPr>
            <a:spLocks noGrp="1"/>
          </p:cNvSpPr>
          <p:nvPr>
            <p:ph type="sldNum" sz="quarter" idx="12"/>
          </p:nvPr>
        </p:nvSpPr>
        <p:spPr/>
        <p:txBody>
          <a:bodyPr/>
          <a:lstStyle/>
          <a:p>
            <a:fld id="{DB17CEA6-17B5-4347-86B2-9520D0409059}" type="slidenum">
              <a:rPr lang="zh-HK" altLang="en-US" smtClean="0"/>
              <a:t>15</a:t>
            </a:fld>
            <a:endParaRPr lang="zh-HK" altLang="en-US"/>
          </a:p>
        </p:txBody>
      </p:sp>
    </p:spTree>
    <p:extLst>
      <p:ext uri="{BB962C8B-B14F-4D97-AF65-F5344CB8AC3E}">
        <p14:creationId xmlns:p14="http://schemas.microsoft.com/office/powerpoint/2010/main" val="2346312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Methodology: RAG</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a:xfrm>
            <a:off x="7428858" y="1270590"/>
            <a:ext cx="4610742" cy="5134692"/>
          </a:xfrm>
        </p:spPr>
        <p:txBody>
          <a:bodyPr>
            <a:noAutofit/>
          </a:bodyPr>
          <a:lstStyle/>
          <a:p>
            <a:pPr marL="0" indent="0">
              <a:buNone/>
            </a:pPr>
            <a:r>
              <a:rPr lang="en-US" altLang="zh-HK" sz="2200" b="1" dirty="0"/>
              <a:t>Summary</a:t>
            </a:r>
            <a:r>
              <a:rPr lang="en-US" altLang="zh-HK" sz="2200" dirty="0"/>
              <a:t>: Generate responses based on retrieved context.</a:t>
            </a:r>
          </a:p>
          <a:p>
            <a:pPr marL="0" indent="0">
              <a:buNone/>
            </a:pPr>
            <a:endParaRPr lang="en-US" altLang="zh-HK" sz="2200" dirty="0"/>
          </a:p>
          <a:p>
            <a:pPr marL="0" indent="0">
              <a:buNone/>
            </a:pPr>
            <a:r>
              <a:rPr lang="en-US" altLang="zh-HK" sz="2200" b="1" dirty="0"/>
              <a:t>Role</a:t>
            </a:r>
            <a:r>
              <a:rPr lang="en-US" altLang="zh-HK" sz="2200" dirty="0"/>
              <a:t>: </a:t>
            </a:r>
          </a:p>
          <a:p>
            <a:r>
              <a:rPr lang="en-US" altLang="zh-HK" sz="2200" dirty="0"/>
              <a:t>Evaluates how much RAG method improves model performance for accuracy and efficiency</a:t>
            </a:r>
          </a:p>
        </p:txBody>
      </p:sp>
      <p:pic>
        <p:nvPicPr>
          <p:cNvPr id="5" name="Picture 6">
            <a:extLst>
              <a:ext uri="{FF2B5EF4-FFF2-40B4-BE49-F238E27FC236}">
                <a16:creationId xmlns:a16="http://schemas.microsoft.com/office/drawing/2014/main" id="{4BDEF258-4687-4723-A7C6-0E3ECA6E09CA}"/>
              </a:ext>
            </a:extLst>
          </p:cNvPr>
          <p:cNvPicPr>
            <a:picLocks noChangeAspect="1"/>
          </p:cNvPicPr>
          <p:nvPr/>
        </p:nvPicPr>
        <p:blipFill>
          <a:blip r:embed="rId2"/>
          <a:stretch>
            <a:fillRect/>
          </a:stretch>
        </p:blipFill>
        <p:spPr>
          <a:xfrm>
            <a:off x="378695" y="1344892"/>
            <a:ext cx="6782747" cy="4477375"/>
          </a:xfrm>
          <a:prstGeom prst="rect">
            <a:avLst/>
          </a:prstGeom>
        </p:spPr>
      </p:pic>
      <p:sp>
        <p:nvSpPr>
          <p:cNvPr id="6" name="投影片編號版面配置區 5">
            <a:extLst>
              <a:ext uri="{FF2B5EF4-FFF2-40B4-BE49-F238E27FC236}">
                <a16:creationId xmlns:a16="http://schemas.microsoft.com/office/drawing/2014/main" id="{E20C94FD-52E8-4F4C-80D4-D340D3510F2D}"/>
              </a:ext>
            </a:extLst>
          </p:cNvPr>
          <p:cNvSpPr>
            <a:spLocks noGrp="1"/>
          </p:cNvSpPr>
          <p:nvPr>
            <p:ph type="sldNum" sz="quarter" idx="12"/>
          </p:nvPr>
        </p:nvSpPr>
        <p:spPr/>
        <p:txBody>
          <a:bodyPr/>
          <a:lstStyle/>
          <a:p>
            <a:fld id="{DB17CEA6-17B5-4347-86B2-9520D0409059}" type="slidenum">
              <a:rPr lang="zh-HK" altLang="en-US" smtClean="0"/>
              <a:t>16</a:t>
            </a:fld>
            <a:endParaRPr lang="zh-HK" altLang="en-US"/>
          </a:p>
        </p:txBody>
      </p:sp>
    </p:spTree>
    <p:extLst>
      <p:ext uri="{BB962C8B-B14F-4D97-AF65-F5344CB8AC3E}">
        <p14:creationId xmlns:p14="http://schemas.microsoft.com/office/powerpoint/2010/main" val="12820033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B6A625F-521E-08AA-951D-5910E7E58748}"/>
              </a:ext>
            </a:extLst>
          </p:cNvPr>
          <p:cNvGraphicFramePr>
            <a:graphicFrameLocks noGrp="1"/>
          </p:cNvGraphicFramePr>
          <p:nvPr>
            <p:extLst>
              <p:ext uri="{D42A27DB-BD31-4B8C-83A1-F6EECF244321}">
                <p14:modId xmlns:p14="http://schemas.microsoft.com/office/powerpoint/2010/main" val="2426452519"/>
              </p:ext>
            </p:extLst>
          </p:nvPr>
        </p:nvGraphicFramePr>
        <p:xfrm>
          <a:off x="997688" y="1571966"/>
          <a:ext cx="10196624" cy="3934045"/>
        </p:xfrm>
        <a:graphic>
          <a:graphicData uri="http://schemas.openxmlformats.org/drawingml/2006/table">
            <a:tbl>
              <a:tblPr firstRow="1" bandRow="1">
                <a:tableStyleId>{5C22544A-7EE6-4342-B048-85BDC9FD1C3A}</a:tableStyleId>
              </a:tblPr>
              <a:tblGrid>
                <a:gridCol w="5098312">
                  <a:extLst>
                    <a:ext uri="{9D8B030D-6E8A-4147-A177-3AD203B41FA5}">
                      <a16:colId xmlns:a16="http://schemas.microsoft.com/office/drawing/2014/main" val="787780566"/>
                    </a:ext>
                  </a:extLst>
                </a:gridCol>
                <a:gridCol w="5098312">
                  <a:extLst>
                    <a:ext uri="{9D8B030D-6E8A-4147-A177-3AD203B41FA5}">
                      <a16:colId xmlns:a16="http://schemas.microsoft.com/office/drawing/2014/main" val="2782271655"/>
                    </a:ext>
                  </a:extLst>
                </a:gridCol>
              </a:tblGrid>
              <a:tr h="383678">
                <a:tc>
                  <a:txBody>
                    <a:bodyPr/>
                    <a:lstStyle/>
                    <a:p>
                      <a:r>
                        <a:rPr lang="en-US" sz="2400" kern="100">
                          <a:effectLst/>
                          <a:latin typeface="Calibri" panose="020F0502020204030204" pitchFamily="34" charset="0"/>
                          <a:ea typeface="新細明體" panose="02020500000000000000" pitchFamily="18" charset="-120"/>
                          <a:cs typeface="Calibri" panose="020F0502020204030204" pitchFamily="34" charset="0"/>
                        </a:rPr>
                        <a:t>No RAG (Baseline)</a:t>
                      </a:r>
                      <a:endParaRPr lang="zh-TW" sz="2400" kern="100">
                        <a:effectLst/>
                        <a:latin typeface="Calibri" panose="020F0502020204030204" pitchFamily="34" charset="0"/>
                        <a:ea typeface="新細明體" panose="02020500000000000000" pitchFamily="18" charset="-120"/>
                        <a:cs typeface="Calibri" panose="020F0502020204030204" pitchFamily="34" charset="0"/>
                      </a:endParaRPr>
                    </a:p>
                  </a:txBody>
                  <a:tcPr marL="68580" marR="68580" marT="0" marB="0">
                    <a:solidFill>
                      <a:schemeClr val="bg2">
                        <a:lumMod val="60000"/>
                        <a:lumOff val="40000"/>
                      </a:schemeClr>
                    </a:solidFill>
                  </a:tcPr>
                </a:tc>
                <a:tc>
                  <a:txBody>
                    <a:bodyPr/>
                    <a:lstStyle/>
                    <a:p>
                      <a:r>
                        <a:rPr lang="en-US" sz="2400" kern="100" dirty="0">
                          <a:effectLst/>
                          <a:latin typeface="Calibri" panose="020F0502020204030204" pitchFamily="34" charset="0"/>
                          <a:ea typeface="新細明體" panose="02020500000000000000" pitchFamily="18" charset="-120"/>
                          <a:cs typeface="Calibri" panose="020F0502020204030204" pitchFamily="34" charset="0"/>
                        </a:rPr>
                        <a:t>RAG</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txBody>
                  <a:tcPr marL="68580" marR="68580" marT="0" marB="0">
                    <a:solidFill>
                      <a:schemeClr val="bg2">
                        <a:lumMod val="60000"/>
                        <a:lumOff val="40000"/>
                      </a:schemeClr>
                    </a:solidFill>
                  </a:tcPr>
                </a:tc>
                <a:extLst>
                  <a:ext uri="{0D108BD9-81ED-4DB2-BD59-A6C34878D82A}">
                    <a16:rowId xmlns:a16="http://schemas.microsoft.com/office/drawing/2014/main" val="3543382709"/>
                  </a:ext>
                </a:extLst>
              </a:tr>
              <a:tr h="3550367">
                <a:tc>
                  <a:txBody>
                    <a:bodyPr/>
                    <a:lstStyle/>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使用不超過</a:t>
                      </a:r>
                      <a:r>
                        <a:rPr lang="en-US" altLang="zh-TW" sz="2400" i="1" kern="100" dirty="0">
                          <a:effectLst/>
                          <a:latin typeface="Calibri" panose="020F0502020204030204" pitchFamily="34" charset="0"/>
                          <a:ea typeface="新細明體" panose="02020500000000000000" pitchFamily="18" charset="-120"/>
                          <a:cs typeface="Calibri" panose="020F0502020204030204" pitchFamily="34" charset="0"/>
                        </a:rPr>
                        <a:t>2</a:t>
                      </a:r>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00</a:t>
                      </a:r>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字繁體中文</a:t>
                      </a:r>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a:t>
                      </a:r>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連標點</a:t>
                      </a:r>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t>
                      </a:r>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來回答問題。</a:t>
                      </a:r>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Question: {question}</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Answer:</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txBody>
                  <a:tcPr marL="68580" marR="68580" marT="0" marB="0">
                    <a:solidFill>
                      <a:schemeClr val="bg2">
                        <a:lumMod val="20000"/>
                        <a:lumOff val="80000"/>
                      </a:schemeClr>
                    </a:solidFill>
                  </a:tcPr>
                </a:tc>
                <a:tc>
                  <a:txBody>
                    <a:bodyPr/>
                    <a:lstStyle/>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使用不超過</a:t>
                      </a:r>
                      <a:r>
                        <a:rPr lang="en-US" altLang="zh-TW" sz="2400" i="1" kern="100" dirty="0">
                          <a:effectLst/>
                          <a:latin typeface="Calibri" panose="020F0502020204030204" pitchFamily="34" charset="0"/>
                          <a:ea typeface="新細明體" panose="02020500000000000000" pitchFamily="18" charset="-120"/>
                          <a:cs typeface="Calibri" panose="020F0502020204030204" pitchFamily="34" charset="0"/>
                        </a:rPr>
                        <a:t>2</a:t>
                      </a:r>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00</a:t>
                      </a:r>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字繁體中文</a:t>
                      </a:r>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a:t>
                      </a:r>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連標點</a:t>
                      </a:r>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t>
                      </a:r>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回答所給的上下文來回答問題。 </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pPr>
                        <a:tabLst>
                          <a:tab pos="1784350" algn="l"/>
                        </a:tabLst>
                      </a:pPr>
                      <a:r>
                        <a:rPr lang="zh-TW" sz="2400" i="1" kern="100" dirty="0">
                          <a:effectLst/>
                          <a:latin typeface="Calibri" panose="020F0502020204030204" pitchFamily="34" charset="0"/>
                          <a:ea typeface="新細明體" panose="02020500000000000000" pitchFamily="18" charset="-120"/>
                          <a:cs typeface="Calibri" panose="020F0502020204030204" pitchFamily="34" charset="0"/>
                        </a:rPr>
                        <a:t>上下文</a:t>
                      </a:r>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{Relevant context} 	</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Question: {question}</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p>
                      <a:r>
                        <a:rPr lang="en-US" sz="2400" i="1" kern="100" dirty="0">
                          <a:effectLst/>
                          <a:latin typeface="Calibri" panose="020F0502020204030204" pitchFamily="34" charset="0"/>
                          <a:ea typeface="新細明體" panose="02020500000000000000" pitchFamily="18" charset="-120"/>
                          <a:cs typeface="Calibri" panose="020F0502020204030204" pitchFamily="34" charset="0"/>
                        </a:rPr>
                        <a:t> Answer:</a:t>
                      </a:r>
                      <a:endParaRPr lang="zh-TW" sz="2400" kern="100" dirty="0">
                        <a:effectLst/>
                        <a:latin typeface="Calibri" panose="020F0502020204030204" pitchFamily="34" charset="0"/>
                        <a:ea typeface="新細明體" panose="02020500000000000000" pitchFamily="18" charset="-120"/>
                        <a:cs typeface="Calibri" panose="020F0502020204030204" pitchFamily="34" charset="0"/>
                      </a:endParaRPr>
                    </a:p>
                  </a:txBody>
                  <a:tcPr marL="68580" marR="68580" marT="0" marB="0">
                    <a:solidFill>
                      <a:schemeClr val="bg2">
                        <a:lumMod val="20000"/>
                        <a:lumOff val="80000"/>
                      </a:schemeClr>
                    </a:solidFill>
                  </a:tcPr>
                </a:tc>
                <a:extLst>
                  <a:ext uri="{0D108BD9-81ED-4DB2-BD59-A6C34878D82A}">
                    <a16:rowId xmlns:a16="http://schemas.microsoft.com/office/drawing/2014/main" val="3938142718"/>
                  </a:ext>
                </a:extLst>
              </a:tr>
            </a:tbl>
          </a:graphicData>
        </a:graphic>
      </p:graphicFrame>
      <p:sp>
        <p:nvSpPr>
          <p:cNvPr id="4" name="Title 1">
            <a:extLst>
              <a:ext uri="{FF2B5EF4-FFF2-40B4-BE49-F238E27FC236}">
                <a16:creationId xmlns:a16="http://schemas.microsoft.com/office/drawing/2014/main" id="{B7006028-59AA-4E0D-8C3D-55BB5283BBD6}"/>
              </a:ext>
            </a:extLst>
          </p:cNvPr>
          <p:cNvSpPr txBox="1">
            <a:spLocks/>
          </p:cNvSpPr>
          <p:nvPr/>
        </p:nvSpPr>
        <p:spPr>
          <a:xfrm>
            <a:off x="646111" y="452718"/>
            <a:ext cx="9404723"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zh-HK" dirty="0"/>
              <a:t>Prompt Template</a:t>
            </a:r>
            <a:endParaRPr lang="zh-HK" altLang="en-US" dirty="0"/>
          </a:p>
        </p:txBody>
      </p:sp>
      <p:sp>
        <p:nvSpPr>
          <p:cNvPr id="3" name="文字方塊 2">
            <a:extLst>
              <a:ext uri="{FF2B5EF4-FFF2-40B4-BE49-F238E27FC236}">
                <a16:creationId xmlns:a16="http://schemas.microsoft.com/office/drawing/2014/main" id="{BF50B1C6-9847-497F-939F-0A0E635A6B79}"/>
              </a:ext>
            </a:extLst>
          </p:cNvPr>
          <p:cNvSpPr txBox="1"/>
          <p:nvPr/>
        </p:nvSpPr>
        <p:spPr>
          <a:xfrm>
            <a:off x="997688" y="5679440"/>
            <a:ext cx="10279912" cy="769441"/>
          </a:xfrm>
          <a:prstGeom prst="rect">
            <a:avLst/>
          </a:prstGeom>
          <a:noFill/>
        </p:spPr>
        <p:txBody>
          <a:bodyPr wrap="square" rtlCol="0">
            <a:spAutoFit/>
          </a:bodyPr>
          <a:lstStyle/>
          <a:p>
            <a:r>
              <a:rPr lang="en-US" altLang="zh-HK" sz="2200" dirty="0"/>
              <a:t>For RAG prompt, each model shares the same relevant document for each question</a:t>
            </a:r>
            <a:endParaRPr lang="zh-HK" altLang="en-US" sz="2200" dirty="0"/>
          </a:p>
        </p:txBody>
      </p:sp>
      <p:sp>
        <p:nvSpPr>
          <p:cNvPr id="7" name="投影片編號版面配置區 6">
            <a:extLst>
              <a:ext uri="{FF2B5EF4-FFF2-40B4-BE49-F238E27FC236}">
                <a16:creationId xmlns:a16="http://schemas.microsoft.com/office/drawing/2014/main" id="{B7C0E94A-33DE-44E5-920D-7FCD1F4CD6A1}"/>
              </a:ext>
            </a:extLst>
          </p:cNvPr>
          <p:cNvSpPr>
            <a:spLocks noGrp="1"/>
          </p:cNvSpPr>
          <p:nvPr>
            <p:ph type="sldNum" sz="quarter" idx="12"/>
          </p:nvPr>
        </p:nvSpPr>
        <p:spPr/>
        <p:txBody>
          <a:bodyPr/>
          <a:lstStyle/>
          <a:p>
            <a:fld id="{DB17CEA6-17B5-4347-86B2-9520D0409059}" type="slidenum">
              <a:rPr lang="zh-HK" altLang="en-US" smtClean="0"/>
              <a:t>17</a:t>
            </a:fld>
            <a:endParaRPr lang="zh-HK" altLang="en-US"/>
          </a:p>
        </p:txBody>
      </p:sp>
    </p:spTree>
    <p:extLst>
      <p:ext uri="{BB962C8B-B14F-4D97-AF65-F5344CB8AC3E}">
        <p14:creationId xmlns:p14="http://schemas.microsoft.com/office/powerpoint/2010/main" val="1658860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1A6BF-C82D-0723-57E8-3B2935A081D2}"/>
              </a:ext>
            </a:extLst>
          </p:cNvPr>
          <p:cNvSpPr>
            <a:spLocks noGrp="1"/>
          </p:cNvSpPr>
          <p:nvPr>
            <p:ph type="title"/>
          </p:nvPr>
        </p:nvSpPr>
        <p:spPr>
          <a:xfrm>
            <a:off x="646111" y="452718"/>
            <a:ext cx="9404723" cy="727496"/>
          </a:xfrm>
        </p:spPr>
        <p:txBody>
          <a:bodyPr/>
          <a:lstStyle/>
          <a:p>
            <a:r>
              <a:rPr lang="en-US" altLang="zh-HK" dirty="0"/>
              <a:t>Evaluation Metrics</a:t>
            </a:r>
            <a:endParaRPr lang="zh-HK" altLang="en-US" dirty="0"/>
          </a:p>
        </p:txBody>
      </p:sp>
      <p:sp>
        <p:nvSpPr>
          <p:cNvPr id="3" name="Content Placeholder 2">
            <a:extLst>
              <a:ext uri="{FF2B5EF4-FFF2-40B4-BE49-F238E27FC236}">
                <a16:creationId xmlns:a16="http://schemas.microsoft.com/office/drawing/2014/main" id="{5F2EC049-D0B2-E93A-950B-388A854CA291}"/>
              </a:ext>
            </a:extLst>
          </p:cNvPr>
          <p:cNvSpPr>
            <a:spLocks noGrp="1"/>
          </p:cNvSpPr>
          <p:nvPr>
            <p:ph idx="1"/>
          </p:nvPr>
        </p:nvSpPr>
        <p:spPr>
          <a:xfrm>
            <a:off x="1103312" y="1456660"/>
            <a:ext cx="9910948" cy="5309900"/>
          </a:xfrm>
        </p:spPr>
        <p:txBody>
          <a:bodyPr/>
          <a:lstStyle/>
          <a:p>
            <a:pPr marL="0" indent="0">
              <a:buNone/>
            </a:pPr>
            <a:r>
              <a:rPr lang="en-US" altLang="zh-HK" dirty="0">
                <a:latin typeface="Arial" panose="020B0604020202020204" pitchFamily="34" charset="0"/>
                <a:cs typeface="Arial" panose="020B0604020202020204" pitchFamily="34" charset="0"/>
              </a:rPr>
              <a:t>Accuracy: Metric for Evaluation of Translation with Explicit Ordering (METEOR)</a:t>
            </a: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endParaRPr lang="en-US" altLang="zh-HK" dirty="0">
              <a:latin typeface="Arial" panose="020B0604020202020204" pitchFamily="34" charset="0"/>
              <a:cs typeface="Arial" panose="020B0604020202020204" pitchFamily="34" charset="0"/>
            </a:endParaRPr>
          </a:p>
          <a:p>
            <a:pPr marL="0" indent="0">
              <a:buNone/>
            </a:pPr>
            <a:r>
              <a:rPr lang="en-US" altLang="zh-HK" dirty="0">
                <a:latin typeface="Arial" panose="020B0604020202020204" pitchFamily="34" charset="0"/>
                <a:cs typeface="Arial" panose="020B0604020202020204" pitchFamily="34" charset="0"/>
              </a:rPr>
              <a:t>Efficiency: Response Time</a:t>
            </a:r>
          </a:p>
        </p:txBody>
      </p:sp>
      <p:pic>
        <p:nvPicPr>
          <p:cNvPr id="5" name="Picture 4">
            <a:extLst>
              <a:ext uri="{FF2B5EF4-FFF2-40B4-BE49-F238E27FC236}">
                <a16:creationId xmlns:a16="http://schemas.microsoft.com/office/drawing/2014/main" id="{EDFB1D4F-52B0-09A6-31BE-0005F749DF16}"/>
              </a:ext>
            </a:extLst>
          </p:cNvPr>
          <p:cNvPicPr>
            <a:picLocks noChangeAspect="1"/>
          </p:cNvPicPr>
          <p:nvPr/>
        </p:nvPicPr>
        <p:blipFill>
          <a:blip r:embed="rId2"/>
          <a:stretch>
            <a:fillRect/>
          </a:stretch>
        </p:blipFill>
        <p:spPr>
          <a:xfrm>
            <a:off x="1177740" y="1920803"/>
            <a:ext cx="7602011" cy="4210638"/>
          </a:xfrm>
          <a:prstGeom prst="rect">
            <a:avLst/>
          </a:prstGeom>
        </p:spPr>
      </p:pic>
      <p:sp>
        <p:nvSpPr>
          <p:cNvPr id="4" name="投影片編號版面配置區 3">
            <a:extLst>
              <a:ext uri="{FF2B5EF4-FFF2-40B4-BE49-F238E27FC236}">
                <a16:creationId xmlns:a16="http://schemas.microsoft.com/office/drawing/2014/main" id="{7065BD8C-D4DE-45A5-8ADE-611469450CB6}"/>
              </a:ext>
            </a:extLst>
          </p:cNvPr>
          <p:cNvSpPr>
            <a:spLocks noGrp="1"/>
          </p:cNvSpPr>
          <p:nvPr>
            <p:ph type="sldNum" sz="quarter" idx="12"/>
          </p:nvPr>
        </p:nvSpPr>
        <p:spPr/>
        <p:txBody>
          <a:bodyPr/>
          <a:lstStyle/>
          <a:p>
            <a:fld id="{DB17CEA6-17B5-4347-86B2-9520D0409059}" type="slidenum">
              <a:rPr lang="zh-HK" altLang="en-US" smtClean="0"/>
              <a:t>18</a:t>
            </a:fld>
            <a:endParaRPr lang="zh-HK" altLang="en-US"/>
          </a:p>
        </p:txBody>
      </p:sp>
    </p:spTree>
    <p:extLst>
      <p:ext uri="{BB962C8B-B14F-4D97-AF65-F5344CB8AC3E}">
        <p14:creationId xmlns:p14="http://schemas.microsoft.com/office/powerpoint/2010/main" val="32663773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00F10E4-DCC1-C042-15C9-E887967E45ED}"/>
              </a:ext>
            </a:extLst>
          </p:cNvPr>
          <p:cNvSpPr txBox="1"/>
          <p:nvPr/>
        </p:nvSpPr>
        <p:spPr>
          <a:xfrm>
            <a:off x="263254" y="426720"/>
            <a:ext cx="2181314" cy="4247317"/>
          </a:xfrm>
          <a:prstGeom prst="rect">
            <a:avLst/>
          </a:prstGeom>
          <a:noFill/>
        </p:spPr>
        <p:txBody>
          <a:bodyPr wrap="square" rtlCol="0">
            <a:spAutoFit/>
          </a:bodyPr>
          <a:lstStyle/>
          <a:p>
            <a:r>
              <a:rPr lang="en-US" altLang="zh-HK" sz="4200" dirty="0"/>
              <a:t>Result</a:t>
            </a:r>
          </a:p>
          <a:p>
            <a:endParaRPr lang="en-US" altLang="zh-HK" dirty="0"/>
          </a:p>
          <a:p>
            <a:r>
              <a:rPr lang="en-US" altLang="zh-HK" dirty="0"/>
              <a:t>Input tokens for all LLMs are the same</a:t>
            </a:r>
          </a:p>
          <a:p>
            <a:endParaRPr lang="en-US" altLang="zh-HK" dirty="0"/>
          </a:p>
          <a:p>
            <a:endParaRPr lang="en-US" altLang="zh-HK" dirty="0"/>
          </a:p>
          <a:p>
            <a:endParaRPr lang="en-US" altLang="zh-HK" sz="4000" dirty="0"/>
          </a:p>
          <a:p>
            <a:endParaRPr lang="en-US" altLang="zh-HK" sz="4000" dirty="0"/>
          </a:p>
          <a:p>
            <a:endParaRPr lang="zh-HK" altLang="en-US" sz="4000" dirty="0"/>
          </a:p>
        </p:txBody>
      </p:sp>
      <p:pic>
        <p:nvPicPr>
          <p:cNvPr id="4" name="Picture 3">
            <a:extLst>
              <a:ext uri="{FF2B5EF4-FFF2-40B4-BE49-F238E27FC236}">
                <a16:creationId xmlns:a16="http://schemas.microsoft.com/office/drawing/2014/main" id="{BD82B03E-691D-823C-7993-68F4073AA1BA}"/>
              </a:ext>
            </a:extLst>
          </p:cNvPr>
          <p:cNvPicPr>
            <a:picLocks noChangeAspect="1"/>
          </p:cNvPicPr>
          <p:nvPr/>
        </p:nvPicPr>
        <p:blipFill>
          <a:blip r:embed="rId2"/>
          <a:stretch>
            <a:fillRect/>
          </a:stretch>
        </p:blipFill>
        <p:spPr>
          <a:xfrm>
            <a:off x="2347798" y="426720"/>
            <a:ext cx="8101512" cy="6337014"/>
          </a:xfrm>
          <a:prstGeom prst="rect">
            <a:avLst/>
          </a:prstGeom>
        </p:spPr>
      </p:pic>
      <p:sp>
        <p:nvSpPr>
          <p:cNvPr id="2" name="投影片編號版面配置區 1">
            <a:extLst>
              <a:ext uri="{FF2B5EF4-FFF2-40B4-BE49-F238E27FC236}">
                <a16:creationId xmlns:a16="http://schemas.microsoft.com/office/drawing/2014/main" id="{6C86579D-3C25-4C47-9CA6-56326F12D8B7}"/>
              </a:ext>
            </a:extLst>
          </p:cNvPr>
          <p:cNvSpPr>
            <a:spLocks noGrp="1"/>
          </p:cNvSpPr>
          <p:nvPr>
            <p:ph type="sldNum" sz="quarter" idx="12"/>
          </p:nvPr>
        </p:nvSpPr>
        <p:spPr/>
        <p:txBody>
          <a:bodyPr/>
          <a:lstStyle/>
          <a:p>
            <a:fld id="{DB17CEA6-17B5-4347-86B2-9520D0409059}" type="slidenum">
              <a:rPr lang="zh-HK" altLang="en-US" smtClean="0"/>
              <a:t>19</a:t>
            </a:fld>
            <a:endParaRPr lang="zh-HK" altLang="en-US" dirty="0"/>
          </a:p>
        </p:txBody>
      </p:sp>
    </p:spTree>
    <p:extLst>
      <p:ext uri="{BB962C8B-B14F-4D97-AF65-F5344CB8AC3E}">
        <p14:creationId xmlns:p14="http://schemas.microsoft.com/office/powerpoint/2010/main" val="30609041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40C1D-9ECC-AEAB-EA04-DD1151AED491}"/>
              </a:ext>
            </a:extLst>
          </p:cNvPr>
          <p:cNvSpPr>
            <a:spLocks noGrp="1"/>
          </p:cNvSpPr>
          <p:nvPr>
            <p:ph type="title"/>
          </p:nvPr>
        </p:nvSpPr>
        <p:spPr/>
        <p:txBody>
          <a:bodyPr/>
          <a:lstStyle/>
          <a:p>
            <a:r>
              <a:rPr lang="en-US" altLang="zh-HK" dirty="0"/>
              <a:t>Example</a:t>
            </a:r>
            <a:endParaRPr lang="zh-HK" altLang="en-US" dirty="0"/>
          </a:p>
        </p:txBody>
      </p:sp>
      <p:sp>
        <p:nvSpPr>
          <p:cNvPr id="3" name="TextBox 2">
            <a:extLst>
              <a:ext uri="{FF2B5EF4-FFF2-40B4-BE49-F238E27FC236}">
                <a16:creationId xmlns:a16="http://schemas.microsoft.com/office/drawing/2014/main" id="{B2C01137-5148-D884-E520-507DFEB9056D}"/>
              </a:ext>
            </a:extLst>
          </p:cNvPr>
          <p:cNvSpPr txBox="1"/>
          <p:nvPr/>
        </p:nvSpPr>
        <p:spPr>
          <a:xfrm>
            <a:off x="944525" y="1573190"/>
            <a:ext cx="10302949" cy="4832092"/>
          </a:xfrm>
          <a:prstGeom prst="rect">
            <a:avLst/>
          </a:prstGeom>
          <a:noFill/>
        </p:spPr>
        <p:txBody>
          <a:bodyPr wrap="square" rtlCol="0">
            <a:spAutoFit/>
          </a:bodyPr>
          <a:lstStyle/>
          <a:p>
            <a:pPr marL="0" algn="l" rtl="0" eaLnBrk="1" fontAlgn="t" latinLnBrk="0" hangingPunct="1"/>
            <a:r>
              <a:rPr lang="en-US" altLang="zh-HK" sz="2200" b="1" i="0" u="none" strike="noStrike" kern="1200" dirty="0">
                <a:solidFill>
                  <a:srgbClr val="FFFFFF"/>
                </a:solidFill>
                <a:effectLst/>
                <a:latin typeface="Century Gothic" panose="020B0502020202020204" pitchFamily="34" charset="0"/>
              </a:rPr>
              <a:t>Question</a:t>
            </a:r>
            <a:endParaRPr lang="zh-HK" altLang="zh-HK" sz="2200" b="0" i="0" u="none" strike="noStrike" dirty="0">
              <a:effectLst/>
              <a:latin typeface="Arial" panose="020B0604020202020204" pitchFamily="34" charset="0"/>
            </a:endParaRPr>
          </a:p>
          <a:p>
            <a:pPr marL="0" algn="ctr" rtl="0" eaLnBrk="1" fontAlgn="t" latinLnBrk="0" hangingPunct="1"/>
            <a:r>
              <a:rPr lang="zh-TW" altLang="zh-HK" sz="2200" b="1" i="0" u="none" strike="noStrike" kern="1200" dirty="0">
                <a:effectLst/>
                <a:latin typeface="Century Gothic" panose="020B0502020202020204" pitchFamily="34" charset="0"/>
                <a:ea typeface="新細明體" panose="02020500000000000000" pitchFamily="18" charset="-120"/>
              </a:rPr>
              <a:t>電傳轉帳是甚麼</a:t>
            </a:r>
            <a:r>
              <a:rPr lang="en-US" altLang="zh-HK" sz="2200" b="1" i="0" u="none" strike="noStrike" kern="1200" dirty="0">
                <a:effectLst/>
                <a:latin typeface="Century Gothic" panose="020B0502020202020204" pitchFamily="34" charset="0"/>
                <a:ea typeface="新細明體" panose="02020500000000000000" pitchFamily="18" charset="-120"/>
              </a:rPr>
              <a:t>?</a:t>
            </a:r>
          </a:p>
          <a:p>
            <a:pPr marL="0" algn="ctr" rtl="0" eaLnBrk="1" fontAlgn="t" latinLnBrk="0" hangingPunct="1"/>
            <a:endParaRPr lang="zh-HK" altLang="zh-HK" sz="2200" b="0" i="0" u="none" strike="noStrike" dirty="0">
              <a:effectLst/>
              <a:latin typeface="Arial" panose="020B0604020202020204" pitchFamily="34" charset="0"/>
            </a:endParaRPr>
          </a:p>
          <a:p>
            <a:r>
              <a:rPr lang="en-US" altLang="zh-HK" sz="2200" dirty="0"/>
              <a:t>Retrieved context: Top 3 chunks</a:t>
            </a:r>
          </a:p>
          <a:p>
            <a:endParaRPr lang="en-US" altLang="zh-HK" sz="2200" dirty="0"/>
          </a:p>
          <a:p>
            <a:r>
              <a:rPr lang="zh-TW" altLang="en-US" sz="2200" dirty="0"/>
              <a:t>電傳轉帳是由一間機構</a:t>
            </a:r>
            <a:r>
              <a:rPr lang="en-US" altLang="zh-TW" sz="2200" dirty="0"/>
              <a:t>(</a:t>
            </a:r>
            <a:r>
              <a:rPr lang="zh-TW" altLang="en-US" sz="2200" dirty="0"/>
              <a:t>匯款機構</a:t>
            </a:r>
            <a:r>
              <a:rPr lang="en-US" altLang="zh-TW" sz="2200" dirty="0"/>
              <a:t>)</a:t>
            </a:r>
            <a:r>
              <a:rPr lang="zh-TW" altLang="en-US" sz="2200" dirty="0"/>
              <a:t>代表某人</a:t>
            </a:r>
            <a:r>
              <a:rPr lang="en-US" altLang="zh-TW" sz="2200" dirty="0"/>
              <a:t>(</a:t>
            </a:r>
            <a:r>
              <a:rPr lang="zh-TW" altLang="en-US" sz="2200" dirty="0"/>
              <a:t>匯款人</a:t>
            </a:r>
            <a:r>
              <a:rPr lang="en-US" altLang="zh-TW" sz="2200" dirty="0"/>
              <a:t>)</a:t>
            </a:r>
            <a:r>
              <a:rPr lang="zh-TW" altLang="en-US" sz="2200" dirty="0"/>
              <a:t>藉電 子方式進行的交易，目的是將某筆金錢轉往某間機構</a:t>
            </a:r>
            <a:r>
              <a:rPr lang="en-US" altLang="zh-TW" sz="2200" dirty="0"/>
              <a:t>(</a:t>
            </a:r>
            <a:r>
              <a:rPr lang="zh-TW" altLang="en-US" sz="2200" dirty="0"/>
              <a:t>收 款機構</a:t>
            </a:r>
            <a:r>
              <a:rPr lang="en-US" altLang="zh-TW" sz="2200" dirty="0"/>
              <a:t>) (</a:t>
            </a:r>
            <a:r>
              <a:rPr lang="zh-TW" altLang="en-US" sz="2200" dirty="0"/>
              <a:t>該機構可以是匯款機構或另一機構</a:t>
            </a:r>
            <a:r>
              <a:rPr lang="en-US" altLang="zh-TW" sz="2200" dirty="0"/>
              <a:t>)</a:t>
            </a:r>
            <a:r>
              <a:rPr lang="zh-TW" altLang="en-US" sz="2200" dirty="0"/>
              <a:t>以提供予 該人或另一人</a:t>
            </a:r>
            <a:r>
              <a:rPr lang="en-US" altLang="zh-TW" sz="2200" dirty="0"/>
              <a:t>(</a:t>
            </a:r>
            <a:r>
              <a:rPr lang="zh-TW" altLang="en-US" sz="2200" dirty="0"/>
              <a:t>收款人</a:t>
            </a:r>
            <a:r>
              <a:rPr lang="en-US" altLang="zh-TW" sz="2200" dirty="0"/>
              <a:t>)</a:t>
            </a:r>
            <a:r>
              <a:rPr lang="zh-TW" altLang="en-US" sz="2200" dirty="0"/>
              <a:t>，而無論是否有一間或多於一間 其他機構</a:t>
            </a:r>
            <a:r>
              <a:rPr lang="en-US" altLang="zh-TW" sz="2200" dirty="0"/>
              <a:t>(</a:t>
            </a:r>
            <a:r>
              <a:rPr lang="zh-TW" altLang="en-US" sz="2200" dirty="0"/>
              <a:t>中介機構</a:t>
            </a:r>
            <a:r>
              <a:rPr lang="en-US" altLang="zh-TW" sz="2200" dirty="0"/>
              <a:t>)</a:t>
            </a:r>
            <a:r>
              <a:rPr lang="zh-TW" altLang="en-US" sz="2200" dirty="0"/>
              <a:t>參與完成有關金錢轉帳。</a:t>
            </a:r>
            <a:endParaRPr lang="en-US" altLang="zh-TW" sz="2200" dirty="0"/>
          </a:p>
          <a:p>
            <a:br>
              <a:rPr lang="zh-TW" altLang="en-US" sz="2200" dirty="0"/>
            </a:br>
            <a:r>
              <a:rPr lang="zh-TW" altLang="en-US" sz="2200" dirty="0"/>
              <a:t>認可機構 應就其在電傳轉帳中扮演的⻆色，遵從本章所載的相關規定</a:t>
            </a:r>
            <a:endParaRPr lang="en-US" altLang="zh-TW" sz="2200" dirty="0"/>
          </a:p>
          <a:p>
            <a:br>
              <a:rPr lang="zh-TW" altLang="en-US" sz="2200" dirty="0"/>
            </a:br>
            <a:r>
              <a:rPr lang="zh-TW" altLang="en-US" sz="2200" dirty="0"/>
              <a:t>如認可機構是電傳轉帳的匯款人或收款人，即並非以匯款機構、中介機構或收款機構的身分行事，則無需就該交易遵守附表</a:t>
            </a:r>
            <a:r>
              <a:rPr lang="en-US" altLang="zh-TW" sz="2200" dirty="0"/>
              <a:t>2 </a:t>
            </a:r>
            <a:r>
              <a:rPr lang="zh-TW" altLang="en-US" sz="2200" dirty="0"/>
              <a:t>第</a:t>
            </a:r>
            <a:r>
              <a:rPr lang="en-US" altLang="zh-TW" sz="2200" dirty="0"/>
              <a:t>12 </a:t>
            </a:r>
            <a:r>
              <a:rPr lang="zh-TW" altLang="en-US" sz="2200" dirty="0"/>
              <a:t>條的規定或本章的指引。</a:t>
            </a:r>
            <a:endParaRPr lang="en-US" altLang="zh-HK" sz="2200" dirty="0"/>
          </a:p>
        </p:txBody>
      </p:sp>
      <p:sp>
        <p:nvSpPr>
          <p:cNvPr id="4" name="投影片編號版面配置區 3">
            <a:extLst>
              <a:ext uri="{FF2B5EF4-FFF2-40B4-BE49-F238E27FC236}">
                <a16:creationId xmlns:a16="http://schemas.microsoft.com/office/drawing/2014/main" id="{5D063C14-B8F9-4F47-A8F7-69385BDDAAD2}"/>
              </a:ext>
            </a:extLst>
          </p:cNvPr>
          <p:cNvSpPr>
            <a:spLocks noGrp="1"/>
          </p:cNvSpPr>
          <p:nvPr>
            <p:ph type="sldNum" sz="quarter" idx="12"/>
          </p:nvPr>
        </p:nvSpPr>
        <p:spPr/>
        <p:txBody>
          <a:bodyPr/>
          <a:lstStyle/>
          <a:p>
            <a:fld id="{DB17CEA6-17B5-4347-86B2-9520D0409059}" type="slidenum">
              <a:rPr lang="zh-HK" altLang="en-US" smtClean="0"/>
              <a:t>20</a:t>
            </a:fld>
            <a:endParaRPr lang="zh-HK" altLang="en-US"/>
          </a:p>
        </p:txBody>
      </p:sp>
    </p:spTree>
    <p:extLst>
      <p:ext uri="{BB962C8B-B14F-4D97-AF65-F5344CB8AC3E}">
        <p14:creationId xmlns:p14="http://schemas.microsoft.com/office/powerpoint/2010/main" val="3414872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CE453-425A-3873-4FDA-15CD0E1111A7}"/>
              </a:ext>
            </a:extLst>
          </p:cNvPr>
          <p:cNvSpPr>
            <a:spLocks noGrp="1"/>
          </p:cNvSpPr>
          <p:nvPr>
            <p:ph type="title"/>
          </p:nvPr>
        </p:nvSpPr>
        <p:spPr>
          <a:xfrm>
            <a:off x="158601" y="6151"/>
            <a:ext cx="9404723" cy="812556"/>
          </a:xfrm>
        </p:spPr>
        <p:txBody>
          <a:bodyPr/>
          <a:lstStyle/>
          <a:p>
            <a:r>
              <a:rPr lang="en-US" altLang="zh-HK" dirty="0"/>
              <a:t>Example</a:t>
            </a:r>
            <a:endParaRPr lang="zh-HK" altLang="en-US" dirty="0"/>
          </a:p>
        </p:txBody>
      </p:sp>
      <p:graphicFrame>
        <p:nvGraphicFramePr>
          <p:cNvPr id="4" name="Table 3">
            <a:extLst>
              <a:ext uri="{FF2B5EF4-FFF2-40B4-BE49-F238E27FC236}">
                <a16:creationId xmlns:a16="http://schemas.microsoft.com/office/drawing/2014/main" id="{370F6C50-7E0A-EE78-930C-A05BE274EEDA}"/>
              </a:ext>
            </a:extLst>
          </p:cNvPr>
          <p:cNvGraphicFramePr>
            <a:graphicFrameLocks noGrp="1"/>
          </p:cNvGraphicFramePr>
          <p:nvPr>
            <p:extLst>
              <p:ext uri="{D42A27DB-BD31-4B8C-83A1-F6EECF244321}">
                <p14:modId xmlns:p14="http://schemas.microsoft.com/office/powerpoint/2010/main" val="2465193290"/>
              </p:ext>
            </p:extLst>
          </p:nvPr>
        </p:nvGraphicFramePr>
        <p:xfrm>
          <a:off x="158601" y="983013"/>
          <a:ext cx="11874798" cy="5273184"/>
        </p:xfrm>
        <a:graphic>
          <a:graphicData uri="http://schemas.openxmlformats.org/drawingml/2006/table">
            <a:tbl>
              <a:tblPr firstRow="1" bandRow="1">
                <a:tableStyleId>{5C22544A-7EE6-4342-B048-85BDC9FD1C3A}</a:tableStyleId>
              </a:tblPr>
              <a:tblGrid>
                <a:gridCol w="1245964">
                  <a:extLst>
                    <a:ext uri="{9D8B030D-6E8A-4147-A177-3AD203B41FA5}">
                      <a16:colId xmlns:a16="http://schemas.microsoft.com/office/drawing/2014/main" val="654829763"/>
                    </a:ext>
                  </a:extLst>
                </a:gridCol>
                <a:gridCol w="1860546">
                  <a:extLst>
                    <a:ext uri="{9D8B030D-6E8A-4147-A177-3AD203B41FA5}">
                      <a16:colId xmlns:a16="http://schemas.microsoft.com/office/drawing/2014/main" val="2485153410"/>
                    </a:ext>
                  </a:extLst>
                </a:gridCol>
                <a:gridCol w="1982688">
                  <a:extLst>
                    <a:ext uri="{9D8B030D-6E8A-4147-A177-3AD203B41FA5}">
                      <a16:colId xmlns:a16="http://schemas.microsoft.com/office/drawing/2014/main" val="3257677445"/>
                    </a:ext>
                  </a:extLst>
                </a:gridCol>
                <a:gridCol w="1696400">
                  <a:extLst>
                    <a:ext uri="{9D8B030D-6E8A-4147-A177-3AD203B41FA5}">
                      <a16:colId xmlns:a16="http://schemas.microsoft.com/office/drawing/2014/main" val="2867224962"/>
                    </a:ext>
                  </a:extLst>
                </a:gridCol>
                <a:gridCol w="1880824">
                  <a:extLst>
                    <a:ext uri="{9D8B030D-6E8A-4147-A177-3AD203B41FA5}">
                      <a16:colId xmlns:a16="http://schemas.microsoft.com/office/drawing/2014/main" val="1465770459"/>
                    </a:ext>
                  </a:extLst>
                </a:gridCol>
                <a:gridCol w="1511976">
                  <a:extLst>
                    <a:ext uri="{9D8B030D-6E8A-4147-A177-3AD203B41FA5}">
                      <a16:colId xmlns:a16="http://schemas.microsoft.com/office/drawing/2014/main" val="4120791514"/>
                    </a:ext>
                  </a:extLst>
                </a:gridCol>
                <a:gridCol w="1696400">
                  <a:extLst>
                    <a:ext uri="{9D8B030D-6E8A-4147-A177-3AD203B41FA5}">
                      <a16:colId xmlns:a16="http://schemas.microsoft.com/office/drawing/2014/main" val="990839399"/>
                    </a:ext>
                  </a:extLst>
                </a:gridCol>
              </a:tblGrid>
              <a:tr h="352357">
                <a:tc>
                  <a:txBody>
                    <a:bodyPr/>
                    <a:lstStyle/>
                    <a:p>
                      <a:pPr algn="ctr"/>
                      <a:r>
                        <a:rPr lang="en-US" altLang="zh-HK" sz="1800" dirty="0"/>
                        <a:t>Model</a:t>
                      </a:r>
                      <a:endParaRPr lang="zh-HK" altLang="en-US" sz="1800" dirty="0"/>
                    </a:p>
                  </a:txBody>
                  <a:tcPr/>
                </a:tc>
                <a:tc gridSpan="2">
                  <a:txBody>
                    <a:bodyPr/>
                    <a:lstStyle/>
                    <a:p>
                      <a:pPr algn="ctr"/>
                      <a:r>
                        <a:rPr lang="en-US" altLang="zh-HK" sz="1800" dirty="0"/>
                        <a:t>Gemma 2 9B it</a:t>
                      </a:r>
                      <a:endParaRPr lang="zh-HK" altLang="en-US" sz="1800" dirty="0"/>
                    </a:p>
                  </a:txBody>
                  <a:tcPr/>
                </a:tc>
                <a:tc hMerge="1">
                  <a:txBody>
                    <a:bodyPr/>
                    <a:lstStyle/>
                    <a:p>
                      <a:endParaRPr lang="zh-HK" altLang="en-US" dirty="0"/>
                    </a:p>
                  </a:txBody>
                  <a:tcPr/>
                </a:tc>
                <a:tc gridSpan="2">
                  <a:txBody>
                    <a:bodyPr/>
                    <a:lstStyle/>
                    <a:p>
                      <a:pPr algn="ctr"/>
                      <a:r>
                        <a:rPr lang="en-US" altLang="zh-HK" sz="1800" dirty="0"/>
                        <a:t>Llama 3.2 11B Instruct</a:t>
                      </a:r>
                      <a:endParaRPr lang="zh-HK" altLang="en-US" sz="1800" dirty="0"/>
                    </a:p>
                  </a:txBody>
                  <a:tcPr/>
                </a:tc>
                <a:tc hMerge="1">
                  <a:txBody>
                    <a:bodyPr/>
                    <a:lstStyle/>
                    <a:p>
                      <a:endParaRPr lang="zh-HK" altLang="en-US" dirty="0"/>
                    </a:p>
                  </a:txBody>
                  <a:tcPr/>
                </a:tc>
                <a:tc gridSpan="2">
                  <a:txBody>
                    <a:bodyPr/>
                    <a:lstStyle/>
                    <a:p>
                      <a:r>
                        <a:rPr lang="en-US" altLang="zh-HK" sz="1800" dirty="0"/>
                        <a:t>Yi 1.5 9B Chat</a:t>
                      </a:r>
                      <a:endParaRPr lang="zh-HK" altLang="en-US" dirty="0"/>
                    </a:p>
                  </a:txBody>
                  <a:tcPr/>
                </a:tc>
                <a:tc hMerge="1">
                  <a:txBody>
                    <a:bodyPr/>
                    <a:lstStyle/>
                    <a:p>
                      <a:endParaRPr lang="zh-HK" altLang="en-US" dirty="0"/>
                    </a:p>
                  </a:txBody>
                  <a:tcPr/>
                </a:tc>
                <a:extLst>
                  <a:ext uri="{0D108BD9-81ED-4DB2-BD59-A6C34878D82A}">
                    <a16:rowId xmlns:a16="http://schemas.microsoft.com/office/drawing/2014/main" val="2622524291"/>
                  </a:ext>
                </a:extLst>
              </a:tr>
              <a:tr h="352357">
                <a:tc>
                  <a:txBody>
                    <a:bodyPr/>
                    <a:lstStyle/>
                    <a:p>
                      <a:r>
                        <a:rPr lang="en-US" altLang="zh-HK" sz="1800" dirty="0"/>
                        <a:t>Question</a:t>
                      </a:r>
                      <a:endParaRPr lang="zh-HK" altLang="en-US" sz="1800" dirty="0"/>
                    </a:p>
                  </a:txBody>
                  <a:tcPr/>
                </a:tc>
                <a:tc gridSpan="6">
                  <a:txBody>
                    <a:bodyPr/>
                    <a:lstStyle/>
                    <a:p>
                      <a:pPr algn="ctr"/>
                      <a:r>
                        <a:rPr lang="zh-TW" altLang="zh-HK" sz="1800" kern="1200" dirty="0">
                          <a:solidFill>
                            <a:schemeClr val="dk1"/>
                          </a:solidFill>
                          <a:effectLst/>
                          <a:latin typeface="+mn-lt"/>
                          <a:ea typeface="+mn-ea"/>
                          <a:cs typeface="+mn-cs"/>
                        </a:rPr>
                        <a:t>電傳轉帳是甚麼</a:t>
                      </a:r>
                      <a:r>
                        <a:rPr lang="en-US" altLang="zh-HK" sz="1800" kern="1200" dirty="0">
                          <a:solidFill>
                            <a:schemeClr val="dk1"/>
                          </a:solidFill>
                          <a:effectLst/>
                          <a:latin typeface="+mn-lt"/>
                          <a:ea typeface="+mn-ea"/>
                          <a:cs typeface="+mn-cs"/>
                        </a:rPr>
                        <a:t>?</a:t>
                      </a:r>
                      <a:endParaRPr lang="zh-HK" altLang="en-US" sz="1800" dirty="0"/>
                    </a:p>
                  </a:txBody>
                  <a:tcPr/>
                </a:tc>
                <a:tc hMerge="1">
                  <a:txBody>
                    <a:bodyPr/>
                    <a:lstStyle/>
                    <a:p>
                      <a:endParaRPr lang="zh-HK" altLang="en-US" dirty="0"/>
                    </a:p>
                  </a:txBody>
                  <a:tcPr/>
                </a:tc>
                <a:tc hMerge="1">
                  <a:txBody>
                    <a:bodyPr/>
                    <a:lstStyle/>
                    <a:p>
                      <a:endParaRPr lang="zh-HK" altLang="en-US" dirty="0"/>
                    </a:p>
                  </a:txBody>
                  <a:tcPr/>
                </a:tc>
                <a:tc hMerge="1">
                  <a:txBody>
                    <a:bodyPr/>
                    <a:lstStyle/>
                    <a:p>
                      <a:endParaRPr lang="zh-HK" altLang="en-US" dirty="0"/>
                    </a:p>
                  </a:txBody>
                  <a:tcPr/>
                </a:tc>
                <a:tc hMerge="1">
                  <a:txBody>
                    <a:bodyPr/>
                    <a:lstStyle/>
                    <a:p>
                      <a:endParaRPr lang="zh-HK" altLang="en-US"/>
                    </a:p>
                  </a:txBody>
                  <a:tcPr/>
                </a:tc>
                <a:tc hMerge="1">
                  <a:txBody>
                    <a:bodyPr/>
                    <a:lstStyle/>
                    <a:p>
                      <a:endParaRPr lang="zh-HK" altLang="en-US" dirty="0"/>
                    </a:p>
                  </a:txBody>
                  <a:tcPr/>
                </a:tc>
                <a:extLst>
                  <a:ext uri="{0D108BD9-81ED-4DB2-BD59-A6C34878D82A}">
                    <a16:rowId xmlns:a16="http://schemas.microsoft.com/office/drawing/2014/main" val="3555245861"/>
                  </a:ext>
                </a:extLst>
              </a:tr>
              <a:tr h="616625">
                <a:tc>
                  <a:txBody>
                    <a:bodyPr/>
                    <a:lstStyle/>
                    <a:p>
                      <a:r>
                        <a:rPr lang="en-US" altLang="zh-HK" sz="1800" dirty="0"/>
                        <a:t>Target Response</a:t>
                      </a:r>
                      <a:endParaRPr lang="zh-HK" altLang="en-US" sz="1800" dirty="0"/>
                    </a:p>
                  </a:txBody>
                  <a:tcPr/>
                </a:tc>
                <a:tc gridSpan="6">
                  <a:txBody>
                    <a:bodyPr/>
                    <a:lstStyle/>
                    <a:p>
                      <a:r>
                        <a:rPr lang="zh-TW" altLang="en-US" sz="1800" dirty="0"/>
                        <a:t>電傳轉帳是由一間機構代表某人藉電子方式進行的交易，目的是將某筆金錢轉往某間機構以提供予該人或另一人，而無論是否有一間或多於一間其他機構參與完成有關金錢轉帳。</a:t>
                      </a:r>
                      <a:endParaRPr lang="zh-HK" altLang="en-US" sz="1800" dirty="0"/>
                    </a:p>
                  </a:txBody>
                  <a:tcPr/>
                </a:tc>
                <a:tc hMerge="1">
                  <a:txBody>
                    <a:bodyPr/>
                    <a:lstStyle/>
                    <a:p>
                      <a:endParaRPr lang="zh-HK" altLang="en-US"/>
                    </a:p>
                  </a:txBody>
                  <a:tcPr/>
                </a:tc>
                <a:tc hMerge="1">
                  <a:txBody>
                    <a:bodyPr/>
                    <a:lstStyle/>
                    <a:p>
                      <a:endParaRPr lang="zh-HK" altLang="en-US" dirty="0"/>
                    </a:p>
                  </a:txBody>
                  <a:tcPr/>
                </a:tc>
                <a:tc hMerge="1">
                  <a:txBody>
                    <a:bodyPr/>
                    <a:lstStyle/>
                    <a:p>
                      <a:endParaRPr lang="zh-HK" altLang="en-US" dirty="0"/>
                    </a:p>
                  </a:txBody>
                  <a:tcPr/>
                </a:tc>
                <a:tc hMerge="1">
                  <a:txBody>
                    <a:bodyPr/>
                    <a:lstStyle/>
                    <a:p>
                      <a:endParaRPr lang="zh-HK" altLang="en-US"/>
                    </a:p>
                  </a:txBody>
                  <a:tcPr/>
                </a:tc>
                <a:tc hMerge="1">
                  <a:txBody>
                    <a:bodyPr/>
                    <a:lstStyle/>
                    <a:p>
                      <a:endParaRPr lang="zh-HK" altLang="en-US" dirty="0"/>
                    </a:p>
                  </a:txBody>
                  <a:tcPr/>
                </a:tc>
                <a:extLst>
                  <a:ext uri="{0D108BD9-81ED-4DB2-BD59-A6C34878D82A}">
                    <a16:rowId xmlns:a16="http://schemas.microsoft.com/office/drawing/2014/main" val="2520214947"/>
                  </a:ext>
                </a:extLst>
              </a:tr>
              <a:tr h="352357">
                <a:tc>
                  <a:txBody>
                    <a:bodyPr/>
                    <a:lstStyle/>
                    <a:p>
                      <a:r>
                        <a:rPr lang="en-US" altLang="zh-HK" sz="1800" dirty="0"/>
                        <a:t>Method</a:t>
                      </a:r>
                      <a:endParaRPr lang="zh-HK" altLang="en-US" sz="1800" dirty="0"/>
                    </a:p>
                  </a:txBody>
                  <a:tcPr/>
                </a:tc>
                <a:tc>
                  <a:txBody>
                    <a:bodyPr/>
                    <a:lstStyle/>
                    <a:p>
                      <a:pPr algn="ctr"/>
                      <a:r>
                        <a:rPr lang="en-US" altLang="zh-HK" sz="1800" dirty="0"/>
                        <a:t>No RAG</a:t>
                      </a:r>
                      <a:endParaRPr lang="zh-HK" altLang="en-US" sz="1800" dirty="0"/>
                    </a:p>
                  </a:txBody>
                  <a:tcPr/>
                </a:tc>
                <a:tc>
                  <a:txBody>
                    <a:bodyPr/>
                    <a:lstStyle/>
                    <a:p>
                      <a:pPr algn="ctr"/>
                      <a:r>
                        <a:rPr lang="en-US" altLang="zh-HK" sz="1800" dirty="0"/>
                        <a:t>RAG</a:t>
                      </a:r>
                      <a:endParaRPr lang="zh-HK" altLang="en-US" sz="1800" dirty="0"/>
                    </a:p>
                  </a:txBody>
                  <a:tcPr/>
                </a:tc>
                <a:tc>
                  <a:txBody>
                    <a:bodyPr/>
                    <a:lstStyle/>
                    <a:p>
                      <a:pPr algn="ctr"/>
                      <a:r>
                        <a:rPr lang="en-US" altLang="zh-HK" sz="1800" dirty="0"/>
                        <a:t>No RAG</a:t>
                      </a:r>
                      <a:endParaRPr lang="zh-HK" altLang="en-US" sz="1800" dirty="0"/>
                    </a:p>
                  </a:txBody>
                  <a:tcPr/>
                </a:tc>
                <a:tc>
                  <a:txBody>
                    <a:bodyPr/>
                    <a:lstStyle/>
                    <a:p>
                      <a:pPr algn="ctr"/>
                      <a:r>
                        <a:rPr lang="en-US" altLang="zh-HK" sz="1800" dirty="0"/>
                        <a:t>RAG</a:t>
                      </a:r>
                      <a:endParaRPr lang="zh-HK" altLang="en-US" sz="1800" dirty="0"/>
                    </a:p>
                  </a:txBody>
                  <a:tcPr/>
                </a:tc>
                <a:tc>
                  <a:txBody>
                    <a:bodyPr/>
                    <a:lstStyle/>
                    <a:p>
                      <a:pPr algn="ctr"/>
                      <a:r>
                        <a:rPr lang="en-US" altLang="zh-HK" sz="1800"/>
                        <a:t>No RAG</a:t>
                      </a:r>
                      <a:endParaRPr lang="zh-HK" altLang="en-US" sz="1800" dirty="0"/>
                    </a:p>
                  </a:txBody>
                  <a:tcPr/>
                </a:tc>
                <a:tc>
                  <a:txBody>
                    <a:bodyPr/>
                    <a:lstStyle/>
                    <a:p>
                      <a:pPr algn="ctr"/>
                      <a:r>
                        <a:rPr lang="en-US" altLang="zh-HK" sz="1800" dirty="0"/>
                        <a:t>RAG</a:t>
                      </a:r>
                      <a:endParaRPr lang="zh-HK" altLang="en-US" sz="1800" dirty="0"/>
                    </a:p>
                  </a:txBody>
                  <a:tcPr/>
                </a:tc>
                <a:extLst>
                  <a:ext uri="{0D108BD9-81ED-4DB2-BD59-A6C34878D82A}">
                    <a16:rowId xmlns:a16="http://schemas.microsoft.com/office/drawing/2014/main" val="1455048885"/>
                  </a:ext>
                </a:extLst>
              </a:tr>
              <a:tr h="3170064">
                <a:tc>
                  <a:txBody>
                    <a:bodyPr/>
                    <a:lstStyle/>
                    <a:p>
                      <a:r>
                        <a:rPr lang="en-US" altLang="zh-HK" sz="1800" dirty="0"/>
                        <a:t>LLM Response</a:t>
                      </a:r>
                      <a:endParaRPr lang="zh-HK" altLang="en-US" sz="1800" dirty="0"/>
                    </a:p>
                  </a:txBody>
                  <a:tcPr/>
                </a:tc>
                <a:tc>
                  <a:txBody>
                    <a:bodyPr/>
                    <a:lstStyle/>
                    <a:p>
                      <a:r>
                        <a:rPr lang="zh-TW" altLang="en-US" sz="1200" dirty="0"/>
                        <a:t>電傳轉帳，簡稱電匯，是一種通過銀行電訊網路進行資金轉移的方式。 它比傳統的支票或匯票更快更有效率，因為資金幾乎是即時轉帳的。 你需要提供收款人的銀行帳戶資訊，例如帳號、銀行名稱、</a:t>
                      </a:r>
                      <a:r>
                        <a:rPr lang="en-US" altLang="zh-TW" sz="1200" dirty="0"/>
                        <a:t>SWIFT</a:t>
                      </a:r>
                      <a:r>
                        <a:rPr lang="zh-TW" altLang="en-US" sz="1200" dirty="0"/>
                        <a:t>代碼（國際銀行識別碼）等等，才能完成電匯。 電匯通常會收取一定的費用，費用會根據轉帳金額和銀行而有所不同。 總之，電匯是一種方便快捷的國際或國內資金轉帳方式。</a:t>
                      </a:r>
                      <a:endParaRPr lang="zh-HK" altLang="en-US" sz="12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TW" altLang="en-US" sz="1200" dirty="0"/>
                        <a:t>電傳轉帳是一種電子交易方式。匯款機構代表匯款人，將款項透過電子方式轉到收款機構（可能是匯款機構本身或其他機構），最終交付給收款人。過程中可能涉及其他中介機構參與。 認可機構若僅作為匯款人或收款人，而非扮演匯款機構、中介機構或收款機構的角色，則無需遵守相關規定。 簡單來說，電傳轉帳就是一種電子化的資金轉移方式。</a:t>
                      </a:r>
                      <a:endParaRPr lang="zh-HK" altLang="en-US" sz="1200" dirty="0"/>
                    </a:p>
                  </a:txBody>
                  <a:tcPr/>
                </a:tc>
                <a:tc>
                  <a:txBody>
                    <a:bodyPr/>
                    <a:lstStyle/>
                    <a:p>
                      <a:r>
                        <a:rPr lang="zh-TW" altLang="en-US" sz="1200" dirty="0"/>
                        <a:t>電傳轉帳是一種電子支付方式</a:t>
                      </a:r>
                      <a:r>
                        <a:rPr lang="en-US" altLang="zh-TW" sz="1200" dirty="0"/>
                        <a:t>,</a:t>
                      </a:r>
                      <a:r>
                        <a:rPr lang="zh-TW" altLang="en-US" sz="1200" dirty="0"/>
                        <a:t>用於轉移電子金錢。它允許用戶跨銀行或支付系統進行即時電匯交易</a:t>
                      </a:r>
                      <a:r>
                        <a:rPr lang="en-US" altLang="zh-TW" sz="1200" dirty="0"/>
                        <a:t>,</a:t>
                      </a:r>
                      <a:r>
                        <a:rPr lang="zh-TW" altLang="en-US" sz="1200" dirty="0"/>
                        <a:t>簡化了傳統匯款流程。</a:t>
                      </a:r>
                      <a:endParaRPr lang="zh-HK" altLang="en-US" sz="1200" dirty="0"/>
                    </a:p>
                  </a:txBody>
                  <a:tcPr/>
                </a:tc>
                <a:tc>
                  <a:txBody>
                    <a:bodyPr/>
                    <a:lstStyle/>
                    <a:p>
                      <a:r>
                        <a:rPr lang="zh-TW" altLang="zh-HK" sz="1200" kern="1200" dirty="0">
                          <a:solidFill>
                            <a:schemeClr val="dk1"/>
                          </a:solidFill>
                          <a:effectLst/>
                          <a:latin typeface="+mn-lt"/>
                          <a:ea typeface="+mn-ea"/>
                          <a:cs typeface="+mn-cs"/>
                        </a:rPr>
                        <a:t>電傳轉帳是由匯款機構代表匯款人以電子方式進行的交易，將資金從一個國家的銀行帳戶轉至另一個國家的銀行帳戶，通常透過</a:t>
                      </a:r>
                      <a:r>
                        <a:rPr lang="en-US" altLang="zh-HK" sz="1200" kern="1200" dirty="0">
                          <a:solidFill>
                            <a:schemeClr val="dk1"/>
                          </a:solidFill>
                          <a:effectLst/>
                          <a:latin typeface="+mn-lt"/>
                          <a:ea typeface="+mn-ea"/>
                          <a:cs typeface="+mn-cs"/>
                        </a:rPr>
                        <a:t>SWIFT</a:t>
                      </a:r>
                      <a:r>
                        <a:rPr lang="zh-TW" altLang="zh-HK" sz="1200" kern="1200" dirty="0">
                          <a:solidFill>
                            <a:schemeClr val="dk1"/>
                          </a:solidFill>
                          <a:effectLst/>
                          <a:latin typeface="+mn-lt"/>
                          <a:ea typeface="+mn-ea"/>
                          <a:cs typeface="+mn-cs"/>
                        </a:rPr>
                        <a:t>系統完成，具備快速和安全的特點，但可能涉及手續費。如果認可機構是以匯款人或收款人的身分進行電傳轉帳，而非作為匯款機構、中介機構或收款機構，則無需遵守附表</a:t>
                      </a:r>
                      <a:r>
                        <a:rPr lang="en-US" altLang="zh-HK" sz="1200" kern="1200" dirty="0">
                          <a:solidFill>
                            <a:schemeClr val="dk1"/>
                          </a:solidFill>
                          <a:effectLst/>
                          <a:latin typeface="+mn-lt"/>
                          <a:ea typeface="+mn-ea"/>
                          <a:cs typeface="+mn-cs"/>
                        </a:rPr>
                        <a:t>2</a:t>
                      </a:r>
                      <a:r>
                        <a:rPr lang="zh-TW" altLang="zh-HK" sz="1200" kern="1200" dirty="0">
                          <a:solidFill>
                            <a:schemeClr val="dk1"/>
                          </a:solidFill>
                          <a:effectLst/>
                          <a:latin typeface="+mn-lt"/>
                          <a:ea typeface="+mn-ea"/>
                          <a:cs typeface="+mn-cs"/>
                        </a:rPr>
                        <a:t>第</a:t>
                      </a:r>
                      <a:r>
                        <a:rPr lang="en-US" altLang="zh-HK" sz="1200" kern="1200" dirty="0">
                          <a:solidFill>
                            <a:schemeClr val="dk1"/>
                          </a:solidFill>
                          <a:effectLst/>
                          <a:latin typeface="+mn-lt"/>
                          <a:ea typeface="+mn-ea"/>
                          <a:cs typeface="+mn-cs"/>
                        </a:rPr>
                        <a:t>12</a:t>
                      </a:r>
                      <a:r>
                        <a:rPr lang="zh-TW" altLang="zh-HK" sz="1200" kern="1200" dirty="0">
                          <a:solidFill>
                            <a:schemeClr val="dk1"/>
                          </a:solidFill>
                          <a:effectLst/>
                          <a:latin typeface="+mn-lt"/>
                          <a:ea typeface="+mn-ea"/>
                          <a:cs typeface="+mn-cs"/>
                        </a:rPr>
                        <a:t>條的規定或相關指引。整個過程可包括一間或多間中介機構協助完成資金轉移。</a:t>
                      </a:r>
                      <a:endParaRPr lang="zh-HK" altLang="en-US" sz="1200" dirty="0"/>
                    </a:p>
                  </a:txBody>
                  <a:tcPr/>
                </a:tc>
                <a:tc>
                  <a:txBody>
                    <a:bodyPr/>
                    <a:lstStyle/>
                    <a:p>
                      <a:r>
                        <a:rPr lang="zh-TW" altLang="en-US" sz="1200"/>
                        <a:t>電傳轉帳是一種透過電子網路將資金從一個銀行帳戶轉移到另一個銀行帳戶的付款方式。它是一種快速、安全且方便的轉帳方式，通常比傳統的支票或現金轉帳更快。電傳轉帳通常需要提供轉帳人的銀行帳戶資訊，例如帳戶號碼和銀行代碼，以及收款人的銀行帳戶資訊。</a:t>
                      </a:r>
                      <a:endParaRPr lang="zh-HK" altLang="en-US" sz="1200" dirty="0"/>
                    </a:p>
                  </a:txBody>
                  <a:tcPr/>
                </a:tc>
                <a:tc>
                  <a:txBody>
                    <a:bodyPr/>
                    <a:lstStyle/>
                    <a:p>
                      <a:r>
                        <a:rPr lang="zh-TW" altLang="en-US" sz="1200" dirty="0"/>
                        <a:t>電傳轉帳是指透過電子方式，由一間機構代表某人將金錢轉往另一機構，以提供給特定收款人。</a:t>
                      </a:r>
                      <a:endParaRPr lang="zh-HK" altLang="en-US" sz="1200" dirty="0"/>
                    </a:p>
                  </a:txBody>
                  <a:tcPr/>
                </a:tc>
                <a:extLst>
                  <a:ext uri="{0D108BD9-81ED-4DB2-BD59-A6C34878D82A}">
                    <a16:rowId xmlns:a16="http://schemas.microsoft.com/office/drawing/2014/main" val="3576670084"/>
                  </a:ext>
                </a:extLst>
              </a:tr>
              <a:tr h="266667">
                <a:tc>
                  <a:txBody>
                    <a:bodyPr/>
                    <a:lstStyle/>
                    <a:p>
                      <a:r>
                        <a:rPr lang="en-US" altLang="zh-HK" sz="1800" dirty="0"/>
                        <a:t>METEOR</a:t>
                      </a:r>
                      <a:endParaRPr lang="zh-HK" altLang="en-US" sz="1800" dirty="0"/>
                    </a:p>
                  </a:txBody>
                  <a:tcPr/>
                </a:tc>
                <a:tc>
                  <a:txBody>
                    <a:bodyPr/>
                    <a:lstStyle/>
                    <a:p>
                      <a:r>
                        <a:rPr lang="en-US" altLang="zh-HK" sz="1800" dirty="0"/>
                        <a:t>0.1518</a:t>
                      </a:r>
                      <a:endParaRPr lang="zh-HK" altLang="en-US" sz="1800"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HK" dirty="0"/>
                        <a:t>0.2902</a:t>
                      </a:r>
                      <a:endParaRPr lang="zh-HK" altLang="en-US" sz="1800" dirty="0"/>
                    </a:p>
                  </a:txBody>
                  <a:tcPr/>
                </a:tc>
                <a:tc>
                  <a:txBody>
                    <a:bodyPr/>
                    <a:lstStyle/>
                    <a:p>
                      <a:r>
                        <a:rPr lang="en-US" altLang="zh-HK" sz="1800" dirty="0"/>
                        <a:t>0.1097</a:t>
                      </a:r>
                      <a:endParaRPr lang="zh-HK" altLang="en-US" sz="1800" dirty="0"/>
                    </a:p>
                  </a:txBody>
                  <a:tcPr/>
                </a:tc>
                <a:tc>
                  <a:txBody>
                    <a:bodyPr/>
                    <a:lstStyle/>
                    <a:p>
                      <a:r>
                        <a:rPr lang="en-US" altLang="zh-HK" dirty="0"/>
                        <a:t>0.3145</a:t>
                      </a:r>
                      <a:endParaRPr lang="zh-HK" altLang="en-US" sz="1800" dirty="0"/>
                    </a:p>
                  </a:txBody>
                  <a:tcPr/>
                </a:tc>
                <a:tc>
                  <a:txBody>
                    <a:bodyPr/>
                    <a:lstStyle/>
                    <a:p>
                      <a:r>
                        <a:rPr lang="en-US" altLang="zh-HK" dirty="0"/>
                        <a:t>0.1706</a:t>
                      </a:r>
                      <a:endParaRPr lang="zh-HK" altLang="en-US" sz="1800" dirty="0"/>
                    </a:p>
                  </a:txBody>
                  <a:tcPr/>
                </a:tc>
                <a:tc>
                  <a:txBody>
                    <a:bodyPr/>
                    <a:lstStyle/>
                    <a:p>
                      <a:r>
                        <a:rPr lang="en-US" altLang="zh-HK" dirty="0"/>
                        <a:t>0.2625</a:t>
                      </a:r>
                      <a:endParaRPr lang="zh-HK" altLang="en-US" sz="1800" dirty="0"/>
                    </a:p>
                  </a:txBody>
                  <a:tcPr/>
                </a:tc>
                <a:extLst>
                  <a:ext uri="{0D108BD9-81ED-4DB2-BD59-A6C34878D82A}">
                    <a16:rowId xmlns:a16="http://schemas.microsoft.com/office/drawing/2014/main" val="2848456388"/>
                  </a:ext>
                </a:extLst>
              </a:tr>
            </a:tbl>
          </a:graphicData>
        </a:graphic>
      </p:graphicFrame>
      <p:sp>
        <p:nvSpPr>
          <p:cNvPr id="3" name="投影片編號版面配置區 2">
            <a:extLst>
              <a:ext uri="{FF2B5EF4-FFF2-40B4-BE49-F238E27FC236}">
                <a16:creationId xmlns:a16="http://schemas.microsoft.com/office/drawing/2014/main" id="{6C05C5B2-5896-4635-B657-5C733F8E5D10}"/>
              </a:ext>
            </a:extLst>
          </p:cNvPr>
          <p:cNvSpPr>
            <a:spLocks noGrp="1"/>
          </p:cNvSpPr>
          <p:nvPr>
            <p:ph type="sldNum" sz="quarter" idx="12"/>
          </p:nvPr>
        </p:nvSpPr>
        <p:spPr/>
        <p:txBody>
          <a:bodyPr/>
          <a:lstStyle/>
          <a:p>
            <a:fld id="{DB17CEA6-17B5-4347-86B2-9520D0409059}" type="slidenum">
              <a:rPr lang="zh-HK" altLang="en-US" smtClean="0"/>
              <a:t>21</a:t>
            </a:fld>
            <a:endParaRPr lang="zh-HK" altLang="en-US"/>
          </a:p>
        </p:txBody>
      </p:sp>
    </p:spTree>
    <p:extLst>
      <p:ext uri="{BB962C8B-B14F-4D97-AF65-F5344CB8AC3E}">
        <p14:creationId xmlns:p14="http://schemas.microsoft.com/office/powerpoint/2010/main" val="17258707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22DC-EFB4-8E26-5949-DA6F911FD364}"/>
              </a:ext>
            </a:extLst>
          </p:cNvPr>
          <p:cNvSpPr>
            <a:spLocks noGrp="1"/>
          </p:cNvSpPr>
          <p:nvPr>
            <p:ph type="title"/>
          </p:nvPr>
        </p:nvSpPr>
        <p:spPr>
          <a:xfrm>
            <a:off x="646111" y="452718"/>
            <a:ext cx="9404723" cy="801924"/>
          </a:xfrm>
        </p:spPr>
        <p:txBody>
          <a:bodyPr/>
          <a:lstStyle/>
          <a:p>
            <a:r>
              <a:rPr lang="en-US" altLang="zh-HK" dirty="0"/>
              <a:t>Discussion (LLMs Comparison)</a:t>
            </a:r>
            <a:endParaRPr lang="zh-HK" altLang="en-US" dirty="0"/>
          </a:p>
        </p:txBody>
      </p:sp>
      <p:sp>
        <p:nvSpPr>
          <p:cNvPr id="3" name="Content Placeholder 2">
            <a:extLst>
              <a:ext uri="{FF2B5EF4-FFF2-40B4-BE49-F238E27FC236}">
                <a16:creationId xmlns:a16="http://schemas.microsoft.com/office/drawing/2014/main" id="{10FDE542-88FF-3003-A0CF-2A8115BB5B2C}"/>
              </a:ext>
            </a:extLst>
          </p:cNvPr>
          <p:cNvSpPr>
            <a:spLocks noGrp="1"/>
          </p:cNvSpPr>
          <p:nvPr>
            <p:ph idx="1"/>
          </p:nvPr>
        </p:nvSpPr>
        <p:spPr>
          <a:xfrm>
            <a:off x="1103312" y="1254642"/>
            <a:ext cx="8946541" cy="4993757"/>
          </a:xfrm>
        </p:spPr>
        <p:txBody>
          <a:bodyPr>
            <a:normAutofit/>
          </a:bodyPr>
          <a:lstStyle/>
          <a:p>
            <a:r>
              <a:rPr lang="en-US" altLang="zh-HK" sz="2200" dirty="0"/>
              <a:t>Top 3 LLMs on RAG Accuracy:</a:t>
            </a:r>
          </a:p>
          <a:p>
            <a:pPr marL="685800" lvl="1">
              <a:buFont typeface="Wingdings" panose="05000000000000000000" pitchFamily="2" charset="2"/>
              <a:buChar char="Ø"/>
            </a:pPr>
            <a:r>
              <a:rPr lang="en-US" altLang="zh-HK" sz="2200" dirty="0"/>
              <a:t>Gemma 2 9B it</a:t>
            </a:r>
          </a:p>
          <a:p>
            <a:pPr marL="685800" lvl="1">
              <a:buFont typeface="Wingdings" panose="05000000000000000000" pitchFamily="2" charset="2"/>
              <a:buChar char="Ø"/>
            </a:pPr>
            <a:r>
              <a:rPr lang="en-US" altLang="zh-HK" sz="2200" dirty="0"/>
              <a:t>Llama 3.2 11B Instruct</a:t>
            </a:r>
          </a:p>
          <a:p>
            <a:pPr marL="685800" lvl="1">
              <a:buFont typeface="Wingdings" panose="05000000000000000000" pitchFamily="2" charset="2"/>
              <a:buChar char="Ø"/>
            </a:pPr>
            <a:r>
              <a:rPr lang="en-US" altLang="zh-HK" sz="2200" dirty="0"/>
              <a:t>Yi 1.5 9B Chat</a:t>
            </a:r>
            <a:endParaRPr lang="pl-PL" altLang="zh-HK" sz="2200" dirty="0"/>
          </a:p>
          <a:p>
            <a:r>
              <a:rPr lang="en-US" altLang="zh-HK" sz="2200" dirty="0"/>
              <a:t>Instructed-tuned models generally have better accuracy in both no-rag and rag tasks than their base model</a:t>
            </a:r>
          </a:p>
          <a:p>
            <a:r>
              <a:rPr lang="en-US" altLang="zh-HK" sz="2200" dirty="0"/>
              <a:t>200 maximum output tokens maybe proper</a:t>
            </a:r>
          </a:p>
          <a:p>
            <a:pPr lvl="1"/>
            <a:r>
              <a:rPr lang="en-US" altLang="zh-HK" sz="2000" dirty="0"/>
              <a:t>Since top three LLMs on RAG accuracy do not have the largest output tokens</a:t>
            </a:r>
            <a:endParaRPr lang="zh-HK" altLang="en-US" sz="2000" dirty="0"/>
          </a:p>
        </p:txBody>
      </p:sp>
      <p:sp>
        <p:nvSpPr>
          <p:cNvPr id="4" name="投影片編號版面配置區 3">
            <a:extLst>
              <a:ext uri="{FF2B5EF4-FFF2-40B4-BE49-F238E27FC236}">
                <a16:creationId xmlns:a16="http://schemas.microsoft.com/office/drawing/2014/main" id="{7C181674-57DA-4F0C-83E8-3864206B0736}"/>
              </a:ext>
            </a:extLst>
          </p:cNvPr>
          <p:cNvSpPr>
            <a:spLocks noGrp="1"/>
          </p:cNvSpPr>
          <p:nvPr>
            <p:ph type="sldNum" sz="quarter" idx="12"/>
          </p:nvPr>
        </p:nvSpPr>
        <p:spPr/>
        <p:txBody>
          <a:bodyPr/>
          <a:lstStyle/>
          <a:p>
            <a:fld id="{DB17CEA6-17B5-4347-86B2-9520D0409059}" type="slidenum">
              <a:rPr lang="zh-HK" altLang="en-US" smtClean="0"/>
              <a:t>22</a:t>
            </a:fld>
            <a:endParaRPr lang="zh-HK" altLang="en-US"/>
          </a:p>
        </p:txBody>
      </p:sp>
    </p:spTree>
    <p:extLst>
      <p:ext uri="{BB962C8B-B14F-4D97-AF65-F5344CB8AC3E}">
        <p14:creationId xmlns:p14="http://schemas.microsoft.com/office/powerpoint/2010/main" val="26641546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22DC-EFB4-8E26-5949-DA6F911FD364}"/>
              </a:ext>
            </a:extLst>
          </p:cNvPr>
          <p:cNvSpPr>
            <a:spLocks noGrp="1"/>
          </p:cNvSpPr>
          <p:nvPr>
            <p:ph type="title"/>
          </p:nvPr>
        </p:nvSpPr>
        <p:spPr>
          <a:xfrm>
            <a:off x="646111" y="452718"/>
            <a:ext cx="9404723" cy="801924"/>
          </a:xfrm>
        </p:spPr>
        <p:txBody>
          <a:bodyPr/>
          <a:lstStyle/>
          <a:p>
            <a:r>
              <a:rPr lang="en-US" altLang="zh-HK" dirty="0"/>
              <a:t>Discussion (No RAG vs RAG)</a:t>
            </a:r>
            <a:endParaRPr lang="zh-HK" altLang="en-US" dirty="0"/>
          </a:p>
        </p:txBody>
      </p:sp>
      <p:sp>
        <p:nvSpPr>
          <p:cNvPr id="3" name="Content Placeholder 2">
            <a:extLst>
              <a:ext uri="{FF2B5EF4-FFF2-40B4-BE49-F238E27FC236}">
                <a16:creationId xmlns:a16="http://schemas.microsoft.com/office/drawing/2014/main" id="{10FDE542-88FF-3003-A0CF-2A8115BB5B2C}"/>
              </a:ext>
            </a:extLst>
          </p:cNvPr>
          <p:cNvSpPr>
            <a:spLocks noGrp="1"/>
          </p:cNvSpPr>
          <p:nvPr>
            <p:ph idx="1"/>
          </p:nvPr>
        </p:nvSpPr>
        <p:spPr>
          <a:xfrm>
            <a:off x="1103312" y="1254642"/>
            <a:ext cx="8946541" cy="4993757"/>
          </a:xfrm>
        </p:spPr>
        <p:txBody>
          <a:bodyPr>
            <a:normAutofit fontScale="92500" lnSpcReduction="10000"/>
          </a:bodyPr>
          <a:lstStyle/>
          <a:p>
            <a:r>
              <a:rPr lang="pl-PL" altLang="zh-HK" sz="2200" b="1" dirty="0"/>
              <a:t>No RAG Response</a:t>
            </a:r>
            <a:r>
              <a:rPr lang="en-US" altLang="zh-HK" sz="2200" b="1" dirty="0"/>
              <a:t> (Baseline)</a:t>
            </a:r>
            <a:r>
              <a:rPr lang="pl-PL" altLang="zh-HK" sz="2200" dirty="0"/>
              <a:t>:</a:t>
            </a:r>
            <a:endParaRPr lang="en-US" altLang="zh-HK" sz="2200" dirty="0"/>
          </a:p>
          <a:p>
            <a:pPr lvl="1"/>
            <a:r>
              <a:rPr lang="en-US" altLang="zh-HK" sz="2200" dirty="0"/>
              <a:t>Generally have lower accuracy and higher efficiency than RAG</a:t>
            </a:r>
          </a:p>
          <a:p>
            <a:pPr lvl="1"/>
            <a:r>
              <a:rPr lang="en-US" altLang="zh-HK" sz="2200" dirty="0"/>
              <a:t>Limited Knowledge</a:t>
            </a:r>
          </a:p>
          <a:p>
            <a:pPr lvl="2"/>
            <a:r>
              <a:rPr lang="en-US" altLang="zh-HK" sz="2200" dirty="0"/>
              <a:t>Relies only on the LLM’s pre-trained knowledge</a:t>
            </a:r>
          </a:p>
          <a:p>
            <a:pPr lvl="2"/>
            <a:r>
              <a:rPr lang="en-US" altLang="zh-HK" sz="2200" dirty="0"/>
              <a:t>Example: Struggles to provide precise details about "telegraphic transfer" without external context.</a:t>
            </a:r>
            <a:endParaRPr lang="pl-PL" altLang="zh-HK" sz="2200" dirty="0"/>
          </a:p>
          <a:p>
            <a:r>
              <a:rPr lang="pl-PL" altLang="zh-HK" sz="2200" b="1" dirty="0"/>
              <a:t>RAG Response</a:t>
            </a:r>
            <a:r>
              <a:rPr lang="pl-PL" altLang="zh-HK" sz="2200" dirty="0"/>
              <a:t>:</a:t>
            </a:r>
          </a:p>
          <a:p>
            <a:pPr lvl="1"/>
            <a:r>
              <a:rPr lang="en-US" altLang="zh-HK" sz="2200" dirty="0"/>
              <a:t>Generally have higher accuracy and lower efficiency than RAG</a:t>
            </a:r>
          </a:p>
          <a:p>
            <a:pPr lvl="1"/>
            <a:r>
              <a:rPr lang="en-US" altLang="zh-HK" sz="2200" dirty="0"/>
              <a:t>Incorporates Relevant Context</a:t>
            </a:r>
          </a:p>
          <a:p>
            <a:pPr lvl="2"/>
            <a:r>
              <a:rPr lang="en-US" altLang="zh-HK" sz="2200" dirty="0"/>
              <a:t>Retrieves domain-specific documents to ground the LLM’s responses</a:t>
            </a:r>
          </a:p>
          <a:p>
            <a:pPr lvl="2"/>
            <a:r>
              <a:rPr lang="en-US" altLang="zh-HK" sz="2200" dirty="0"/>
              <a:t>Example: RAG responses included precise explanations about telegraphic transfers by leveraging retrieved content.</a:t>
            </a:r>
          </a:p>
          <a:p>
            <a:pPr lvl="2"/>
            <a:endParaRPr lang="pl-PL" altLang="zh-HK" dirty="0"/>
          </a:p>
          <a:p>
            <a:endParaRPr lang="zh-HK" altLang="en-US" dirty="0"/>
          </a:p>
        </p:txBody>
      </p:sp>
      <p:sp>
        <p:nvSpPr>
          <p:cNvPr id="4" name="投影片編號版面配置區 3">
            <a:extLst>
              <a:ext uri="{FF2B5EF4-FFF2-40B4-BE49-F238E27FC236}">
                <a16:creationId xmlns:a16="http://schemas.microsoft.com/office/drawing/2014/main" id="{7C181674-57DA-4F0C-83E8-3864206B0736}"/>
              </a:ext>
            </a:extLst>
          </p:cNvPr>
          <p:cNvSpPr>
            <a:spLocks noGrp="1"/>
          </p:cNvSpPr>
          <p:nvPr>
            <p:ph type="sldNum" sz="quarter" idx="12"/>
          </p:nvPr>
        </p:nvSpPr>
        <p:spPr/>
        <p:txBody>
          <a:bodyPr/>
          <a:lstStyle/>
          <a:p>
            <a:fld id="{DB17CEA6-17B5-4347-86B2-9520D0409059}" type="slidenum">
              <a:rPr lang="zh-HK" altLang="en-US" smtClean="0"/>
              <a:t>23</a:t>
            </a:fld>
            <a:endParaRPr lang="zh-HK" altLang="en-US"/>
          </a:p>
        </p:txBody>
      </p:sp>
    </p:spTree>
    <p:extLst>
      <p:ext uri="{BB962C8B-B14F-4D97-AF65-F5344CB8AC3E}">
        <p14:creationId xmlns:p14="http://schemas.microsoft.com/office/powerpoint/2010/main" val="31322959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22DC-EFB4-8E26-5949-DA6F911FD364}"/>
              </a:ext>
            </a:extLst>
          </p:cNvPr>
          <p:cNvSpPr>
            <a:spLocks noGrp="1"/>
          </p:cNvSpPr>
          <p:nvPr>
            <p:ph type="title"/>
          </p:nvPr>
        </p:nvSpPr>
        <p:spPr>
          <a:xfrm>
            <a:off x="646111" y="452718"/>
            <a:ext cx="9404723" cy="801924"/>
          </a:xfrm>
        </p:spPr>
        <p:txBody>
          <a:bodyPr/>
          <a:lstStyle/>
          <a:p>
            <a:r>
              <a:rPr lang="en-US" altLang="zh-HK" dirty="0"/>
              <a:t>Limitation of Basic RAG Method</a:t>
            </a:r>
            <a:endParaRPr lang="zh-HK" altLang="en-US" dirty="0"/>
          </a:p>
        </p:txBody>
      </p:sp>
      <p:sp>
        <p:nvSpPr>
          <p:cNvPr id="3" name="Content Placeholder 2">
            <a:extLst>
              <a:ext uri="{FF2B5EF4-FFF2-40B4-BE49-F238E27FC236}">
                <a16:creationId xmlns:a16="http://schemas.microsoft.com/office/drawing/2014/main" id="{10FDE542-88FF-3003-A0CF-2A8115BB5B2C}"/>
              </a:ext>
            </a:extLst>
          </p:cNvPr>
          <p:cNvSpPr>
            <a:spLocks noGrp="1"/>
          </p:cNvSpPr>
          <p:nvPr>
            <p:ph idx="1"/>
          </p:nvPr>
        </p:nvSpPr>
        <p:spPr>
          <a:xfrm>
            <a:off x="1082047" y="1411525"/>
            <a:ext cx="10220362" cy="4993757"/>
          </a:xfrm>
        </p:spPr>
        <p:txBody>
          <a:bodyPr>
            <a:noAutofit/>
          </a:bodyPr>
          <a:lstStyle/>
          <a:p>
            <a:r>
              <a:rPr lang="en-US" altLang="zh-HK" sz="2200" b="1" dirty="0">
                <a:latin typeface="Arial" panose="020B0604020202020204" pitchFamily="34" charset="0"/>
                <a:cs typeface="Arial" panose="020B0604020202020204" pitchFamily="34" charset="0"/>
              </a:rPr>
              <a:t>Faithfulness</a:t>
            </a:r>
            <a:r>
              <a:rPr lang="pl-PL" altLang="zh-HK" sz="2200" dirty="0">
                <a:latin typeface="Arial" panose="020B0604020202020204" pitchFamily="34" charset="0"/>
                <a:cs typeface="Arial" panose="020B0604020202020204" pitchFamily="34" charset="0"/>
              </a:rPr>
              <a:t>:</a:t>
            </a:r>
            <a:r>
              <a:rPr lang="en-US" altLang="zh-HK" sz="2200" dirty="0">
                <a:latin typeface="Arial" panose="020B0604020202020204" pitchFamily="34" charset="0"/>
                <a:cs typeface="Arial" panose="020B0604020202020204" pitchFamily="34" charset="0"/>
              </a:rPr>
              <a:t> The response may </a:t>
            </a:r>
            <a:r>
              <a:rPr lang="pl-PL" altLang="zh-HK" sz="2200" dirty="0">
                <a:latin typeface="Arial" panose="020B0604020202020204" pitchFamily="34" charset="0"/>
                <a:cs typeface="Arial" panose="020B0604020202020204" pitchFamily="34" charset="0"/>
              </a:rPr>
              <a:t>omit key details from the retrieved content</a:t>
            </a:r>
            <a:endParaRPr lang="en-US" altLang="zh-HK" sz="2200" dirty="0">
              <a:latin typeface="Arial" panose="020B0604020202020204" pitchFamily="34" charset="0"/>
              <a:cs typeface="Arial" panose="020B0604020202020204" pitchFamily="34" charset="0"/>
            </a:endParaRPr>
          </a:p>
          <a:p>
            <a:pPr lvl="1"/>
            <a:r>
              <a:rPr lang="en-US" altLang="zh-HK" sz="2200" dirty="0">
                <a:latin typeface="Arial" panose="020B0604020202020204" pitchFamily="34" charset="0"/>
                <a:cs typeface="Arial" panose="020B0604020202020204" pitchFamily="34" charset="0"/>
              </a:rPr>
              <a:t>E.g. Response from </a:t>
            </a:r>
            <a:r>
              <a:rPr lang="pl-PL" altLang="zh-HK" sz="2200" dirty="0">
                <a:latin typeface="Arial" panose="020B0604020202020204" pitchFamily="34" charset="0"/>
                <a:cs typeface="Arial" panose="020B0604020202020204" pitchFamily="34" charset="0"/>
              </a:rPr>
              <a:t>Llama (RAG)</a:t>
            </a:r>
            <a:r>
              <a:rPr lang="en-US" altLang="zh-HK" sz="2200" dirty="0">
                <a:latin typeface="Arial" panose="020B0604020202020204" pitchFamily="34" charset="0"/>
                <a:cs typeface="Arial" panose="020B0604020202020204" pitchFamily="34" charset="0"/>
              </a:rPr>
              <a:t> </a:t>
            </a:r>
            <a:r>
              <a:rPr lang="pl-PL" altLang="zh-HK" sz="2200" dirty="0">
                <a:latin typeface="Arial" panose="020B0604020202020204" pitchFamily="34" charset="0"/>
                <a:cs typeface="Arial" panose="020B0604020202020204" pitchFamily="34" charset="0"/>
              </a:rPr>
              <a:t>the potential involvement of intermediary institutions ("</a:t>
            </a:r>
            <a:r>
              <a:rPr lang="zh-HK" altLang="en-US" sz="2200" dirty="0">
                <a:latin typeface="Arial" panose="020B0604020202020204" pitchFamily="34" charset="0"/>
                <a:cs typeface="Arial" panose="020B0604020202020204" pitchFamily="34" charset="0"/>
              </a:rPr>
              <a:t>中介機構</a:t>
            </a:r>
            <a:r>
              <a:rPr lang="en-US" altLang="zh-HK" sz="2200" dirty="0">
                <a:latin typeface="Arial" panose="020B0604020202020204" pitchFamily="34" charset="0"/>
                <a:cs typeface="Arial" panose="020B0604020202020204" pitchFamily="34" charset="0"/>
              </a:rPr>
              <a:t>"). </a:t>
            </a:r>
            <a:r>
              <a:rPr lang="pl-PL" altLang="zh-HK" sz="2200" dirty="0">
                <a:latin typeface="Arial" panose="020B0604020202020204" pitchFamily="34" charset="0"/>
                <a:cs typeface="Arial" panose="020B0604020202020204" pitchFamily="34" charset="0"/>
              </a:rPr>
              <a:t>It only partially explains the roles of remitting and receiving institutions.</a:t>
            </a:r>
          </a:p>
          <a:p>
            <a:pPr lvl="1"/>
            <a:r>
              <a:rPr lang="pl-PL" altLang="zh-HK" sz="2200" dirty="0">
                <a:latin typeface="Arial" panose="020B0604020202020204" pitchFamily="34" charset="0"/>
                <a:cs typeface="Arial" panose="020B0604020202020204" pitchFamily="34" charset="0"/>
              </a:rPr>
              <a:t>Missing key elements lowers recall, as the response fails to include all relevant details present in the target response </a:t>
            </a:r>
            <a:r>
              <a:rPr lang="en-US" altLang="zh-HK" sz="2200" dirty="0">
                <a:latin typeface="Arial" panose="020B0604020202020204" pitchFamily="34" charset="0"/>
                <a:cs typeface="Arial" panose="020B0604020202020204" pitchFamily="34" charset="0"/>
              </a:rPr>
              <a:t>Limited Knowledge</a:t>
            </a:r>
          </a:p>
          <a:p>
            <a:r>
              <a:rPr lang="en-US" altLang="zh-HK" sz="2200" b="1" dirty="0">
                <a:latin typeface="Arial" panose="020B0604020202020204" pitchFamily="34" charset="0"/>
                <a:cs typeface="Arial" panose="020B0604020202020204" pitchFamily="34" charset="0"/>
              </a:rPr>
              <a:t>Answer Relevant</a:t>
            </a:r>
            <a:r>
              <a:rPr lang="pl-PL" altLang="zh-HK" sz="2200" dirty="0">
                <a:latin typeface="Arial" panose="020B0604020202020204" pitchFamily="34" charset="0"/>
                <a:cs typeface="Arial" panose="020B0604020202020204" pitchFamily="34" charset="0"/>
              </a:rPr>
              <a:t>:</a:t>
            </a:r>
            <a:r>
              <a:rPr lang="en-US" altLang="zh-HK" sz="2200" dirty="0">
                <a:latin typeface="Arial" panose="020B0604020202020204" pitchFamily="34" charset="0"/>
                <a:cs typeface="Arial" panose="020B0604020202020204" pitchFamily="34" charset="0"/>
              </a:rPr>
              <a:t>The response maybe</a:t>
            </a:r>
            <a:r>
              <a:rPr lang="pl-PL" altLang="zh-HK" sz="2200" dirty="0">
                <a:latin typeface="Arial" panose="020B0604020202020204" pitchFamily="34" charset="0"/>
                <a:cs typeface="Arial" panose="020B0604020202020204" pitchFamily="34" charset="0"/>
              </a:rPr>
              <a:t> verbose, over-elaborating on intermediary institutions and roles. </a:t>
            </a:r>
            <a:r>
              <a:rPr lang="en-US" altLang="zh-HK" sz="2200" dirty="0">
                <a:latin typeface="Arial" panose="020B0604020202020204" pitchFamily="34" charset="0"/>
                <a:cs typeface="Arial" panose="020B0604020202020204" pitchFamily="34" charset="0"/>
              </a:rPr>
              <a:t>Incorporates Relevant Context. </a:t>
            </a:r>
          </a:p>
          <a:p>
            <a:pPr lvl="1"/>
            <a:r>
              <a:rPr lang="en-US" altLang="zh-HK" sz="2200" dirty="0">
                <a:latin typeface="Arial" panose="020B0604020202020204" pitchFamily="34" charset="0"/>
                <a:cs typeface="Arial" panose="020B0604020202020204" pitchFamily="34" charset="0"/>
              </a:rPr>
              <a:t>E.g. </a:t>
            </a:r>
            <a:r>
              <a:rPr lang="pl-PL" altLang="zh-HK" sz="2200" dirty="0">
                <a:latin typeface="Arial" panose="020B0604020202020204" pitchFamily="34" charset="0"/>
                <a:cs typeface="Arial" panose="020B0604020202020204" pitchFamily="34" charset="0"/>
              </a:rPr>
              <a:t>"</a:t>
            </a:r>
            <a:r>
              <a:rPr lang="zh-HK" altLang="en-US" sz="2200" dirty="0">
                <a:latin typeface="Arial" panose="020B0604020202020204" pitchFamily="34" charset="0"/>
                <a:cs typeface="Arial" panose="020B0604020202020204" pitchFamily="34" charset="0"/>
              </a:rPr>
              <a:t>中介機構也可能參與</a:t>
            </a:r>
            <a:r>
              <a:rPr lang="en-US" altLang="zh-HK" sz="2200" dirty="0">
                <a:latin typeface="Arial" panose="020B0604020202020204" pitchFamily="34" charset="0"/>
                <a:cs typeface="Arial" panose="020B0604020202020204" pitchFamily="34" charset="0"/>
              </a:rPr>
              <a:t>" in </a:t>
            </a:r>
            <a:r>
              <a:rPr lang="pl-PL" altLang="zh-HK" sz="2200" dirty="0">
                <a:latin typeface="Arial" panose="020B0604020202020204" pitchFamily="34" charset="0"/>
                <a:cs typeface="Arial" panose="020B0604020202020204" pitchFamily="34" charset="0"/>
              </a:rPr>
              <a:t>Llama (RAG) </a:t>
            </a:r>
            <a:r>
              <a:rPr lang="en-US" altLang="zh-HK" sz="2200" dirty="0">
                <a:latin typeface="Arial" panose="020B0604020202020204" pitchFamily="34" charset="0"/>
                <a:cs typeface="Arial" panose="020B0604020202020204" pitchFamily="34" charset="0"/>
              </a:rPr>
              <a:t>(</a:t>
            </a:r>
            <a:r>
              <a:rPr lang="pl-PL" altLang="zh-HK" sz="2200" dirty="0">
                <a:latin typeface="Arial" panose="020B0604020202020204" pitchFamily="34" charset="0"/>
                <a:cs typeface="Arial" panose="020B0604020202020204" pitchFamily="34" charset="0"/>
              </a:rPr>
              <a:t>intermediary institutions may also participate) is accurate but unnecessarily elaborated. </a:t>
            </a:r>
          </a:p>
          <a:p>
            <a:pPr lvl="1"/>
            <a:r>
              <a:rPr lang="pl-PL" altLang="zh-HK" sz="2200" dirty="0">
                <a:latin typeface="Arial" panose="020B0604020202020204" pitchFamily="34" charset="0"/>
                <a:cs typeface="Arial" panose="020B0604020202020204" pitchFamily="34" charset="0"/>
              </a:rPr>
              <a:t>Verbose responses include extraneous content that reduces precision and alignment with the target response's brevity.</a:t>
            </a:r>
            <a:endParaRPr lang="zh-HK" altLang="en-US" sz="2200" dirty="0">
              <a:latin typeface="Arial" panose="020B0604020202020204" pitchFamily="34" charset="0"/>
              <a:cs typeface="Arial" panose="020B0604020202020204" pitchFamily="34" charset="0"/>
            </a:endParaRPr>
          </a:p>
        </p:txBody>
      </p:sp>
      <p:sp>
        <p:nvSpPr>
          <p:cNvPr id="4" name="投影片編號版面配置區 3">
            <a:extLst>
              <a:ext uri="{FF2B5EF4-FFF2-40B4-BE49-F238E27FC236}">
                <a16:creationId xmlns:a16="http://schemas.microsoft.com/office/drawing/2014/main" id="{FB4BFBDF-9686-4671-97FE-E56BAA6DEE27}"/>
              </a:ext>
            </a:extLst>
          </p:cNvPr>
          <p:cNvSpPr>
            <a:spLocks noGrp="1"/>
          </p:cNvSpPr>
          <p:nvPr>
            <p:ph type="sldNum" sz="quarter" idx="12"/>
          </p:nvPr>
        </p:nvSpPr>
        <p:spPr/>
        <p:txBody>
          <a:bodyPr/>
          <a:lstStyle/>
          <a:p>
            <a:fld id="{DB17CEA6-17B5-4347-86B2-9520D0409059}" type="slidenum">
              <a:rPr lang="zh-HK" altLang="en-US" smtClean="0"/>
              <a:t>24</a:t>
            </a:fld>
            <a:endParaRPr lang="zh-HK" altLang="en-US"/>
          </a:p>
        </p:txBody>
      </p:sp>
    </p:spTree>
    <p:extLst>
      <p:ext uri="{BB962C8B-B14F-4D97-AF65-F5344CB8AC3E}">
        <p14:creationId xmlns:p14="http://schemas.microsoft.com/office/powerpoint/2010/main" val="12427394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被移到培養皿中的樣本">
            <a:extLst>
              <a:ext uri="{FF2B5EF4-FFF2-40B4-BE49-F238E27FC236}">
                <a16:creationId xmlns:a16="http://schemas.microsoft.com/office/drawing/2014/main" id="{F1CB6107-FB0E-9758-3B78-EB68BC9FC4EC}"/>
              </a:ext>
            </a:extLst>
          </p:cNvPr>
          <p:cNvPicPr>
            <a:picLocks noChangeAspect="1"/>
          </p:cNvPicPr>
          <p:nvPr/>
        </p:nvPicPr>
        <p:blipFill>
          <a:blip r:embed="rId2"/>
          <a:srcRect l="47791" r="3357" b="-2"/>
          <a:stretch/>
        </p:blipFill>
        <p:spPr>
          <a:xfrm>
            <a:off x="20" y="10"/>
            <a:ext cx="4481944" cy="6857990"/>
          </a:xfrm>
          <a:custGeom>
            <a:avLst/>
            <a:gdLst/>
            <a:ahLst/>
            <a:cxnLst/>
            <a:rect l="l" t="t" r="r" b="b"/>
            <a:pathLst>
              <a:path w="4481964" h="6858000">
                <a:moveTo>
                  <a:pt x="0" y="0"/>
                </a:moveTo>
                <a:lnTo>
                  <a:pt x="3137249" y="0"/>
                </a:lnTo>
                <a:lnTo>
                  <a:pt x="4480787" y="0"/>
                </a:lnTo>
                <a:lnTo>
                  <a:pt x="4455742" y="155676"/>
                </a:lnTo>
                <a:lnTo>
                  <a:pt x="4431873" y="310667"/>
                </a:lnTo>
                <a:lnTo>
                  <a:pt x="4408509" y="466344"/>
                </a:lnTo>
                <a:lnTo>
                  <a:pt x="4388506" y="622706"/>
                </a:lnTo>
                <a:lnTo>
                  <a:pt x="4368335" y="778383"/>
                </a:lnTo>
                <a:lnTo>
                  <a:pt x="4349509" y="934745"/>
                </a:lnTo>
                <a:lnTo>
                  <a:pt x="4333373" y="1089050"/>
                </a:lnTo>
                <a:lnTo>
                  <a:pt x="4318077" y="1245413"/>
                </a:lnTo>
                <a:lnTo>
                  <a:pt x="4304125" y="1401089"/>
                </a:lnTo>
                <a:lnTo>
                  <a:pt x="4292023" y="1554023"/>
                </a:lnTo>
                <a:lnTo>
                  <a:pt x="4279920" y="1709013"/>
                </a:lnTo>
                <a:lnTo>
                  <a:pt x="4269835" y="1861947"/>
                </a:lnTo>
                <a:lnTo>
                  <a:pt x="4261935" y="2014880"/>
                </a:lnTo>
                <a:lnTo>
                  <a:pt x="4253698" y="2167128"/>
                </a:lnTo>
                <a:lnTo>
                  <a:pt x="4246807" y="2318004"/>
                </a:lnTo>
                <a:lnTo>
                  <a:pt x="4241932" y="2467508"/>
                </a:lnTo>
                <a:lnTo>
                  <a:pt x="4237730" y="2617013"/>
                </a:lnTo>
                <a:lnTo>
                  <a:pt x="4233696" y="2765145"/>
                </a:lnTo>
                <a:lnTo>
                  <a:pt x="4231847" y="2911221"/>
                </a:lnTo>
                <a:lnTo>
                  <a:pt x="4229830" y="3057296"/>
                </a:lnTo>
                <a:lnTo>
                  <a:pt x="4228821" y="3201314"/>
                </a:lnTo>
                <a:lnTo>
                  <a:pt x="4229830" y="3343960"/>
                </a:lnTo>
                <a:lnTo>
                  <a:pt x="4229830" y="3485235"/>
                </a:lnTo>
                <a:lnTo>
                  <a:pt x="4231847" y="3625138"/>
                </a:lnTo>
                <a:lnTo>
                  <a:pt x="4234872" y="3762298"/>
                </a:lnTo>
                <a:lnTo>
                  <a:pt x="4237730" y="3898087"/>
                </a:lnTo>
                <a:lnTo>
                  <a:pt x="4240924" y="4031132"/>
                </a:lnTo>
                <a:lnTo>
                  <a:pt x="4245798" y="4163491"/>
                </a:lnTo>
                <a:lnTo>
                  <a:pt x="4251009" y="4293793"/>
                </a:lnTo>
                <a:lnTo>
                  <a:pt x="4255715" y="4421352"/>
                </a:lnTo>
                <a:lnTo>
                  <a:pt x="4268995" y="4670298"/>
                </a:lnTo>
                <a:lnTo>
                  <a:pt x="4283114" y="4908956"/>
                </a:lnTo>
                <a:lnTo>
                  <a:pt x="4297906" y="5138013"/>
                </a:lnTo>
                <a:lnTo>
                  <a:pt x="4314211" y="5354726"/>
                </a:lnTo>
                <a:lnTo>
                  <a:pt x="4331188" y="5561838"/>
                </a:lnTo>
                <a:lnTo>
                  <a:pt x="4349509" y="5753862"/>
                </a:lnTo>
                <a:lnTo>
                  <a:pt x="4367495" y="5934227"/>
                </a:lnTo>
                <a:lnTo>
                  <a:pt x="4385480" y="6100191"/>
                </a:lnTo>
                <a:lnTo>
                  <a:pt x="4402457" y="6252438"/>
                </a:lnTo>
                <a:lnTo>
                  <a:pt x="4418594" y="6387541"/>
                </a:lnTo>
                <a:lnTo>
                  <a:pt x="4433890" y="6509613"/>
                </a:lnTo>
                <a:lnTo>
                  <a:pt x="4446665" y="6612483"/>
                </a:lnTo>
                <a:lnTo>
                  <a:pt x="4458767" y="6698894"/>
                </a:lnTo>
                <a:lnTo>
                  <a:pt x="4476081" y="6817538"/>
                </a:lnTo>
                <a:lnTo>
                  <a:pt x="4481964" y="6858000"/>
                </a:lnTo>
                <a:lnTo>
                  <a:pt x="3577807" y="6858000"/>
                </a:lnTo>
                <a:lnTo>
                  <a:pt x="0" y="6858000"/>
                </a:lnTo>
                <a:close/>
              </a:path>
            </a:pathLst>
          </a:custGeom>
        </p:spPr>
      </p:pic>
      <p:sp>
        <p:nvSpPr>
          <p:cNvPr id="6" name="TextBox 5">
            <a:extLst>
              <a:ext uri="{FF2B5EF4-FFF2-40B4-BE49-F238E27FC236}">
                <a16:creationId xmlns:a16="http://schemas.microsoft.com/office/drawing/2014/main" id="{F9617E2F-AD65-FA83-232D-9464CD18C12A}"/>
              </a:ext>
            </a:extLst>
          </p:cNvPr>
          <p:cNvSpPr txBox="1"/>
          <p:nvPr/>
        </p:nvSpPr>
        <p:spPr>
          <a:xfrm>
            <a:off x="5410950" y="2669685"/>
            <a:ext cx="6181610" cy="3578714"/>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altLang="zh-HK" sz="4200" dirty="0">
                <a:latin typeface="+mj-lt"/>
                <a:ea typeface="+mj-ea"/>
                <a:cs typeface="+mj-cs"/>
              </a:rPr>
              <a:t>Experiment 2: </a:t>
            </a:r>
          </a:p>
          <a:p>
            <a:pPr>
              <a:spcBef>
                <a:spcPts val="1000"/>
              </a:spcBef>
              <a:buClr>
                <a:schemeClr val="bg2">
                  <a:lumMod val="40000"/>
                  <a:lumOff val="60000"/>
                </a:schemeClr>
              </a:buClr>
              <a:buSzPct val="80000"/>
              <a:buFont typeface="Wingdings 3" charset="2"/>
              <a:buChar char=""/>
            </a:pPr>
            <a:r>
              <a:rPr lang="en-US" altLang="zh-HK" sz="2400" dirty="0"/>
              <a:t>Comparison of Different RAG Methods</a:t>
            </a:r>
            <a:endParaRPr lang="en-US" altLang="zh-HK" sz="2400" dirty="0">
              <a:latin typeface="+mj-lt"/>
              <a:ea typeface="+mj-ea"/>
              <a:cs typeface="+mj-cs"/>
            </a:endParaRPr>
          </a:p>
        </p:txBody>
      </p:sp>
      <p:sp>
        <p:nvSpPr>
          <p:cNvPr id="2" name="投影片編號版面配置區 1">
            <a:extLst>
              <a:ext uri="{FF2B5EF4-FFF2-40B4-BE49-F238E27FC236}">
                <a16:creationId xmlns:a16="http://schemas.microsoft.com/office/drawing/2014/main" id="{83BACB1B-175F-4842-BA40-0C82C9420A6E}"/>
              </a:ext>
            </a:extLst>
          </p:cNvPr>
          <p:cNvSpPr>
            <a:spLocks noGrp="1"/>
          </p:cNvSpPr>
          <p:nvPr>
            <p:ph type="sldNum" sz="quarter" idx="12"/>
          </p:nvPr>
        </p:nvSpPr>
        <p:spPr/>
        <p:txBody>
          <a:bodyPr/>
          <a:lstStyle/>
          <a:p>
            <a:fld id="{DB17CEA6-17B5-4347-86B2-9520D0409059}" type="slidenum">
              <a:rPr lang="zh-HK" altLang="en-US" smtClean="0"/>
              <a:t>25</a:t>
            </a:fld>
            <a:endParaRPr lang="zh-HK" altLang="en-US"/>
          </a:p>
        </p:txBody>
      </p:sp>
    </p:spTree>
    <p:extLst>
      <p:ext uri="{BB962C8B-B14F-4D97-AF65-F5344CB8AC3E}">
        <p14:creationId xmlns:p14="http://schemas.microsoft.com/office/powerpoint/2010/main" val="3232476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Description</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a:xfrm>
            <a:off x="1240927" y="1694794"/>
            <a:ext cx="10304962" cy="4805082"/>
          </a:xfrm>
        </p:spPr>
        <p:txBody>
          <a:bodyPr>
            <a:noAutofit/>
          </a:bodyPr>
          <a:lstStyle/>
          <a:p>
            <a:r>
              <a:rPr lang="en-US" altLang="zh-HK" sz="2200" dirty="0"/>
              <a:t>Objective: Comparison of different RAG frameworks to enhance the overall performance of the chatbot system</a:t>
            </a:r>
          </a:p>
          <a:p>
            <a:r>
              <a:rPr lang="en-US" altLang="zh-HK" sz="2200" dirty="0"/>
              <a:t>Test Set: 27 Questions (Same as experiment 1)</a:t>
            </a:r>
          </a:p>
          <a:p>
            <a:r>
              <a:rPr lang="en-US" altLang="zh-HK" sz="2200" dirty="0"/>
              <a:t>Methodology</a:t>
            </a:r>
          </a:p>
          <a:p>
            <a:pPr lvl="1"/>
            <a:r>
              <a:rPr lang="en-US" altLang="zh-HK" sz="2200" b="1" dirty="0"/>
              <a:t>RAG</a:t>
            </a:r>
            <a:r>
              <a:rPr lang="en-US" altLang="zh-HK" sz="2200" dirty="0"/>
              <a:t> alternatives </a:t>
            </a:r>
          </a:p>
          <a:p>
            <a:r>
              <a:rPr lang="en-US" altLang="zh-HK" sz="2200" dirty="0"/>
              <a:t>Evaluation Metrics</a:t>
            </a:r>
          </a:p>
          <a:p>
            <a:pPr lvl="1"/>
            <a:r>
              <a:rPr lang="en-US" altLang="zh-HK" sz="2200" dirty="0"/>
              <a:t> </a:t>
            </a:r>
            <a:r>
              <a:rPr lang="en-US" altLang="zh-HK" sz="2200" b="1" dirty="0"/>
              <a:t>Accuracy,</a:t>
            </a:r>
            <a:r>
              <a:rPr lang="en-US" altLang="zh-HK" sz="2200" dirty="0"/>
              <a:t> </a:t>
            </a:r>
            <a:r>
              <a:rPr lang="en-US" altLang="zh-HK" sz="2200" b="1" dirty="0"/>
              <a:t>Efficiency</a:t>
            </a:r>
            <a:r>
              <a:rPr lang="en-US" altLang="zh-HK" sz="2200" dirty="0"/>
              <a:t> (Same as experiment 1) </a:t>
            </a:r>
          </a:p>
          <a:p>
            <a:pPr lvl="1"/>
            <a:r>
              <a:rPr lang="en-US" altLang="zh-HK" sz="2200" b="1" dirty="0"/>
              <a:t>Generation Qualities</a:t>
            </a:r>
            <a:r>
              <a:rPr lang="en-US" altLang="zh-HK" sz="2200" dirty="0"/>
              <a:t> (Faithfulness &amp; Answer Relevant)</a:t>
            </a:r>
          </a:p>
          <a:p>
            <a:r>
              <a:rPr lang="en-US" altLang="zh-HK" sz="2200" dirty="0"/>
              <a:t>Goal: Select the best RAG framework for this chatbot system</a:t>
            </a:r>
          </a:p>
          <a:p>
            <a:pPr marL="0" indent="0">
              <a:buNone/>
            </a:pPr>
            <a:endParaRPr lang="en-US" altLang="zh-HK" sz="2200" dirty="0"/>
          </a:p>
        </p:txBody>
      </p:sp>
      <p:sp>
        <p:nvSpPr>
          <p:cNvPr id="4" name="投影片編號版面配置區 3">
            <a:extLst>
              <a:ext uri="{FF2B5EF4-FFF2-40B4-BE49-F238E27FC236}">
                <a16:creationId xmlns:a16="http://schemas.microsoft.com/office/drawing/2014/main" id="{7E9D9DAD-1E6E-4EBD-B1C5-57653EC9BE62}"/>
              </a:ext>
            </a:extLst>
          </p:cNvPr>
          <p:cNvSpPr>
            <a:spLocks noGrp="1"/>
          </p:cNvSpPr>
          <p:nvPr>
            <p:ph type="sldNum" sz="quarter" idx="12"/>
          </p:nvPr>
        </p:nvSpPr>
        <p:spPr/>
        <p:txBody>
          <a:bodyPr/>
          <a:lstStyle/>
          <a:p>
            <a:fld id="{DB17CEA6-17B5-4347-86B2-9520D0409059}" type="slidenum">
              <a:rPr lang="zh-HK" altLang="en-US" smtClean="0"/>
              <a:t>26</a:t>
            </a:fld>
            <a:endParaRPr lang="zh-HK" altLang="en-US"/>
          </a:p>
        </p:txBody>
      </p:sp>
    </p:spTree>
    <p:extLst>
      <p:ext uri="{BB962C8B-B14F-4D97-AF65-F5344CB8AC3E}">
        <p14:creationId xmlns:p14="http://schemas.microsoft.com/office/powerpoint/2010/main" val="28590790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A8E57D-09E9-C9CD-4BDC-415B6BCBC51F}"/>
              </a:ext>
            </a:extLst>
          </p:cNvPr>
          <p:cNvSpPr txBox="1"/>
          <p:nvPr/>
        </p:nvSpPr>
        <p:spPr>
          <a:xfrm>
            <a:off x="638619" y="196701"/>
            <a:ext cx="10472404" cy="738664"/>
          </a:xfrm>
          <a:prstGeom prst="rect">
            <a:avLst/>
          </a:prstGeom>
          <a:noFill/>
        </p:spPr>
        <p:txBody>
          <a:bodyPr wrap="square" rtlCol="0">
            <a:spAutoFit/>
          </a:bodyPr>
          <a:lstStyle/>
          <a:p>
            <a:r>
              <a:rPr lang="en-US" altLang="zh-HK" sz="4200" dirty="0"/>
              <a:t>Evaluation Metrics</a:t>
            </a:r>
            <a:endParaRPr lang="zh-HK" altLang="en-US" sz="2400" dirty="0"/>
          </a:p>
        </p:txBody>
      </p:sp>
      <p:pic>
        <p:nvPicPr>
          <p:cNvPr id="5" name="Picture 4">
            <a:extLst>
              <a:ext uri="{FF2B5EF4-FFF2-40B4-BE49-F238E27FC236}">
                <a16:creationId xmlns:a16="http://schemas.microsoft.com/office/drawing/2014/main" id="{EF2C5CE0-E9ED-8B62-6768-3556DEB857E7}"/>
              </a:ext>
            </a:extLst>
          </p:cNvPr>
          <p:cNvPicPr>
            <a:picLocks noChangeAspect="1"/>
          </p:cNvPicPr>
          <p:nvPr/>
        </p:nvPicPr>
        <p:blipFill>
          <a:blip r:embed="rId2"/>
          <a:stretch>
            <a:fillRect/>
          </a:stretch>
        </p:blipFill>
        <p:spPr>
          <a:xfrm>
            <a:off x="213360" y="1668891"/>
            <a:ext cx="6410959" cy="2423761"/>
          </a:xfrm>
          <a:prstGeom prst="rect">
            <a:avLst/>
          </a:prstGeom>
        </p:spPr>
      </p:pic>
      <p:sp>
        <p:nvSpPr>
          <p:cNvPr id="2" name="投影片編號版面配置區 1">
            <a:extLst>
              <a:ext uri="{FF2B5EF4-FFF2-40B4-BE49-F238E27FC236}">
                <a16:creationId xmlns:a16="http://schemas.microsoft.com/office/drawing/2014/main" id="{A0F113D0-D6D6-4541-BF32-30DD860B83BE}"/>
              </a:ext>
            </a:extLst>
          </p:cNvPr>
          <p:cNvSpPr>
            <a:spLocks noGrp="1"/>
          </p:cNvSpPr>
          <p:nvPr>
            <p:ph type="sldNum" sz="quarter" idx="12"/>
          </p:nvPr>
        </p:nvSpPr>
        <p:spPr/>
        <p:txBody>
          <a:bodyPr/>
          <a:lstStyle/>
          <a:p>
            <a:fld id="{DB17CEA6-17B5-4347-86B2-9520D0409059}" type="slidenum">
              <a:rPr lang="zh-HK" altLang="en-US" smtClean="0"/>
              <a:t>27</a:t>
            </a:fld>
            <a:endParaRPr lang="zh-HK" altLang="en-US"/>
          </a:p>
        </p:txBody>
      </p:sp>
      <p:sp>
        <p:nvSpPr>
          <p:cNvPr id="3" name="文字方塊 2">
            <a:extLst>
              <a:ext uri="{FF2B5EF4-FFF2-40B4-BE49-F238E27FC236}">
                <a16:creationId xmlns:a16="http://schemas.microsoft.com/office/drawing/2014/main" id="{77F98BAC-23D5-43D9-9C49-0050D9783AA3}"/>
              </a:ext>
            </a:extLst>
          </p:cNvPr>
          <p:cNvSpPr txBox="1"/>
          <p:nvPr/>
        </p:nvSpPr>
        <p:spPr>
          <a:xfrm>
            <a:off x="524819" y="1150710"/>
            <a:ext cx="10665920" cy="430887"/>
          </a:xfrm>
          <a:prstGeom prst="rect">
            <a:avLst/>
          </a:prstGeom>
          <a:noFill/>
        </p:spPr>
        <p:txBody>
          <a:bodyPr wrap="square" rtlCol="0">
            <a:spAutoFit/>
          </a:bodyPr>
          <a:lstStyle/>
          <a:p>
            <a:r>
              <a:rPr lang="en-US" altLang="zh-HK" sz="2200" dirty="0"/>
              <a:t>Generation Quality (Faithfulness) Formula:</a:t>
            </a:r>
            <a:endParaRPr lang="zh-HK" altLang="en-US" sz="2200" dirty="0"/>
          </a:p>
        </p:txBody>
      </p:sp>
      <p:pic>
        <p:nvPicPr>
          <p:cNvPr id="7" name="Picture 6" descr="一張含有 文字, 螢幕擷取畫面, 字型, 數字 的圖片&#10;&#10;Description automatically generated">
            <a:extLst>
              <a:ext uri="{FF2B5EF4-FFF2-40B4-BE49-F238E27FC236}">
                <a16:creationId xmlns:a16="http://schemas.microsoft.com/office/drawing/2014/main" id="{CF269B5A-282D-5317-8EF1-FACB3808ED25}"/>
              </a:ext>
            </a:extLst>
          </p:cNvPr>
          <p:cNvPicPr>
            <a:picLocks noChangeAspect="1"/>
          </p:cNvPicPr>
          <p:nvPr/>
        </p:nvPicPr>
        <p:blipFill>
          <a:blip r:embed="rId3"/>
          <a:stretch>
            <a:fillRect/>
          </a:stretch>
        </p:blipFill>
        <p:spPr>
          <a:xfrm>
            <a:off x="6063644" y="3198883"/>
            <a:ext cx="5914996" cy="3577573"/>
          </a:xfrm>
          <a:prstGeom prst="rect">
            <a:avLst/>
          </a:prstGeom>
        </p:spPr>
      </p:pic>
      <p:sp>
        <p:nvSpPr>
          <p:cNvPr id="8" name="文字方塊 7">
            <a:extLst>
              <a:ext uri="{FF2B5EF4-FFF2-40B4-BE49-F238E27FC236}">
                <a16:creationId xmlns:a16="http://schemas.microsoft.com/office/drawing/2014/main" id="{3E693B53-B414-4C02-829A-7AEB51506C8A}"/>
              </a:ext>
            </a:extLst>
          </p:cNvPr>
          <p:cNvSpPr txBox="1"/>
          <p:nvPr/>
        </p:nvSpPr>
        <p:spPr>
          <a:xfrm>
            <a:off x="7355839" y="2753171"/>
            <a:ext cx="4347440" cy="430887"/>
          </a:xfrm>
          <a:prstGeom prst="rect">
            <a:avLst/>
          </a:prstGeom>
          <a:noFill/>
        </p:spPr>
        <p:txBody>
          <a:bodyPr wrap="square" rtlCol="0">
            <a:spAutoFit/>
          </a:bodyPr>
          <a:lstStyle/>
          <a:p>
            <a:r>
              <a:rPr lang="en-US" altLang="zh-HK" sz="2200" dirty="0"/>
              <a:t>Prompt to use LLM as Judge</a:t>
            </a:r>
            <a:endParaRPr lang="zh-HK" altLang="en-US" sz="2200" dirty="0"/>
          </a:p>
        </p:txBody>
      </p:sp>
      <p:sp>
        <p:nvSpPr>
          <p:cNvPr id="4" name="文字方塊 3">
            <a:extLst>
              <a:ext uri="{FF2B5EF4-FFF2-40B4-BE49-F238E27FC236}">
                <a16:creationId xmlns:a16="http://schemas.microsoft.com/office/drawing/2014/main" id="{1167FE0E-6DB9-4447-B8A2-2992C855D26D}"/>
              </a:ext>
            </a:extLst>
          </p:cNvPr>
          <p:cNvSpPr txBox="1"/>
          <p:nvPr/>
        </p:nvSpPr>
        <p:spPr>
          <a:xfrm>
            <a:off x="213360" y="4557391"/>
            <a:ext cx="5710858" cy="1754326"/>
          </a:xfrm>
          <a:prstGeom prst="rect">
            <a:avLst/>
          </a:prstGeom>
          <a:noFill/>
        </p:spPr>
        <p:txBody>
          <a:bodyPr wrap="square" rtlCol="0">
            <a:spAutoFit/>
          </a:bodyPr>
          <a:lstStyle/>
          <a:p>
            <a:pPr marL="285750" indent="-285750">
              <a:buFont typeface="Wingdings" panose="05000000000000000000" pitchFamily="2" charset="2"/>
              <a:buChar char="Ø"/>
            </a:pPr>
            <a:r>
              <a:rPr lang="en-US" altLang="zh-HK" dirty="0"/>
              <a:t>Use LLM as Judge (GPT 3.5)</a:t>
            </a:r>
          </a:p>
          <a:p>
            <a:pPr marL="285750" indent="-285750">
              <a:buFont typeface="Wingdings" panose="05000000000000000000" pitchFamily="2" charset="2"/>
              <a:buChar char="Ø"/>
            </a:pPr>
            <a:r>
              <a:rPr lang="en-US" altLang="zh-HK" dirty="0"/>
              <a:t>Range from 0 to 1</a:t>
            </a:r>
          </a:p>
          <a:p>
            <a:pPr marL="742950" lvl="1" indent="-285750">
              <a:buFont typeface="Wingdings" panose="05000000000000000000" pitchFamily="2" charset="2"/>
              <a:buChar char="Ø"/>
            </a:pPr>
            <a:r>
              <a:rPr lang="en-US" altLang="zh-HK" dirty="0"/>
              <a:t>1 indicates that all claims in LLM's response can be inferred from the given context</a:t>
            </a:r>
          </a:p>
          <a:p>
            <a:pPr marL="742950" lvl="1" indent="-285750">
              <a:buFont typeface="Wingdings" panose="05000000000000000000" pitchFamily="2" charset="2"/>
              <a:buChar char="Ø"/>
            </a:pPr>
            <a:r>
              <a:rPr lang="en-US" altLang="zh-HK" dirty="0"/>
              <a:t>Lower value represent how inconsistent the model's response is from the given context</a:t>
            </a:r>
            <a:endParaRPr lang="zh-HK" altLang="en-US" dirty="0"/>
          </a:p>
        </p:txBody>
      </p:sp>
    </p:spTree>
    <p:extLst>
      <p:ext uri="{BB962C8B-B14F-4D97-AF65-F5344CB8AC3E}">
        <p14:creationId xmlns:p14="http://schemas.microsoft.com/office/powerpoint/2010/main" val="41196194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5392A-C61A-712C-5D81-ECE5E0C08342}"/>
              </a:ext>
            </a:extLst>
          </p:cNvPr>
          <p:cNvSpPr>
            <a:spLocks noGrp="1"/>
          </p:cNvSpPr>
          <p:nvPr>
            <p:ph type="title"/>
          </p:nvPr>
        </p:nvSpPr>
        <p:spPr>
          <a:xfrm>
            <a:off x="646111" y="452718"/>
            <a:ext cx="11049703" cy="865719"/>
          </a:xfrm>
        </p:spPr>
        <p:txBody>
          <a:bodyPr/>
          <a:lstStyle/>
          <a:p>
            <a:r>
              <a:rPr lang="en-US" altLang="zh-HK" dirty="0"/>
              <a:t>Evaluation Metrics</a:t>
            </a:r>
            <a:endParaRPr lang="zh-HK" altLang="en-US" sz="2400" dirty="0"/>
          </a:p>
        </p:txBody>
      </p:sp>
      <p:pic>
        <p:nvPicPr>
          <p:cNvPr id="7" name="Picture 6">
            <a:extLst>
              <a:ext uri="{FF2B5EF4-FFF2-40B4-BE49-F238E27FC236}">
                <a16:creationId xmlns:a16="http://schemas.microsoft.com/office/drawing/2014/main" id="{7A287E41-84EC-EC0A-FFD4-A2408E8024A3}"/>
              </a:ext>
            </a:extLst>
          </p:cNvPr>
          <p:cNvPicPr>
            <a:picLocks noChangeAspect="1"/>
          </p:cNvPicPr>
          <p:nvPr/>
        </p:nvPicPr>
        <p:blipFill>
          <a:blip r:embed="rId2"/>
          <a:stretch>
            <a:fillRect/>
          </a:stretch>
        </p:blipFill>
        <p:spPr>
          <a:xfrm>
            <a:off x="2357952" y="2110463"/>
            <a:ext cx="6839905" cy="2086266"/>
          </a:xfrm>
          <a:prstGeom prst="rect">
            <a:avLst/>
          </a:prstGeom>
        </p:spPr>
      </p:pic>
      <p:sp>
        <p:nvSpPr>
          <p:cNvPr id="3" name="投影片編號版面配置區 2">
            <a:extLst>
              <a:ext uri="{FF2B5EF4-FFF2-40B4-BE49-F238E27FC236}">
                <a16:creationId xmlns:a16="http://schemas.microsoft.com/office/drawing/2014/main" id="{189F8555-DDDD-4404-9B65-2D1194FCE73D}"/>
              </a:ext>
            </a:extLst>
          </p:cNvPr>
          <p:cNvSpPr>
            <a:spLocks noGrp="1"/>
          </p:cNvSpPr>
          <p:nvPr>
            <p:ph type="sldNum" sz="quarter" idx="12"/>
          </p:nvPr>
        </p:nvSpPr>
        <p:spPr/>
        <p:txBody>
          <a:bodyPr/>
          <a:lstStyle/>
          <a:p>
            <a:fld id="{DB17CEA6-17B5-4347-86B2-9520D0409059}" type="slidenum">
              <a:rPr lang="zh-HK" altLang="en-US" smtClean="0"/>
              <a:t>28</a:t>
            </a:fld>
            <a:endParaRPr lang="zh-HK" altLang="en-US"/>
          </a:p>
        </p:txBody>
      </p:sp>
      <p:sp>
        <p:nvSpPr>
          <p:cNvPr id="4" name="文字方塊 3">
            <a:extLst>
              <a:ext uri="{FF2B5EF4-FFF2-40B4-BE49-F238E27FC236}">
                <a16:creationId xmlns:a16="http://schemas.microsoft.com/office/drawing/2014/main" id="{BCBECC71-34F1-4C23-BAA3-671ABA44F7F6}"/>
              </a:ext>
            </a:extLst>
          </p:cNvPr>
          <p:cNvSpPr txBox="1"/>
          <p:nvPr/>
        </p:nvSpPr>
        <p:spPr>
          <a:xfrm>
            <a:off x="2479040" y="1522420"/>
            <a:ext cx="8077200" cy="430887"/>
          </a:xfrm>
          <a:prstGeom prst="rect">
            <a:avLst/>
          </a:prstGeom>
          <a:noFill/>
        </p:spPr>
        <p:txBody>
          <a:bodyPr wrap="square" rtlCol="0">
            <a:spAutoFit/>
          </a:bodyPr>
          <a:lstStyle/>
          <a:p>
            <a:r>
              <a:rPr lang="en-US" altLang="zh-HK" sz="2200" dirty="0"/>
              <a:t>Generation Quality (Answer Relevant) Formula:</a:t>
            </a:r>
          </a:p>
        </p:txBody>
      </p:sp>
      <p:sp>
        <p:nvSpPr>
          <p:cNvPr id="6" name="文字方塊 5">
            <a:extLst>
              <a:ext uri="{FF2B5EF4-FFF2-40B4-BE49-F238E27FC236}">
                <a16:creationId xmlns:a16="http://schemas.microsoft.com/office/drawing/2014/main" id="{B025F23E-81D8-4C3D-A34F-339C7D80CF68}"/>
              </a:ext>
            </a:extLst>
          </p:cNvPr>
          <p:cNvSpPr txBox="1"/>
          <p:nvPr/>
        </p:nvSpPr>
        <p:spPr>
          <a:xfrm>
            <a:off x="1910080" y="4511040"/>
            <a:ext cx="8077200" cy="1754326"/>
          </a:xfrm>
          <a:prstGeom prst="rect">
            <a:avLst/>
          </a:prstGeom>
          <a:noFill/>
        </p:spPr>
        <p:txBody>
          <a:bodyPr wrap="square" rtlCol="0">
            <a:spAutoFit/>
          </a:bodyPr>
          <a:lstStyle/>
          <a:p>
            <a:pPr marL="285750" indent="-285750">
              <a:buFont typeface="Wingdings" panose="05000000000000000000" pitchFamily="2" charset="2"/>
              <a:buChar char="Ø"/>
            </a:pPr>
            <a:r>
              <a:rPr lang="en-US" altLang="zh-HK" dirty="0"/>
              <a:t>Use Cosine Similarity to calculate the similarity score</a:t>
            </a:r>
          </a:p>
          <a:p>
            <a:pPr marL="285750" indent="-285750">
              <a:buFont typeface="Wingdings" panose="05000000000000000000" pitchFamily="2" charset="2"/>
              <a:buChar char="Ø"/>
            </a:pPr>
            <a:r>
              <a:rPr lang="en-US" altLang="zh-HK" dirty="0"/>
              <a:t>Range from 0 to 1</a:t>
            </a:r>
          </a:p>
          <a:p>
            <a:pPr marL="742950" lvl="1" indent="-285750">
              <a:buFont typeface="Wingdings" panose="05000000000000000000" pitchFamily="2" charset="2"/>
              <a:buChar char="Ø"/>
            </a:pPr>
            <a:r>
              <a:rPr lang="en-US" altLang="zh-HK" dirty="0"/>
              <a:t>1 indicates that all claims in LLM's response can be inferred from the given context</a:t>
            </a:r>
          </a:p>
          <a:p>
            <a:pPr marL="742950" lvl="1" indent="-285750">
              <a:buFont typeface="Wingdings" panose="05000000000000000000" pitchFamily="2" charset="2"/>
              <a:buChar char="Ø"/>
            </a:pPr>
            <a:r>
              <a:rPr lang="en-US" altLang="zh-HK" dirty="0"/>
              <a:t>Lower value represent how inconsistent the model's response is from the given context</a:t>
            </a:r>
            <a:endParaRPr lang="zh-HK" altLang="en-US" dirty="0"/>
          </a:p>
        </p:txBody>
      </p:sp>
    </p:spTree>
    <p:extLst>
      <p:ext uri="{BB962C8B-B14F-4D97-AF65-F5344CB8AC3E}">
        <p14:creationId xmlns:p14="http://schemas.microsoft.com/office/powerpoint/2010/main" val="35868288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2A34C-5E37-C319-B193-ECB2B871620D}"/>
              </a:ext>
            </a:extLst>
          </p:cNvPr>
          <p:cNvSpPr>
            <a:spLocks noGrp="1"/>
          </p:cNvSpPr>
          <p:nvPr>
            <p:ph type="title"/>
          </p:nvPr>
        </p:nvSpPr>
        <p:spPr/>
        <p:txBody>
          <a:bodyPr/>
          <a:lstStyle/>
          <a:p>
            <a:r>
              <a:rPr lang="en-US" altLang="zh-HK" dirty="0"/>
              <a:t>Methodology: RAG</a:t>
            </a:r>
            <a:endParaRPr lang="zh-HK" altLang="en-US" dirty="0"/>
          </a:p>
        </p:txBody>
      </p:sp>
      <p:sp>
        <p:nvSpPr>
          <p:cNvPr id="3" name="Content Placeholder 2">
            <a:extLst>
              <a:ext uri="{FF2B5EF4-FFF2-40B4-BE49-F238E27FC236}">
                <a16:creationId xmlns:a16="http://schemas.microsoft.com/office/drawing/2014/main" id="{628382BB-5330-F667-1754-9ABB06DD377C}"/>
              </a:ext>
            </a:extLst>
          </p:cNvPr>
          <p:cNvSpPr>
            <a:spLocks noGrp="1"/>
          </p:cNvSpPr>
          <p:nvPr>
            <p:ph idx="1"/>
          </p:nvPr>
        </p:nvSpPr>
        <p:spPr>
          <a:xfrm>
            <a:off x="7428858" y="1270590"/>
            <a:ext cx="4610742" cy="5134692"/>
          </a:xfrm>
        </p:spPr>
        <p:txBody>
          <a:bodyPr>
            <a:noAutofit/>
          </a:bodyPr>
          <a:lstStyle/>
          <a:p>
            <a:pPr marL="0" indent="0">
              <a:buNone/>
            </a:pPr>
            <a:r>
              <a:rPr lang="en-US" altLang="zh-HK" sz="2200" b="1" dirty="0"/>
              <a:t>Summary</a:t>
            </a:r>
            <a:r>
              <a:rPr lang="en-US" altLang="zh-HK" sz="2200" dirty="0"/>
              <a:t>: </a:t>
            </a:r>
          </a:p>
          <a:p>
            <a:pPr>
              <a:buFont typeface="Wingdings" panose="05000000000000000000" pitchFamily="2" charset="2"/>
              <a:buChar char="Ø"/>
            </a:pPr>
            <a:r>
              <a:rPr lang="en-US" altLang="zh-HK" sz="1800" dirty="0"/>
              <a:t>Generate responses based on each retrieved context</a:t>
            </a:r>
          </a:p>
          <a:p>
            <a:pPr>
              <a:buFont typeface="Wingdings" panose="05000000000000000000" pitchFamily="2" charset="2"/>
              <a:buChar char="Ø"/>
            </a:pPr>
            <a:endParaRPr lang="en-US" altLang="zh-HK" sz="1800" dirty="0"/>
          </a:p>
          <a:p>
            <a:pPr>
              <a:buFont typeface="Wingdings" panose="05000000000000000000" pitchFamily="2" charset="2"/>
              <a:buChar char="Ø"/>
            </a:pPr>
            <a:r>
              <a:rPr lang="en-US" altLang="zh-HK" sz="1800" dirty="0"/>
              <a:t>Iterative self-evaluation based on whether the response is supported by retrieved context and relevant to user’s query</a:t>
            </a:r>
          </a:p>
          <a:p>
            <a:pPr>
              <a:buFont typeface="Wingdings" panose="05000000000000000000" pitchFamily="2" charset="2"/>
              <a:buChar char="Ø"/>
            </a:pPr>
            <a:endParaRPr lang="en-US" altLang="zh-HK" sz="1800" dirty="0"/>
          </a:p>
          <a:p>
            <a:pPr>
              <a:buFont typeface="Wingdings" panose="05000000000000000000" pitchFamily="2" charset="2"/>
              <a:buChar char="Ø"/>
            </a:pPr>
            <a:r>
              <a:rPr lang="en-US" altLang="zh-HK" sz="1800" dirty="0"/>
              <a:t>The best-ranked segment is used as the final response</a:t>
            </a:r>
          </a:p>
          <a:p>
            <a:pPr marL="0" indent="0">
              <a:buNone/>
            </a:pPr>
            <a:endParaRPr lang="en-US" altLang="zh-HK" sz="2200" dirty="0"/>
          </a:p>
        </p:txBody>
      </p:sp>
      <p:sp>
        <p:nvSpPr>
          <p:cNvPr id="6" name="投影片編號版面配置區 5">
            <a:extLst>
              <a:ext uri="{FF2B5EF4-FFF2-40B4-BE49-F238E27FC236}">
                <a16:creationId xmlns:a16="http://schemas.microsoft.com/office/drawing/2014/main" id="{E20C94FD-52E8-4F4C-80D4-D340D3510F2D}"/>
              </a:ext>
            </a:extLst>
          </p:cNvPr>
          <p:cNvSpPr>
            <a:spLocks noGrp="1"/>
          </p:cNvSpPr>
          <p:nvPr>
            <p:ph type="sldNum" sz="quarter" idx="12"/>
          </p:nvPr>
        </p:nvSpPr>
        <p:spPr/>
        <p:txBody>
          <a:bodyPr/>
          <a:lstStyle/>
          <a:p>
            <a:fld id="{DB17CEA6-17B5-4347-86B2-9520D0409059}" type="slidenum">
              <a:rPr lang="zh-HK" altLang="en-US" smtClean="0"/>
              <a:t>29</a:t>
            </a:fld>
            <a:endParaRPr lang="zh-HK" altLang="en-US"/>
          </a:p>
        </p:txBody>
      </p:sp>
      <p:pic>
        <p:nvPicPr>
          <p:cNvPr id="7" name="圖片 6">
            <a:extLst>
              <a:ext uri="{FF2B5EF4-FFF2-40B4-BE49-F238E27FC236}">
                <a16:creationId xmlns:a16="http://schemas.microsoft.com/office/drawing/2014/main" id="{6B5205D0-3956-4656-BFB2-07CA369F8B49}"/>
              </a:ext>
            </a:extLst>
          </p:cNvPr>
          <p:cNvPicPr>
            <a:picLocks noChangeAspect="1"/>
          </p:cNvPicPr>
          <p:nvPr/>
        </p:nvPicPr>
        <p:blipFill>
          <a:blip r:embed="rId2"/>
          <a:stretch>
            <a:fillRect/>
          </a:stretch>
        </p:blipFill>
        <p:spPr>
          <a:xfrm>
            <a:off x="266775" y="1270591"/>
            <a:ext cx="7158089" cy="4012610"/>
          </a:xfrm>
          <a:prstGeom prst="rect">
            <a:avLst/>
          </a:prstGeom>
        </p:spPr>
      </p:pic>
    </p:spTree>
    <p:extLst>
      <p:ext uri="{BB962C8B-B14F-4D97-AF65-F5344CB8AC3E}">
        <p14:creationId xmlns:p14="http://schemas.microsoft.com/office/powerpoint/2010/main" val="9056555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BC9CA4-CC4A-A696-837B-1B2F526B2120}"/>
              </a:ext>
            </a:extLst>
          </p:cNvPr>
          <p:cNvPicPr>
            <a:picLocks noChangeAspect="1"/>
          </p:cNvPicPr>
          <p:nvPr/>
        </p:nvPicPr>
        <p:blipFill>
          <a:blip r:embed="rId2"/>
          <a:stretch>
            <a:fillRect/>
          </a:stretch>
        </p:blipFill>
        <p:spPr>
          <a:xfrm>
            <a:off x="4118628" y="894563"/>
            <a:ext cx="6343792" cy="5750078"/>
          </a:xfrm>
          <a:prstGeom prst="rect">
            <a:avLst/>
          </a:prstGeom>
        </p:spPr>
      </p:pic>
      <p:sp>
        <p:nvSpPr>
          <p:cNvPr id="5" name="Title 1">
            <a:extLst>
              <a:ext uri="{FF2B5EF4-FFF2-40B4-BE49-F238E27FC236}">
                <a16:creationId xmlns:a16="http://schemas.microsoft.com/office/drawing/2014/main" id="{D24C3BD5-4827-7564-42B4-2D0C1D274A99}"/>
              </a:ext>
            </a:extLst>
          </p:cNvPr>
          <p:cNvSpPr>
            <a:spLocks noGrp="1"/>
          </p:cNvSpPr>
          <p:nvPr>
            <p:ph type="title"/>
          </p:nvPr>
        </p:nvSpPr>
        <p:spPr>
          <a:xfrm>
            <a:off x="276447" y="452717"/>
            <a:ext cx="3890553" cy="6343839"/>
          </a:xfrm>
        </p:spPr>
        <p:txBody>
          <a:bodyPr/>
          <a:lstStyle/>
          <a:p>
            <a:r>
              <a:rPr lang="en-US" altLang="zh-HK" sz="4000" dirty="0"/>
              <a:t>Methodology</a:t>
            </a:r>
            <a:br>
              <a:rPr lang="en-US" altLang="zh-HK" dirty="0"/>
            </a:br>
            <a:br>
              <a:rPr lang="en-US" altLang="zh-HK" dirty="0"/>
            </a:br>
            <a:r>
              <a:rPr lang="en-US" altLang="zh-HK" sz="2200" dirty="0"/>
              <a:t>Self-Reflective RAG</a:t>
            </a:r>
            <a:br>
              <a:rPr lang="en-US" altLang="zh-HK" sz="2200" dirty="0"/>
            </a:br>
            <a:br>
              <a:rPr lang="en-US" altLang="zh-HK" sz="2200" dirty="0"/>
            </a:br>
            <a:r>
              <a:rPr lang="en-US" altLang="zh-HK" sz="2200" dirty="0"/>
              <a:t>Prompt to use LLM to judge whether their responses are supported by the retrieved context or relevant to the answer</a:t>
            </a:r>
            <a:endParaRPr lang="zh-HK" altLang="en-US" sz="2200" dirty="0"/>
          </a:p>
        </p:txBody>
      </p:sp>
      <p:sp>
        <p:nvSpPr>
          <p:cNvPr id="2" name="投影片編號版面配置區 1">
            <a:extLst>
              <a:ext uri="{FF2B5EF4-FFF2-40B4-BE49-F238E27FC236}">
                <a16:creationId xmlns:a16="http://schemas.microsoft.com/office/drawing/2014/main" id="{2FDB5165-E831-45DE-8AC4-EA3ADB732D30}"/>
              </a:ext>
            </a:extLst>
          </p:cNvPr>
          <p:cNvSpPr>
            <a:spLocks noGrp="1"/>
          </p:cNvSpPr>
          <p:nvPr>
            <p:ph type="sldNum" sz="quarter" idx="12"/>
          </p:nvPr>
        </p:nvSpPr>
        <p:spPr/>
        <p:txBody>
          <a:bodyPr/>
          <a:lstStyle/>
          <a:p>
            <a:fld id="{DB17CEA6-17B5-4347-86B2-9520D0409059}" type="slidenum">
              <a:rPr lang="zh-HK" altLang="en-US" smtClean="0"/>
              <a:t>30</a:t>
            </a:fld>
            <a:endParaRPr lang="zh-HK" altLang="en-US"/>
          </a:p>
        </p:txBody>
      </p:sp>
    </p:spTree>
    <p:extLst>
      <p:ext uri="{BB962C8B-B14F-4D97-AF65-F5344CB8AC3E}">
        <p14:creationId xmlns:p14="http://schemas.microsoft.com/office/powerpoint/2010/main" val="41360133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5C623-40D9-0039-106B-362B64BCD53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FABBF00-29F9-9ACC-1C6B-9F77304492C9}"/>
              </a:ext>
            </a:extLst>
          </p:cNvPr>
          <p:cNvPicPr>
            <a:picLocks noChangeAspect="1"/>
          </p:cNvPicPr>
          <p:nvPr/>
        </p:nvPicPr>
        <p:blipFill>
          <a:blip r:embed="rId2"/>
          <a:stretch>
            <a:fillRect/>
          </a:stretch>
        </p:blipFill>
        <p:spPr>
          <a:xfrm>
            <a:off x="2140721" y="777883"/>
            <a:ext cx="8316486" cy="5706271"/>
          </a:xfrm>
          <a:prstGeom prst="rect">
            <a:avLst/>
          </a:prstGeom>
        </p:spPr>
      </p:pic>
      <p:sp>
        <p:nvSpPr>
          <p:cNvPr id="5" name="TextBox 4">
            <a:extLst>
              <a:ext uri="{FF2B5EF4-FFF2-40B4-BE49-F238E27FC236}">
                <a16:creationId xmlns:a16="http://schemas.microsoft.com/office/drawing/2014/main" id="{B90F4187-11EA-29EB-ACF3-99BF3422A13C}"/>
              </a:ext>
            </a:extLst>
          </p:cNvPr>
          <p:cNvSpPr txBox="1"/>
          <p:nvPr/>
        </p:nvSpPr>
        <p:spPr>
          <a:xfrm>
            <a:off x="393405" y="373846"/>
            <a:ext cx="3072809" cy="3970318"/>
          </a:xfrm>
          <a:prstGeom prst="rect">
            <a:avLst/>
          </a:prstGeom>
          <a:noFill/>
        </p:spPr>
        <p:txBody>
          <a:bodyPr wrap="square" rtlCol="0">
            <a:spAutoFit/>
          </a:bodyPr>
          <a:lstStyle/>
          <a:p>
            <a:r>
              <a:rPr lang="en-US" altLang="zh-HK" sz="4200" dirty="0"/>
              <a:t>Result</a:t>
            </a:r>
          </a:p>
          <a:p>
            <a:endParaRPr lang="en-US" altLang="zh-HK" dirty="0"/>
          </a:p>
          <a:p>
            <a:endParaRPr lang="en-US" altLang="zh-HK" dirty="0"/>
          </a:p>
          <a:p>
            <a:endParaRPr lang="en-US" altLang="zh-HK" dirty="0"/>
          </a:p>
          <a:p>
            <a:endParaRPr lang="en-US" altLang="zh-HK" dirty="0"/>
          </a:p>
          <a:p>
            <a:endParaRPr lang="en-US" altLang="zh-HK" dirty="0"/>
          </a:p>
          <a:p>
            <a:endParaRPr lang="en-US" altLang="zh-HK" sz="4000" dirty="0"/>
          </a:p>
          <a:p>
            <a:endParaRPr lang="en-US" altLang="zh-HK" sz="4000" dirty="0"/>
          </a:p>
          <a:p>
            <a:endParaRPr lang="zh-HK" altLang="en-US" sz="4000" dirty="0"/>
          </a:p>
        </p:txBody>
      </p:sp>
      <p:sp>
        <p:nvSpPr>
          <p:cNvPr id="2" name="投影片編號版面配置區 1">
            <a:extLst>
              <a:ext uri="{FF2B5EF4-FFF2-40B4-BE49-F238E27FC236}">
                <a16:creationId xmlns:a16="http://schemas.microsoft.com/office/drawing/2014/main" id="{688BE5CD-907E-43D1-A4F1-955034D6A8DE}"/>
              </a:ext>
            </a:extLst>
          </p:cNvPr>
          <p:cNvSpPr>
            <a:spLocks noGrp="1"/>
          </p:cNvSpPr>
          <p:nvPr>
            <p:ph type="sldNum" sz="quarter" idx="12"/>
          </p:nvPr>
        </p:nvSpPr>
        <p:spPr/>
        <p:txBody>
          <a:bodyPr/>
          <a:lstStyle/>
          <a:p>
            <a:fld id="{DB17CEA6-17B5-4347-86B2-9520D0409059}" type="slidenum">
              <a:rPr lang="zh-HK" altLang="en-US" smtClean="0"/>
              <a:t>31</a:t>
            </a:fld>
            <a:endParaRPr lang="zh-HK" altLang="en-US"/>
          </a:p>
        </p:txBody>
      </p:sp>
    </p:spTree>
    <p:extLst>
      <p:ext uri="{BB962C8B-B14F-4D97-AF65-F5344CB8AC3E}">
        <p14:creationId xmlns:p14="http://schemas.microsoft.com/office/powerpoint/2010/main" val="162239953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8BDD8-6589-3B23-BAAA-975C062694F8}"/>
              </a:ext>
            </a:extLst>
          </p:cNvPr>
          <p:cNvSpPr>
            <a:spLocks noGrp="1"/>
          </p:cNvSpPr>
          <p:nvPr>
            <p:ph type="title"/>
          </p:nvPr>
        </p:nvSpPr>
        <p:spPr>
          <a:xfrm>
            <a:off x="337767" y="118258"/>
            <a:ext cx="9404723" cy="1400530"/>
          </a:xfrm>
        </p:spPr>
        <p:txBody>
          <a:bodyPr/>
          <a:lstStyle/>
          <a:p>
            <a:r>
              <a:rPr lang="en-US" altLang="zh-HK" dirty="0"/>
              <a:t>Example</a:t>
            </a:r>
            <a:endParaRPr lang="zh-HK" altLang="en-US" dirty="0"/>
          </a:p>
        </p:txBody>
      </p:sp>
      <p:graphicFrame>
        <p:nvGraphicFramePr>
          <p:cNvPr id="4" name="Table 3">
            <a:extLst>
              <a:ext uri="{FF2B5EF4-FFF2-40B4-BE49-F238E27FC236}">
                <a16:creationId xmlns:a16="http://schemas.microsoft.com/office/drawing/2014/main" id="{FEAEB2FA-2B1C-AFB5-524F-4B9A7CEEAA0F}"/>
              </a:ext>
            </a:extLst>
          </p:cNvPr>
          <p:cNvGraphicFramePr>
            <a:graphicFrameLocks noGrp="1"/>
          </p:cNvGraphicFramePr>
          <p:nvPr>
            <p:extLst>
              <p:ext uri="{D42A27DB-BD31-4B8C-83A1-F6EECF244321}">
                <p14:modId xmlns:p14="http://schemas.microsoft.com/office/powerpoint/2010/main" val="1104533647"/>
              </p:ext>
            </p:extLst>
          </p:nvPr>
        </p:nvGraphicFramePr>
        <p:xfrm>
          <a:off x="176795" y="1008179"/>
          <a:ext cx="11838409" cy="5669280"/>
        </p:xfrm>
        <a:graphic>
          <a:graphicData uri="http://schemas.openxmlformats.org/drawingml/2006/table">
            <a:tbl>
              <a:tblPr firstRow="1" bandRow="1">
                <a:tableStyleId>{5C22544A-7EE6-4342-B048-85BDC9FD1C3A}</a:tableStyleId>
              </a:tblPr>
              <a:tblGrid>
                <a:gridCol w="2058777">
                  <a:extLst>
                    <a:ext uri="{9D8B030D-6E8A-4147-A177-3AD203B41FA5}">
                      <a16:colId xmlns:a16="http://schemas.microsoft.com/office/drawing/2014/main" val="3709858521"/>
                    </a:ext>
                  </a:extLst>
                </a:gridCol>
                <a:gridCol w="1976758">
                  <a:extLst>
                    <a:ext uri="{9D8B030D-6E8A-4147-A177-3AD203B41FA5}">
                      <a16:colId xmlns:a16="http://schemas.microsoft.com/office/drawing/2014/main" val="3859277215"/>
                    </a:ext>
                  </a:extLst>
                </a:gridCol>
                <a:gridCol w="1547981">
                  <a:extLst>
                    <a:ext uri="{9D8B030D-6E8A-4147-A177-3AD203B41FA5}">
                      <a16:colId xmlns:a16="http://schemas.microsoft.com/office/drawing/2014/main" val="985950381"/>
                    </a:ext>
                  </a:extLst>
                </a:gridCol>
                <a:gridCol w="2062889">
                  <a:extLst>
                    <a:ext uri="{9D8B030D-6E8A-4147-A177-3AD203B41FA5}">
                      <a16:colId xmlns:a16="http://schemas.microsoft.com/office/drawing/2014/main" val="1581930115"/>
                    </a:ext>
                  </a:extLst>
                </a:gridCol>
                <a:gridCol w="1824322">
                  <a:extLst>
                    <a:ext uri="{9D8B030D-6E8A-4147-A177-3AD203B41FA5}">
                      <a16:colId xmlns:a16="http://schemas.microsoft.com/office/drawing/2014/main" val="389122171"/>
                    </a:ext>
                  </a:extLst>
                </a:gridCol>
                <a:gridCol w="1183841">
                  <a:extLst>
                    <a:ext uri="{9D8B030D-6E8A-4147-A177-3AD203B41FA5}">
                      <a16:colId xmlns:a16="http://schemas.microsoft.com/office/drawing/2014/main" val="1045123612"/>
                    </a:ext>
                  </a:extLst>
                </a:gridCol>
                <a:gridCol w="1183841">
                  <a:extLst>
                    <a:ext uri="{9D8B030D-6E8A-4147-A177-3AD203B41FA5}">
                      <a16:colId xmlns:a16="http://schemas.microsoft.com/office/drawing/2014/main" val="2711830306"/>
                    </a:ext>
                  </a:extLst>
                </a:gridCol>
              </a:tblGrid>
              <a:tr h="318456">
                <a:tc>
                  <a:txBody>
                    <a:bodyPr/>
                    <a:lstStyle/>
                    <a:p>
                      <a:pPr algn="ctr"/>
                      <a:r>
                        <a:rPr lang="en-US" altLang="zh-HK" sz="1800" dirty="0"/>
                        <a:t>Model</a:t>
                      </a:r>
                      <a:endParaRPr lang="zh-HK" altLang="en-US" sz="1800" dirty="0"/>
                    </a:p>
                  </a:txBody>
                  <a:tcPr/>
                </a:tc>
                <a:tc gridSpan="2">
                  <a:txBody>
                    <a:bodyPr/>
                    <a:lstStyle/>
                    <a:p>
                      <a:pPr algn="ctr"/>
                      <a:r>
                        <a:rPr lang="en-US" altLang="zh-HK" sz="1800" dirty="0"/>
                        <a:t>Gemma 2 9B it</a:t>
                      </a:r>
                      <a:endParaRPr lang="zh-HK" altLang="en-US" sz="1800" dirty="0"/>
                    </a:p>
                  </a:txBody>
                  <a:tcPr/>
                </a:tc>
                <a:tc hMerge="1">
                  <a:txBody>
                    <a:bodyPr/>
                    <a:lstStyle/>
                    <a:p>
                      <a:endParaRPr lang="zh-HK" altLang="en-US" dirty="0"/>
                    </a:p>
                  </a:txBody>
                  <a:tcPr/>
                </a:tc>
                <a:tc gridSpan="2">
                  <a:txBody>
                    <a:bodyPr/>
                    <a:lstStyle/>
                    <a:p>
                      <a:pPr algn="ctr"/>
                      <a:r>
                        <a:rPr lang="en-US" altLang="zh-HK" sz="1800" dirty="0"/>
                        <a:t>Llama 3.2 11B Instruct</a:t>
                      </a:r>
                      <a:endParaRPr lang="zh-HK" altLang="en-US" sz="1800" dirty="0"/>
                    </a:p>
                  </a:txBody>
                  <a:tcPr/>
                </a:tc>
                <a:tc hMerge="1">
                  <a:txBody>
                    <a:bodyPr/>
                    <a:lstStyle/>
                    <a:p>
                      <a:endParaRPr lang="zh-HK" altLang="en-US"/>
                    </a:p>
                  </a:txBody>
                  <a:tcPr/>
                </a:tc>
                <a:tc gridSpan="2">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HK" sz="1800" dirty="0"/>
                        <a:t>Yi 1.5 9B Chat</a:t>
                      </a:r>
                      <a:endParaRPr lang="zh-HK" altLang="en-US" sz="1800" dirty="0"/>
                    </a:p>
                  </a:txBody>
                  <a:tcPr/>
                </a:tc>
                <a:tc hMerge="1">
                  <a:txBody>
                    <a:bodyPr/>
                    <a:lstStyle/>
                    <a:p>
                      <a:endParaRPr lang="zh-HK" altLang="en-US"/>
                    </a:p>
                  </a:txBody>
                  <a:tcPr/>
                </a:tc>
                <a:extLst>
                  <a:ext uri="{0D108BD9-81ED-4DB2-BD59-A6C34878D82A}">
                    <a16:rowId xmlns:a16="http://schemas.microsoft.com/office/drawing/2014/main" val="4135652742"/>
                  </a:ext>
                </a:extLst>
              </a:tr>
              <a:tr h="318456">
                <a:tc>
                  <a:txBody>
                    <a:bodyPr/>
                    <a:lstStyle/>
                    <a:p>
                      <a:r>
                        <a:rPr lang="en-US" altLang="zh-HK" sz="1800" dirty="0"/>
                        <a:t>Question</a:t>
                      </a:r>
                      <a:endParaRPr lang="zh-HK" altLang="en-US" sz="1800" dirty="0"/>
                    </a:p>
                  </a:txBody>
                  <a:tcPr/>
                </a:tc>
                <a:tc gridSpan="6">
                  <a:txBody>
                    <a:bodyPr/>
                    <a:lstStyle/>
                    <a:p>
                      <a:pPr algn="ctr"/>
                      <a:r>
                        <a:rPr lang="zh-TW" altLang="zh-HK" sz="1800" kern="1200" dirty="0">
                          <a:solidFill>
                            <a:schemeClr val="dk1"/>
                          </a:solidFill>
                          <a:effectLst/>
                          <a:latin typeface="+mn-lt"/>
                          <a:ea typeface="+mn-ea"/>
                          <a:cs typeface="+mn-cs"/>
                        </a:rPr>
                        <a:t>電傳轉帳是甚麼</a:t>
                      </a:r>
                      <a:r>
                        <a:rPr lang="en-US" altLang="zh-HK" sz="1800" kern="1200" dirty="0">
                          <a:solidFill>
                            <a:schemeClr val="dk1"/>
                          </a:solidFill>
                          <a:effectLst/>
                          <a:latin typeface="+mn-lt"/>
                          <a:ea typeface="+mn-ea"/>
                          <a:cs typeface="+mn-cs"/>
                        </a:rPr>
                        <a:t>?</a:t>
                      </a:r>
                      <a:endParaRPr lang="zh-HK" altLang="en-US" sz="1800" dirty="0"/>
                    </a:p>
                  </a:txBody>
                  <a:tcPr/>
                </a:tc>
                <a:tc hMerge="1">
                  <a:txBody>
                    <a:bodyPr/>
                    <a:lstStyle/>
                    <a:p>
                      <a:endParaRPr lang="zh-HK" altLang="en-US" dirty="0"/>
                    </a:p>
                  </a:txBody>
                  <a:tcPr/>
                </a:tc>
                <a:tc hMerge="1">
                  <a:txBody>
                    <a:bodyPr/>
                    <a:lstStyle/>
                    <a:p>
                      <a:endParaRPr lang="zh-HK" altLang="en-US"/>
                    </a:p>
                  </a:txBody>
                  <a:tcPr/>
                </a:tc>
                <a:tc hMerge="1">
                  <a:txBody>
                    <a:bodyPr/>
                    <a:lstStyle/>
                    <a:p>
                      <a:endParaRPr lang="zh-HK" altLang="en-US"/>
                    </a:p>
                  </a:txBody>
                  <a:tcPr/>
                </a:tc>
                <a:tc hMerge="1">
                  <a:txBody>
                    <a:bodyPr/>
                    <a:lstStyle/>
                    <a:p>
                      <a:endParaRPr lang="zh-HK" altLang="en-US" dirty="0"/>
                    </a:p>
                  </a:txBody>
                  <a:tcPr/>
                </a:tc>
                <a:tc hMerge="1">
                  <a:txBody>
                    <a:bodyPr/>
                    <a:lstStyle/>
                    <a:p>
                      <a:endParaRPr lang="zh-HK" altLang="en-US"/>
                    </a:p>
                  </a:txBody>
                  <a:tcPr/>
                </a:tc>
                <a:extLst>
                  <a:ext uri="{0D108BD9-81ED-4DB2-BD59-A6C34878D82A}">
                    <a16:rowId xmlns:a16="http://schemas.microsoft.com/office/drawing/2014/main" val="2200958731"/>
                  </a:ext>
                </a:extLst>
              </a:tr>
              <a:tr h="549663">
                <a:tc>
                  <a:txBody>
                    <a:bodyPr/>
                    <a:lstStyle/>
                    <a:p>
                      <a:r>
                        <a:rPr lang="en-US" altLang="zh-HK" sz="1800" dirty="0"/>
                        <a:t>Target Response</a:t>
                      </a:r>
                      <a:endParaRPr lang="zh-HK" altLang="en-US" sz="1800" dirty="0"/>
                    </a:p>
                  </a:txBody>
                  <a:tcPr/>
                </a:tc>
                <a:tc gridSpan="6">
                  <a:txBody>
                    <a:bodyPr/>
                    <a:lstStyle/>
                    <a:p>
                      <a:r>
                        <a:rPr lang="zh-TW" altLang="en-US" sz="1800" dirty="0"/>
                        <a:t>電傳轉帳是由一間機構代表某人藉電子方式進行的交易，目的是將某筆金錢轉往某間機構以提供予該人或另一人，而無論是否有一間或多於一間其他機構參與完成有關金錢轉帳。</a:t>
                      </a:r>
                      <a:endParaRPr lang="zh-HK" altLang="en-US" sz="1800" dirty="0"/>
                    </a:p>
                  </a:txBody>
                  <a:tcPr/>
                </a:tc>
                <a:tc hMerge="1">
                  <a:txBody>
                    <a:bodyPr/>
                    <a:lstStyle/>
                    <a:p>
                      <a:endParaRPr lang="zh-HK" altLang="en-US"/>
                    </a:p>
                  </a:txBody>
                  <a:tcPr/>
                </a:tc>
                <a:tc hMerge="1">
                  <a:txBody>
                    <a:bodyPr/>
                    <a:lstStyle/>
                    <a:p>
                      <a:endParaRPr lang="zh-HK" altLang="en-US"/>
                    </a:p>
                  </a:txBody>
                  <a:tcPr/>
                </a:tc>
                <a:tc hMerge="1">
                  <a:txBody>
                    <a:bodyPr/>
                    <a:lstStyle/>
                    <a:p>
                      <a:endParaRPr lang="zh-HK" altLang="en-US"/>
                    </a:p>
                  </a:txBody>
                  <a:tcPr/>
                </a:tc>
                <a:tc hMerge="1">
                  <a:txBody>
                    <a:bodyPr/>
                    <a:lstStyle/>
                    <a:p>
                      <a:endParaRPr lang="zh-HK" altLang="en-US" dirty="0"/>
                    </a:p>
                  </a:txBody>
                  <a:tcPr/>
                </a:tc>
                <a:tc hMerge="1">
                  <a:txBody>
                    <a:bodyPr/>
                    <a:lstStyle/>
                    <a:p>
                      <a:endParaRPr lang="zh-HK" altLang="en-US"/>
                    </a:p>
                  </a:txBody>
                  <a:tcPr/>
                </a:tc>
                <a:extLst>
                  <a:ext uri="{0D108BD9-81ED-4DB2-BD59-A6C34878D82A}">
                    <a16:rowId xmlns:a16="http://schemas.microsoft.com/office/drawing/2014/main" val="740955647"/>
                  </a:ext>
                </a:extLst>
              </a:tr>
              <a:tr h="331983">
                <a:tc>
                  <a:txBody>
                    <a:bodyPr/>
                    <a:lstStyle/>
                    <a:p>
                      <a:r>
                        <a:rPr lang="en-US" altLang="zh-HK" dirty="0"/>
                        <a:t>Method</a:t>
                      </a:r>
                      <a:endParaRPr lang="zh-HK" altLang="en-US" dirty="0"/>
                    </a:p>
                  </a:txBody>
                  <a:tcPr/>
                </a:tc>
                <a:tc>
                  <a:txBody>
                    <a:bodyPr/>
                    <a:lstStyle/>
                    <a:p>
                      <a:pPr algn="ctr"/>
                      <a:r>
                        <a:rPr lang="en-US" altLang="zh-HK" dirty="0"/>
                        <a:t>RAG</a:t>
                      </a:r>
                      <a:endParaRPr lang="zh-HK" altLang="en-US" dirty="0"/>
                    </a:p>
                  </a:txBody>
                  <a:tcPr/>
                </a:tc>
                <a:tc>
                  <a:txBody>
                    <a:bodyPr/>
                    <a:lstStyle/>
                    <a:p>
                      <a:pPr algn="ctr"/>
                      <a:r>
                        <a:rPr lang="en-US" altLang="zh-HK" dirty="0"/>
                        <a:t>Self-RAG</a:t>
                      </a:r>
                      <a:endParaRPr lang="zh-HK" altLang="en-US" dirty="0"/>
                    </a:p>
                  </a:txBody>
                  <a:tcPr/>
                </a:tc>
                <a:tc>
                  <a:txBody>
                    <a:bodyPr/>
                    <a:lstStyle/>
                    <a:p>
                      <a:pPr algn="ctr"/>
                      <a:r>
                        <a:rPr lang="en-US" altLang="zh-HK" dirty="0"/>
                        <a:t>RAG</a:t>
                      </a:r>
                      <a:endParaRPr lang="zh-HK" altLang="en-US" dirty="0"/>
                    </a:p>
                  </a:txBody>
                  <a:tcPr/>
                </a:tc>
                <a:tc>
                  <a:txBody>
                    <a:bodyPr/>
                    <a:lstStyle/>
                    <a:p>
                      <a:pPr algn="ctr"/>
                      <a:r>
                        <a:rPr lang="en-US" altLang="zh-HK" dirty="0"/>
                        <a:t>Self-RAG</a:t>
                      </a:r>
                      <a:endParaRPr lang="zh-HK" altLang="en-US" dirty="0"/>
                    </a:p>
                  </a:txBody>
                  <a:tcPr/>
                </a:tc>
                <a:tc>
                  <a:txBody>
                    <a:bodyPr/>
                    <a:lstStyle/>
                    <a:p>
                      <a:pPr algn="ctr"/>
                      <a:r>
                        <a:rPr lang="en-US" altLang="zh-HK" dirty="0"/>
                        <a:t>RAG</a:t>
                      </a:r>
                      <a:endParaRPr lang="zh-HK" altLang="en-US" dirty="0"/>
                    </a:p>
                  </a:txBody>
                  <a:tcPr/>
                </a:tc>
                <a:tc>
                  <a:txBody>
                    <a:bodyPr/>
                    <a:lstStyle/>
                    <a:p>
                      <a:pPr algn="ctr"/>
                      <a:r>
                        <a:rPr lang="en-US" altLang="zh-HK" dirty="0"/>
                        <a:t>Self-RAG</a:t>
                      </a:r>
                      <a:endParaRPr lang="zh-HK" altLang="en-US" dirty="0"/>
                    </a:p>
                  </a:txBody>
                  <a:tcPr/>
                </a:tc>
                <a:extLst>
                  <a:ext uri="{0D108BD9-81ED-4DB2-BD59-A6C34878D82A}">
                    <a16:rowId xmlns:a16="http://schemas.microsoft.com/office/drawing/2014/main" val="271310538"/>
                  </a:ext>
                </a:extLst>
              </a:tr>
              <a:tr h="2748316">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zh-HK" sz="1800" dirty="0"/>
                        <a:t>LLM Response</a:t>
                      </a:r>
                      <a:endParaRPr lang="zh-HK" altLang="en-US" sz="1800" dirty="0"/>
                    </a:p>
                  </a:txBody>
                  <a:tcPr/>
                </a:tc>
                <a:tc>
                  <a:txBody>
                    <a:bodyPr/>
                    <a:lstStyle/>
                    <a:p>
                      <a:r>
                        <a:rPr lang="zh-TW" altLang="en-US" sz="1200" dirty="0"/>
                        <a:t>電傳轉帳，簡稱電匯，是一種通過銀行電訊網路進行資金轉移的方式。 它比傳統的支票或匯票更快更有效率，因為資金幾乎是即時轉帳的。 你需要提供收款人的銀行帳戶資訊，例如帳號、銀行名稱、</a:t>
                      </a:r>
                      <a:r>
                        <a:rPr lang="en-US" altLang="zh-TW" sz="1200" dirty="0"/>
                        <a:t>SWIFT</a:t>
                      </a:r>
                      <a:r>
                        <a:rPr lang="zh-TW" altLang="en-US" sz="1200" dirty="0"/>
                        <a:t>代碼（國際銀行識別碼）等等，才能完成電匯。 電匯通常會收取一定的費用，費用會根據轉帳金額和銀行而有所不同。 總之，電匯是一種方便快捷的國際或國內資金轉帳方式。</a:t>
                      </a:r>
                      <a:endParaRPr lang="zh-HK" altLang="en-US" sz="1200" dirty="0"/>
                    </a:p>
                  </a:txBody>
                  <a:tcPr/>
                </a:tc>
                <a:tc>
                  <a:txBody>
                    <a:bodyPr/>
                    <a:lstStyle/>
                    <a:p>
                      <a:r>
                        <a:rPr lang="zh-TW" altLang="en-US" sz="1200" dirty="0"/>
                        <a:t>電傳轉帳，簡稱電匯，是一種透過電子方式進行的資金轉移。 匯款人委託匯款機構，將款項轉給收款機構，再由收款機構交付給收款人。過程中，可能會有其他中介機構參與，但最終目的是將資金從匯款人轉到收款人手中。 它是一種快速且便捷的國際或國內資金轉帳方式</a:t>
                      </a:r>
                      <a:endParaRPr lang="zh-HK" altLang="en-US" dirty="0"/>
                    </a:p>
                  </a:txBody>
                  <a:tcPr/>
                </a:tc>
                <a:tc>
                  <a:txBody>
                    <a:bodyPr/>
                    <a:lstStyle/>
                    <a:p>
                      <a:r>
                        <a:rPr lang="zh-TW" altLang="zh-HK" sz="1200" kern="1200" dirty="0">
                          <a:solidFill>
                            <a:schemeClr val="dk1"/>
                          </a:solidFill>
                          <a:effectLst/>
                          <a:latin typeface="+mn-lt"/>
                          <a:ea typeface="+mn-ea"/>
                          <a:cs typeface="+mn-cs"/>
                        </a:rPr>
                        <a:t>電傳轉帳是由匯款機構代表匯款人以電子方式進行的交易，將資金從一個國家的銀行帳戶轉至另一個國家的銀行帳戶，通常透過</a:t>
                      </a:r>
                      <a:r>
                        <a:rPr lang="en-US" altLang="zh-HK" sz="1200" kern="1200" dirty="0">
                          <a:solidFill>
                            <a:schemeClr val="dk1"/>
                          </a:solidFill>
                          <a:effectLst/>
                          <a:latin typeface="+mn-lt"/>
                          <a:ea typeface="+mn-ea"/>
                          <a:cs typeface="+mn-cs"/>
                        </a:rPr>
                        <a:t>SWIFT</a:t>
                      </a:r>
                      <a:r>
                        <a:rPr lang="zh-TW" altLang="zh-HK" sz="1200" kern="1200" dirty="0">
                          <a:solidFill>
                            <a:schemeClr val="dk1"/>
                          </a:solidFill>
                          <a:effectLst/>
                          <a:latin typeface="+mn-lt"/>
                          <a:ea typeface="+mn-ea"/>
                          <a:cs typeface="+mn-cs"/>
                        </a:rPr>
                        <a:t>系統完成，具備快速和安全的特點，但可能涉及手續費。如果認可機構是以匯款人或收款人的身分進行電傳轉帳，而非作為匯款機構、中介機構或收款機構，則無需遵守附表</a:t>
                      </a:r>
                      <a:r>
                        <a:rPr lang="en-US" altLang="zh-HK" sz="1200" kern="1200" dirty="0">
                          <a:solidFill>
                            <a:schemeClr val="dk1"/>
                          </a:solidFill>
                          <a:effectLst/>
                          <a:latin typeface="+mn-lt"/>
                          <a:ea typeface="+mn-ea"/>
                          <a:cs typeface="+mn-cs"/>
                        </a:rPr>
                        <a:t>2</a:t>
                      </a:r>
                      <a:r>
                        <a:rPr lang="zh-TW" altLang="zh-HK" sz="1200" kern="1200" dirty="0">
                          <a:solidFill>
                            <a:schemeClr val="dk1"/>
                          </a:solidFill>
                          <a:effectLst/>
                          <a:latin typeface="+mn-lt"/>
                          <a:ea typeface="+mn-ea"/>
                          <a:cs typeface="+mn-cs"/>
                        </a:rPr>
                        <a:t>第</a:t>
                      </a:r>
                      <a:r>
                        <a:rPr lang="en-US" altLang="zh-HK" sz="1200" kern="1200" dirty="0">
                          <a:solidFill>
                            <a:schemeClr val="dk1"/>
                          </a:solidFill>
                          <a:effectLst/>
                          <a:latin typeface="+mn-lt"/>
                          <a:ea typeface="+mn-ea"/>
                          <a:cs typeface="+mn-cs"/>
                        </a:rPr>
                        <a:t>12</a:t>
                      </a:r>
                      <a:r>
                        <a:rPr lang="zh-TW" altLang="zh-HK" sz="1200" kern="1200" dirty="0">
                          <a:solidFill>
                            <a:schemeClr val="dk1"/>
                          </a:solidFill>
                          <a:effectLst/>
                          <a:latin typeface="+mn-lt"/>
                          <a:ea typeface="+mn-ea"/>
                          <a:cs typeface="+mn-cs"/>
                        </a:rPr>
                        <a:t>條的規定或相關指引。整個過程可包括一間或多間中介機構協助完成資金轉移。</a:t>
                      </a:r>
                      <a:endParaRPr lang="zh-HK" altLang="en-US" dirty="0"/>
                    </a:p>
                  </a:txBody>
                  <a:tcPr/>
                </a:tc>
                <a:tc>
                  <a:txBody>
                    <a:bodyPr/>
                    <a:lstStyle/>
                    <a:p>
                      <a:r>
                        <a:rPr lang="zh-TW" altLang="en-US" sz="1200" dirty="0"/>
                        <a:t>電傳轉帳是一種交易方式</a:t>
                      </a:r>
                      <a:r>
                        <a:rPr lang="en-US" altLang="zh-TW" sz="1200" dirty="0"/>
                        <a:t>, </a:t>
                      </a:r>
                      <a:r>
                        <a:rPr lang="zh-TW" altLang="en-US" sz="1200" dirty="0"/>
                        <a:t>由一間機構</a:t>
                      </a:r>
                      <a:r>
                        <a:rPr lang="en-US" altLang="zh-TW" sz="1200" dirty="0"/>
                        <a:t>(</a:t>
                      </a:r>
                      <a:r>
                        <a:rPr lang="zh-TW" altLang="en-US" sz="1200" dirty="0"/>
                        <a:t>匯款機構</a:t>
                      </a:r>
                      <a:r>
                        <a:rPr lang="en-US" altLang="zh-TW" sz="1200" dirty="0"/>
                        <a:t>)</a:t>
                      </a:r>
                      <a:r>
                        <a:rPr lang="zh-TW" altLang="en-US" sz="1200" dirty="0"/>
                        <a:t>代表某人</a:t>
                      </a:r>
                      <a:r>
                        <a:rPr lang="en-US" altLang="zh-TW" sz="1200" dirty="0"/>
                        <a:t>(</a:t>
                      </a:r>
                      <a:r>
                        <a:rPr lang="zh-TW" altLang="en-US" sz="1200" dirty="0"/>
                        <a:t>匯款人</a:t>
                      </a:r>
                      <a:r>
                        <a:rPr lang="en-US" altLang="zh-TW" sz="1200" dirty="0"/>
                        <a:t>)</a:t>
                      </a:r>
                      <a:r>
                        <a:rPr lang="zh-TW" altLang="en-US" sz="1200" dirty="0"/>
                        <a:t>藉電子方式進行的交易</a:t>
                      </a:r>
                      <a:r>
                        <a:rPr lang="en-US" altLang="zh-TW" sz="1200" dirty="0"/>
                        <a:t>, </a:t>
                      </a:r>
                      <a:r>
                        <a:rPr lang="zh-TW" altLang="en-US" sz="1200" dirty="0"/>
                        <a:t>目的是將某筆金錢轉往另一間機構</a:t>
                      </a:r>
                      <a:r>
                        <a:rPr lang="en-US" altLang="zh-TW" sz="1200" dirty="0"/>
                        <a:t>(</a:t>
                      </a:r>
                      <a:r>
                        <a:rPr lang="zh-TW" altLang="en-US" sz="1200" dirty="0"/>
                        <a:t>收款機構</a:t>
                      </a:r>
                      <a:r>
                        <a:rPr lang="en-US" altLang="zh-TW" sz="1200" dirty="0"/>
                        <a:t>)</a:t>
                      </a:r>
                      <a:r>
                        <a:rPr lang="zh-TW" altLang="en-US" sz="1200" dirty="0"/>
                        <a:t>以提供予該人或另一人</a:t>
                      </a:r>
                      <a:r>
                        <a:rPr lang="en-US" altLang="zh-TW" sz="1200" dirty="0"/>
                        <a:t>(</a:t>
                      </a:r>
                      <a:r>
                        <a:rPr lang="zh-TW" altLang="en-US" sz="1200" dirty="0"/>
                        <a:t>收款人</a:t>
                      </a:r>
                      <a:r>
                        <a:rPr lang="en-US" altLang="zh-TW" sz="1200" dirty="0"/>
                        <a:t>), </a:t>
                      </a:r>
                      <a:r>
                        <a:rPr lang="zh-TW" altLang="en-US" sz="1200" dirty="0"/>
                        <a:t>而無論是否有一間或多於一間其他機構</a:t>
                      </a:r>
                      <a:r>
                        <a:rPr lang="en-US" altLang="zh-TW" sz="1200" dirty="0"/>
                        <a:t>(</a:t>
                      </a:r>
                      <a:r>
                        <a:rPr lang="zh-TW" altLang="en-US" sz="1200" dirty="0"/>
                        <a:t>中介機構</a:t>
                      </a:r>
                      <a:r>
                        <a:rPr lang="en-US" altLang="zh-TW" sz="1200" dirty="0"/>
                        <a:t>)</a:t>
                      </a:r>
                      <a:r>
                        <a:rPr lang="zh-TW" altLang="en-US" sz="1200" dirty="0"/>
                        <a:t>參與完成有關金錢轉帳。</a:t>
                      </a:r>
                      <a:endParaRPr lang="zh-HK" altLang="en-US" sz="1200" dirty="0"/>
                    </a:p>
                  </a:txBody>
                  <a:tcPr/>
                </a:tc>
                <a:tc>
                  <a:txBody>
                    <a:bodyPr/>
                    <a:lstStyle/>
                    <a:p>
                      <a:r>
                        <a:rPr lang="zh-TW" altLang="en-US" sz="1200" dirty="0"/>
                        <a:t>電傳轉帳是指透過電子方式，由一間機構代表某人將金錢轉往另一機構，以提供給特定收款人。</a:t>
                      </a:r>
                      <a:endParaRPr lang="zh-HK" altLang="en-US" sz="1200" dirty="0"/>
                    </a:p>
                  </a:txBody>
                  <a:tcPr/>
                </a:tc>
                <a:tc>
                  <a:txBody>
                    <a:bodyPr/>
                    <a:lstStyle/>
                    <a:p>
                      <a:r>
                        <a:rPr lang="zh-TW" altLang="en-US" sz="1200" dirty="0"/>
                        <a:t>電傳轉帳是一種透過電子方式，由匯款機構代表匯款人將金錢轉至收款機構，提供給收款人或另一人，無論是否透過中介機構完成的交易。</a:t>
                      </a:r>
                      <a:endParaRPr lang="zh-HK" altLang="en-US" sz="1200" dirty="0"/>
                    </a:p>
                  </a:txBody>
                  <a:tcPr/>
                </a:tc>
                <a:extLst>
                  <a:ext uri="{0D108BD9-81ED-4DB2-BD59-A6C34878D82A}">
                    <a16:rowId xmlns:a16="http://schemas.microsoft.com/office/drawing/2014/main" val="220412919"/>
                  </a:ext>
                </a:extLst>
              </a:tr>
              <a:tr h="318456">
                <a:tc>
                  <a:txBody>
                    <a:bodyPr/>
                    <a:lstStyle/>
                    <a:p>
                      <a:r>
                        <a:rPr lang="en-US" altLang="zh-HK" dirty="0"/>
                        <a:t>METEOR</a:t>
                      </a:r>
                      <a:endParaRPr lang="zh-HK" altLang="en-US" dirty="0"/>
                    </a:p>
                  </a:txBody>
                  <a:tcPr/>
                </a:tc>
                <a:tc>
                  <a:txBody>
                    <a:bodyPr/>
                    <a:lstStyle/>
                    <a:p>
                      <a:r>
                        <a:rPr lang="en-US" altLang="zh-HK" sz="1800" dirty="0"/>
                        <a:t>0.1518</a:t>
                      </a:r>
                      <a:endParaRPr lang="zh-HK" altLang="en-US" sz="1800" dirty="0"/>
                    </a:p>
                  </a:txBody>
                  <a:tcPr/>
                </a:tc>
                <a:tc>
                  <a:txBody>
                    <a:bodyPr/>
                    <a:lstStyle/>
                    <a:p>
                      <a:r>
                        <a:rPr lang="en-US" altLang="zh-HK" dirty="0"/>
                        <a:t>0.3094</a:t>
                      </a:r>
                      <a:endParaRPr lang="zh-HK" altLang="en-US" dirty="0"/>
                    </a:p>
                  </a:txBody>
                  <a:tcPr/>
                </a:tc>
                <a:tc>
                  <a:txBody>
                    <a:bodyPr/>
                    <a:lstStyle/>
                    <a:p>
                      <a:r>
                        <a:rPr lang="en-US" altLang="zh-HK" dirty="0"/>
                        <a:t>0.3145</a:t>
                      </a:r>
                      <a:endParaRPr lang="zh-HK" altLang="en-US" dirty="0"/>
                    </a:p>
                  </a:txBody>
                  <a:tcPr/>
                </a:tc>
                <a:tc>
                  <a:txBody>
                    <a:bodyPr/>
                    <a:lstStyle/>
                    <a:p>
                      <a:r>
                        <a:rPr lang="en-US" altLang="zh-HK" dirty="0"/>
                        <a:t>0.8386</a:t>
                      </a:r>
                      <a:endParaRPr lang="zh-HK" altLang="en-US" dirty="0"/>
                    </a:p>
                  </a:txBody>
                  <a:tcPr/>
                </a:tc>
                <a:tc>
                  <a:txBody>
                    <a:bodyPr/>
                    <a:lstStyle/>
                    <a:p>
                      <a:r>
                        <a:rPr lang="en-US" altLang="zh-HK" dirty="0"/>
                        <a:t>0.2625</a:t>
                      </a:r>
                      <a:endParaRPr lang="zh-HK" altLang="en-US" sz="1800" dirty="0"/>
                    </a:p>
                  </a:txBody>
                  <a:tcPr/>
                </a:tc>
                <a:tc>
                  <a:txBody>
                    <a:bodyPr/>
                    <a:lstStyle/>
                    <a:p>
                      <a:r>
                        <a:rPr lang="en-US" altLang="zh-HK" dirty="0"/>
                        <a:t>0.3703</a:t>
                      </a:r>
                      <a:endParaRPr lang="zh-HK" altLang="en-US" dirty="0"/>
                    </a:p>
                  </a:txBody>
                  <a:tcPr/>
                </a:tc>
                <a:extLst>
                  <a:ext uri="{0D108BD9-81ED-4DB2-BD59-A6C34878D82A}">
                    <a16:rowId xmlns:a16="http://schemas.microsoft.com/office/drawing/2014/main" val="4055778710"/>
                  </a:ext>
                </a:extLst>
              </a:tr>
              <a:tr h="318456">
                <a:tc>
                  <a:txBody>
                    <a:bodyPr/>
                    <a:lstStyle/>
                    <a:p>
                      <a:r>
                        <a:rPr lang="en-US" altLang="zh-HK" dirty="0"/>
                        <a:t>Faithfulness</a:t>
                      </a:r>
                      <a:endParaRPr lang="zh-HK" altLang="en-US" dirty="0"/>
                    </a:p>
                  </a:txBody>
                  <a:tcPr/>
                </a:tc>
                <a:tc>
                  <a:txBody>
                    <a:bodyPr/>
                    <a:lstStyle/>
                    <a:p>
                      <a:r>
                        <a:rPr lang="en-US" altLang="zh-HK" sz="1800" dirty="0"/>
                        <a:t>0.5000</a:t>
                      </a:r>
                      <a:endParaRPr lang="zh-HK" altLang="en-US" sz="1800" dirty="0"/>
                    </a:p>
                  </a:txBody>
                  <a:tcPr/>
                </a:tc>
                <a:tc>
                  <a:txBody>
                    <a:bodyPr/>
                    <a:lstStyle/>
                    <a:p>
                      <a:r>
                        <a:rPr lang="en-US" altLang="zh-HK" dirty="0"/>
                        <a:t>0.6667</a:t>
                      </a:r>
                      <a:endParaRPr lang="zh-HK" altLang="en-US" dirty="0"/>
                    </a:p>
                  </a:txBody>
                  <a:tcPr/>
                </a:tc>
                <a:tc>
                  <a:txBody>
                    <a:bodyPr/>
                    <a:lstStyle/>
                    <a:p>
                      <a:r>
                        <a:rPr lang="en-US" altLang="zh-HK" dirty="0"/>
                        <a:t>1</a:t>
                      </a:r>
                      <a:endParaRPr lang="zh-HK" altLang="en-US" dirty="0"/>
                    </a:p>
                  </a:txBody>
                  <a:tcPr/>
                </a:tc>
                <a:tc>
                  <a:txBody>
                    <a:bodyPr/>
                    <a:lstStyle/>
                    <a:p>
                      <a:r>
                        <a:rPr lang="en-US" altLang="zh-HK" dirty="0"/>
                        <a:t>1</a:t>
                      </a:r>
                      <a:endParaRPr lang="zh-HK" altLang="en-US" dirty="0"/>
                    </a:p>
                  </a:txBody>
                  <a:tcPr/>
                </a:tc>
                <a:tc>
                  <a:txBody>
                    <a:bodyPr/>
                    <a:lstStyle/>
                    <a:p>
                      <a:r>
                        <a:rPr lang="en-US" altLang="zh-HK" sz="1800" dirty="0"/>
                        <a:t>1</a:t>
                      </a:r>
                      <a:endParaRPr lang="zh-HK" altLang="en-US" sz="1800" dirty="0"/>
                    </a:p>
                  </a:txBody>
                  <a:tcPr/>
                </a:tc>
                <a:tc>
                  <a:txBody>
                    <a:bodyPr/>
                    <a:lstStyle/>
                    <a:p>
                      <a:r>
                        <a:rPr lang="en-US" altLang="zh-HK" dirty="0"/>
                        <a:t>1</a:t>
                      </a:r>
                      <a:endParaRPr lang="zh-HK" altLang="en-US" dirty="0"/>
                    </a:p>
                  </a:txBody>
                  <a:tcPr/>
                </a:tc>
                <a:extLst>
                  <a:ext uri="{0D108BD9-81ED-4DB2-BD59-A6C34878D82A}">
                    <a16:rowId xmlns:a16="http://schemas.microsoft.com/office/drawing/2014/main" val="3304595012"/>
                  </a:ext>
                </a:extLst>
              </a:tr>
              <a:tr h="318456">
                <a:tc>
                  <a:txBody>
                    <a:bodyPr/>
                    <a:lstStyle/>
                    <a:p>
                      <a:r>
                        <a:rPr lang="en-US" altLang="zh-HK" dirty="0"/>
                        <a:t>Answer Relevant</a:t>
                      </a:r>
                      <a:endParaRPr lang="zh-HK" altLang="en-US" dirty="0"/>
                    </a:p>
                  </a:txBody>
                  <a:tcPr/>
                </a:tc>
                <a:tc>
                  <a:txBody>
                    <a:bodyPr/>
                    <a:lstStyle/>
                    <a:p>
                      <a:r>
                        <a:rPr lang="en-US" altLang="zh-HK" sz="1800" dirty="0"/>
                        <a:t>0.6400</a:t>
                      </a:r>
                      <a:endParaRPr lang="zh-HK" altLang="en-US" sz="1800" dirty="0"/>
                    </a:p>
                  </a:txBody>
                  <a:tcPr/>
                </a:tc>
                <a:tc>
                  <a:txBody>
                    <a:bodyPr/>
                    <a:lstStyle/>
                    <a:p>
                      <a:r>
                        <a:rPr lang="en-US" altLang="zh-HK" dirty="0"/>
                        <a:t>0.6634</a:t>
                      </a:r>
                      <a:endParaRPr lang="zh-HK" altLang="en-US" dirty="0"/>
                    </a:p>
                  </a:txBody>
                  <a:tcPr/>
                </a:tc>
                <a:tc>
                  <a:txBody>
                    <a:bodyPr/>
                    <a:lstStyle/>
                    <a:p>
                      <a:r>
                        <a:rPr lang="en-US" altLang="zh-HK" dirty="0"/>
                        <a:t>0.6418</a:t>
                      </a:r>
                      <a:endParaRPr lang="zh-HK" altLang="en-US" dirty="0"/>
                    </a:p>
                  </a:txBody>
                  <a:tcPr/>
                </a:tc>
                <a:tc>
                  <a:txBody>
                    <a:bodyPr/>
                    <a:lstStyle/>
                    <a:p>
                      <a:r>
                        <a:rPr lang="en-US" altLang="zh-HK" dirty="0"/>
                        <a:t>0.6958</a:t>
                      </a:r>
                      <a:endParaRPr lang="zh-HK" altLang="en-US" dirty="0"/>
                    </a:p>
                  </a:txBody>
                  <a:tcPr/>
                </a:tc>
                <a:tc>
                  <a:txBody>
                    <a:bodyPr/>
                    <a:lstStyle/>
                    <a:p>
                      <a:r>
                        <a:rPr lang="en-US" altLang="zh-HK" dirty="0"/>
                        <a:t>0.7584</a:t>
                      </a:r>
                      <a:endParaRPr lang="zh-HK" altLang="en-US" sz="1800" dirty="0"/>
                    </a:p>
                  </a:txBody>
                  <a:tcPr/>
                </a:tc>
                <a:tc>
                  <a:txBody>
                    <a:bodyPr/>
                    <a:lstStyle/>
                    <a:p>
                      <a:r>
                        <a:rPr lang="en-US" altLang="zh-HK" dirty="0"/>
                        <a:t>0.7090</a:t>
                      </a:r>
                      <a:endParaRPr lang="zh-HK" altLang="en-US" dirty="0"/>
                    </a:p>
                  </a:txBody>
                  <a:tcPr/>
                </a:tc>
                <a:extLst>
                  <a:ext uri="{0D108BD9-81ED-4DB2-BD59-A6C34878D82A}">
                    <a16:rowId xmlns:a16="http://schemas.microsoft.com/office/drawing/2014/main" val="2445080325"/>
                  </a:ext>
                </a:extLst>
              </a:tr>
            </a:tbl>
          </a:graphicData>
        </a:graphic>
      </p:graphicFrame>
      <p:sp>
        <p:nvSpPr>
          <p:cNvPr id="3" name="投影片編號版面配置區 2">
            <a:extLst>
              <a:ext uri="{FF2B5EF4-FFF2-40B4-BE49-F238E27FC236}">
                <a16:creationId xmlns:a16="http://schemas.microsoft.com/office/drawing/2014/main" id="{5DFA4470-5F93-437D-BC9A-451CB51C1001}"/>
              </a:ext>
            </a:extLst>
          </p:cNvPr>
          <p:cNvSpPr>
            <a:spLocks noGrp="1"/>
          </p:cNvSpPr>
          <p:nvPr>
            <p:ph type="sldNum" sz="quarter" idx="12"/>
          </p:nvPr>
        </p:nvSpPr>
        <p:spPr/>
        <p:txBody>
          <a:bodyPr/>
          <a:lstStyle/>
          <a:p>
            <a:fld id="{DB17CEA6-17B5-4347-86B2-9520D0409059}" type="slidenum">
              <a:rPr lang="zh-HK" altLang="en-US" smtClean="0"/>
              <a:t>32</a:t>
            </a:fld>
            <a:endParaRPr lang="zh-HK" altLang="en-US"/>
          </a:p>
        </p:txBody>
      </p:sp>
    </p:spTree>
    <p:extLst>
      <p:ext uri="{BB962C8B-B14F-4D97-AF65-F5344CB8AC3E}">
        <p14:creationId xmlns:p14="http://schemas.microsoft.com/office/powerpoint/2010/main" val="423343666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22DC-EFB4-8E26-5949-DA6F911FD364}"/>
              </a:ext>
            </a:extLst>
          </p:cNvPr>
          <p:cNvSpPr>
            <a:spLocks noGrp="1"/>
          </p:cNvSpPr>
          <p:nvPr>
            <p:ph type="title"/>
          </p:nvPr>
        </p:nvSpPr>
        <p:spPr>
          <a:xfrm>
            <a:off x="310831" y="366124"/>
            <a:ext cx="10133649" cy="801924"/>
          </a:xfrm>
        </p:spPr>
        <p:txBody>
          <a:bodyPr/>
          <a:lstStyle/>
          <a:p>
            <a:r>
              <a:rPr lang="en-US" altLang="zh-HK" dirty="0"/>
              <a:t>Discussion (RAG vs Self-Reflective RAG)</a:t>
            </a:r>
            <a:endParaRPr lang="zh-HK" altLang="en-US" dirty="0"/>
          </a:p>
        </p:txBody>
      </p:sp>
      <p:sp>
        <p:nvSpPr>
          <p:cNvPr id="3" name="Content Placeholder 2">
            <a:extLst>
              <a:ext uri="{FF2B5EF4-FFF2-40B4-BE49-F238E27FC236}">
                <a16:creationId xmlns:a16="http://schemas.microsoft.com/office/drawing/2014/main" id="{10FDE542-88FF-3003-A0CF-2A8115BB5B2C}"/>
              </a:ext>
            </a:extLst>
          </p:cNvPr>
          <p:cNvSpPr>
            <a:spLocks noGrp="1"/>
          </p:cNvSpPr>
          <p:nvPr>
            <p:ph idx="1"/>
          </p:nvPr>
        </p:nvSpPr>
        <p:spPr>
          <a:xfrm>
            <a:off x="1103312" y="1669311"/>
            <a:ext cx="10087427" cy="4579087"/>
          </a:xfrm>
        </p:spPr>
        <p:txBody>
          <a:bodyPr>
            <a:noAutofit/>
          </a:bodyPr>
          <a:lstStyle/>
          <a:p>
            <a:r>
              <a:rPr lang="en-US" altLang="zh-HK" sz="2200" b="1" dirty="0"/>
              <a:t>Generation Quality (Faithfulness)</a:t>
            </a:r>
            <a:r>
              <a:rPr lang="pl-PL" altLang="zh-HK" sz="2200" dirty="0"/>
              <a:t>:</a:t>
            </a:r>
            <a:endParaRPr lang="en-US" altLang="zh-HK" sz="2200" dirty="0"/>
          </a:p>
          <a:p>
            <a:pPr lvl="1"/>
            <a:r>
              <a:rPr lang="en-US" altLang="zh-HK" sz="2200" dirty="0"/>
              <a:t>Self-reflective RAG is not likely to improve the faithfulness </a:t>
            </a:r>
          </a:p>
          <a:p>
            <a:pPr lvl="1"/>
            <a:r>
              <a:rPr lang="en-US" altLang="zh-HK" sz="2200" dirty="0"/>
              <a:t>2 models have lower faithfulness score when using self-reflective RAG</a:t>
            </a:r>
          </a:p>
          <a:p>
            <a:r>
              <a:rPr lang="en-US" altLang="zh-HK" sz="2200" b="1" dirty="0"/>
              <a:t>Generation Quality (Answer Relevance):</a:t>
            </a:r>
          </a:p>
          <a:p>
            <a:pPr lvl="1"/>
            <a:r>
              <a:rPr lang="en-US" altLang="zh-HK" sz="2200" dirty="0"/>
              <a:t>Consistently better with Self-RAG </a:t>
            </a:r>
          </a:p>
          <a:p>
            <a:pPr lvl="1"/>
            <a:r>
              <a:rPr lang="en-US" altLang="zh-HK" sz="2200" dirty="0"/>
              <a:t>All 3 models have higher relevant score when using self-reflective RAG</a:t>
            </a:r>
          </a:p>
          <a:p>
            <a:r>
              <a:rPr lang="en-US" altLang="zh-HK" sz="2200" b="1" dirty="0"/>
              <a:t>Accuracy (METEOR Score):</a:t>
            </a:r>
          </a:p>
          <a:p>
            <a:pPr lvl="1"/>
            <a:r>
              <a:rPr lang="en-US" altLang="zh-HK" sz="2200" dirty="0"/>
              <a:t>Self-reflective RAG ensures higher accuracy </a:t>
            </a:r>
          </a:p>
          <a:p>
            <a:pPr lvl="1"/>
            <a:r>
              <a:rPr lang="en-US" altLang="zh-HK" sz="2200" dirty="0"/>
              <a:t>All 3 models have higher accuracy when using self-reflective RAG</a:t>
            </a:r>
          </a:p>
        </p:txBody>
      </p:sp>
      <p:sp>
        <p:nvSpPr>
          <p:cNvPr id="4" name="投影片編號版面配置區 3">
            <a:extLst>
              <a:ext uri="{FF2B5EF4-FFF2-40B4-BE49-F238E27FC236}">
                <a16:creationId xmlns:a16="http://schemas.microsoft.com/office/drawing/2014/main" id="{7C181674-57DA-4F0C-83E8-3864206B0736}"/>
              </a:ext>
            </a:extLst>
          </p:cNvPr>
          <p:cNvSpPr>
            <a:spLocks noGrp="1"/>
          </p:cNvSpPr>
          <p:nvPr>
            <p:ph type="sldNum" sz="quarter" idx="12"/>
          </p:nvPr>
        </p:nvSpPr>
        <p:spPr/>
        <p:txBody>
          <a:bodyPr/>
          <a:lstStyle/>
          <a:p>
            <a:fld id="{DB17CEA6-17B5-4347-86B2-9520D0409059}" type="slidenum">
              <a:rPr lang="zh-HK" altLang="en-US" smtClean="0"/>
              <a:t>33</a:t>
            </a:fld>
            <a:endParaRPr lang="zh-HK" altLang="en-US"/>
          </a:p>
        </p:txBody>
      </p:sp>
    </p:spTree>
    <p:extLst>
      <p:ext uri="{BB962C8B-B14F-4D97-AF65-F5344CB8AC3E}">
        <p14:creationId xmlns:p14="http://schemas.microsoft.com/office/powerpoint/2010/main" val="16310813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0AE71-69C6-A02D-5F0E-CFAED746F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B8E5DF-D0BF-186F-293B-D842EA82A31B}"/>
              </a:ext>
            </a:extLst>
          </p:cNvPr>
          <p:cNvSpPr>
            <a:spLocks noGrp="1"/>
          </p:cNvSpPr>
          <p:nvPr>
            <p:ph type="title"/>
          </p:nvPr>
        </p:nvSpPr>
        <p:spPr>
          <a:xfrm>
            <a:off x="310831" y="366124"/>
            <a:ext cx="10133649" cy="801924"/>
          </a:xfrm>
        </p:spPr>
        <p:txBody>
          <a:bodyPr/>
          <a:lstStyle/>
          <a:p>
            <a:r>
              <a:rPr lang="en-US" altLang="zh-HK" dirty="0"/>
              <a:t>Discussion (Self-Reflective RAG)</a:t>
            </a:r>
            <a:endParaRPr lang="zh-HK" altLang="en-US" dirty="0"/>
          </a:p>
        </p:txBody>
      </p:sp>
      <p:sp>
        <p:nvSpPr>
          <p:cNvPr id="3" name="Content Placeholder 2">
            <a:extLst>
              <a:ext uri="{FF2B5EF4-FFF2-40B4-BE49-F238E27FC236}">
                <a16:creationId xmlns:a16="http://schemas.microsoft.com/office/drawing/2014/main" id="{565301EB-5098-6687-BC6D-9E721324DDF4}"/>
              </a:ext>
            </a:extLst>
          </p:cNvPr>
          <p:cNvSpPr>
            <a:spLocks noGrp="1"/>
          </p:cNvSpPr>
          <p:nvPr>
            <p:ph idx="1"/>
          </p:nvPr>
        </p:nvSpPr>
        <p:spPr>
          <a:xfrm>
            <a:off x="1103312" y="1669311"/>
            <a:ext cx="10230995" cy="4579087"/>
          </a:xfrm>
        </p:spPr>
        <p:txBody>
          <a:bodyPr>
            <a:noAutofit/>
          </a:bodyPr>
          <a:lstStyle/>
          <a:p>
            <a:r>
              <a:rPr lang="en-US" altLang="zh-HK" sz="2200" b="1" dirty="0"/>
              <a:t>Advantage: Improved Answer Relevant</a:t>
            </a:r>
          </a:p>
          <a:p>
            <a:pPr lvl="1"/>
            <a:r>
              <a:rPr lang="en-US" altLang="zh-HK" sz="2200" dirty="0"/>
              <a:t>E.g. Gemma response using basic RAG included unnecessary elaboration (unrelated details about SWIFT codes)</a:t>
            </a:r>
            <a:r>
              <a:rPr lang="pl-PL" altLang="zh-HK" sz="2200" dirty="0"/>
              <a:t> and misses the </a:t>
            </a:r>
            <a:r>
              <a:rPr lang="en-US" altLang="zh-HK" sz="2200" dirty="0"/>
              <a:t>main</a:t>
            </a:r>
            <a:r>
              <a:rPr lang="pl-PL" altLang="zh-HK" sz="2200" dirty="0"/>
              <a:t> </a:t>
            </a:r>
            <a:r>
              <a:rPr lang="en-US" altLang="zh-HK" sz="2200" dirty="0"/>
              <a:t>context (transaction </a:t>
            </a:r>
            <a:r>
              <a:rPr lang="pl-PL" altLang="zh-HK" sz="2200" dirty="0"/>
              <a:t>intent</a:t>
            </a:r>
            <a:r>
              <a:rPr lang="en-US" altLang="zh-HK" sz="2200" dirty="0"/>
              <a:t>) </a:t>
            </a:r>
          </a:p>
          <a:p>
            <a:pPr lvl="1"/>
            <a:r>
              <a:rPr lang="en-US" altLang="zh-HK" sz="2200" dirty="0"/>
              <a:t>Self-Reflective RAG excludes unnecessary elaboration and focused on the transaction intent</a:t>
            </a:r>
          </a:p>
          <a:p>
            <a:r>
              <a:rPr lang="en-US" altLang="zh-HK" sz="2200" b="1" dirty="0"/>
              <a:t>Disadvantage: </a:t>
            </a:r>
            <a:r>
              <a:rPr lang="pl-PL" altLang="zh-HK" sz="2200" b="1" dirty="0"/>
              <a:t>Increased Computational Cost</a:t>
            </a:r>
            <a:endParaRPr lang="en-US" altLang="zh-HK" sz="2200" b="1" dirty="0"/>
          </a:p>
          <a:p>
            <a:pPr lvl="1"/>
            <a:r>
              <a:rPr lang="en-US" altLang="zh-HK" sz="2200" dirty="0"/>
              <a:t>Requires iterative critique and ranking, leading to significantly higher processing time </a:t>
            </a:r>
          </a:p>
          <a:p>
            <a:pPr lvl="1"/>
            <a:r>
              <a:rPr lang="en-US" altLang="zh-HK" sz="2200" dirty="0"/>
              <a:t>E.g., Gemma 2: 80.56s in Self-RAG vs. 16.37s in RAG</a:t>
            </a:r>
          </a:p>
        </p:txBody>
      </p:sp>
      <p:sp>
        <p:nvSpPr>
          <p:cNvPr id="4" name="投影片編號版面配置區 3">
            <a:extLst>
              <a:ext uri="{FF2B5EF4-FFF2-40B4-BE49-F238E27FC236}">
                <a16:creationId xmlns:a16="http://schemas.microsoft.com/office/drawing/2014/main" id="{342FC0F4-2663-9CB7-0198-D99827CBAFF2}"/>
              </a:ext>
            </a:extLst>
          </p:cNvPr>
          <p:cNvSpPr>
            <a:spLocks noGrp="1"/>
          </p:cNvSpPr>
          <p:nvPr>
            <p:ph type="sldNum" sz="quarter" idx="12"/>
          </p:nvPr>
        </p:nvSpPr>
        <p:spPr/>
        <p:txBody>
          <a:bodyPr/>
          <a:lstStyle/>
          <a:p>
            <a:fld id="{DB17CEA6-17B5-4347-86B2-9520D0409059}" type="slidenum">
              <a:rPr lang="zh-HK" altLang="en-US" smtClean="0"/>
              <a:t>34</a:t>
            </a:fld>
            <a:endParaRPr lang="zh-HK" altLang="en-US"/>
          </a:p>
        </p:txBody>
      </p:sp>
    </p:spTree>
    <p:extLst>
      <p:ext uri="{BB962C8B-B14F-4D97-AF65-F5344CB8AC3E}">
        <p14:creationId xmlns:p14="http://schemas.microsoft.com/office/powerpoint/2010/main" val="39966889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9F712F-1EC5-78C8-5C89-6E3417994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D05F2D-F5D2-B402-8284-7A34FA4BE133}"/>
              </a:ext>
            </a:extLst>
          </p:cNvPr>
          <p:cNvSpPr>
            <a:spLocks noGrp="1"/>
          </p:cNvSpPr>
          <p:nvPr>
            <p:ph type="title"/>
          </p:nvPr>
        </p:nvSpPr>
        <p:spPr/>
        <p:txBody>
          <a:bodyPr/>
          <a:lstStyle/>
          <a:p>
            <a:r>
              <a:rPr lang="en-US" altLang="zh-HK" dirty="0"/>
              <a:t>Methodology: RAG</a:t>
            </a:r>
            <a:endParaRPr lang="zh-HK" altLang="en-US" dirty="0"/>
          </a:p>
        </p:txBody>
      </p:sp>
      <p:sp>
        <p:nvSpPr>
          <p:cNvPr id="6" name="投影片編號版面配置區 5">
            <a:extLst>
              <a:ext uri="{FF2B5EF4-FFF2-40B4-BE49-F238E27FC236}">
                <a16:creationId xmlns:a16="http://schemas.microsoft.com/office/drawing/2014/main" id="{C493D2BC-CBF4-0318-4A61-9D353C43C8ED}"/>
              </a:ext>
            </a:extLst>
          </p:cNvPr>
          <p:cNvSpPr>
            <a:spLocks noGrp="1"/>
          </p:cNvSpPr>
          <p:nvPr>
            <p:ph type="sldNum" sz="quarter" idx="12"/>
          </p:nvPr>
        </p:nvSpPr>
        <p:spPr/>
        <p:txBody>
          <a:bodyPr/>
          <a:lstStyle/>
          <a:p>
            <a:fld id="{DB17CEA6-17B5-4347-86B2-9520D0409059}" type="slidenum">
              <a:rPr lang="zh-HK" altLang="en-US" smtClean="0"/>
              <a:t>35</a:t>
            </a:fld>
            <a:endParaRPr lang="zh-HK" altLang="en-US"/>
          </a:p>
        </p:txBody>
      </p:sp>
      <p:pic>
        <p:nvPicPr>
          <p:cNvPr id="5" name="Picture 4">
            <a:extLst>
              <a:ext uri="{FF2B5EF4-FFF2-40B4-BE49-F238E27FC236}">
                <a16:creationId xmlns:a16="http://schemas.microsoft.com/office/drawing/2014/main" id="{CD572CD4-A94A-24FB-3FC6-25B4FC4E0971}"/>
              </a:ext>
            </a:extLst>
          </p:cNvPr>
          <p:cNvPicPr>
            <a:picLocks noChangeAspect="1"/>
          </p:cNvPicPr>
          <p:nvPr/>
        </p:nvPicPr>
        <p:blipFill>
          <a:blip r:embed="rId2"/>
          <a:stretch>
            <a:fillRect/>
          </a:stretch>
        </p:blipFill>
        <p:spPr>
          <a:xfrm>
            <a:off x="646111" y="1163615"/>
            <a:ext cx="8065726" cy="5396673"/>
          </a:xfrm>
          <a:prstGeom prst="rect">
            <a:avLst/>
          </a:prstGeom>
        </p:spPr>
      </p:pic>
    </p:spTree>
    <p:extLst>
      <p:ext uri="{BB962C8B-B14F-4D97-AF65-F5344CB8AC3E}">
        <p14:creationId xmlns:p14="http://schemas.microsoft.com/office/powerpoint/2010/main" val="5239754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33929-2C03-0756-21EF-A6F7DCE197F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10A0B661-53A1-564A-797B-B43B0D14E0BD}"/>
              </a:ext>
            </a:extLst>
          </p:cNvPr>
          <p:cNvSpPr txBox="1"/>
          <p:nvPr/>
        </p:nvSpPr>
        <p:spPr>
          <a:xfrm>
            <a:off x="393405" y="373846"/>
            <a:ext cx="3072809" cy="3970318"/>
          </a:xfrm>
          <a:prstGeom prst="rect">
            <a:avLst/>
          </a:prstGeom>
          <a:noFill/>
        </p:spPr>
        <p:txBody>
          <a:bodyPr wrap="square" rtlCol="0">
            <a:spAutoFit/>
          </a:bodyPr>
          <a:lstStyle/>
          <a:p>
            <a:r>
              <a:rPr lang="en-US" altLang="zh-HK" sz="4200" dirty="0"/>
              <a:t>Result</a:t>
            </a:r>
          </a:p>
          <a:p>
            <a:endParaRPr lang="en-US" altLang="zh-HK" dirty="0"/>
          </a:p>
          <a:p>
            <a:endParaRPr lang="en-US" altLang="zh-HK" dirty="0"/>
          </a:p>
          <a:p>
            <a:endParaRPr lang="en-US" altLang="zh-HK" dirty="0"/>
          </a:p>
          <a:p>
            <a:endParaRPr lang="en-US" altLang="zh-HK" dirty="0"/>
          </a:p>
          <a:p>
            <a:endParaRPr lang="en-US" altLang="zh-HK" dirty="0"/>
          </a:p>
          <a:p>
            <a:endParaRPr lang="en-US" altLang="zh-HK" sz="4000" dirty="0"/>
          </a:p>
          <a:p>
            <a:endParaRPr lang="en-US" altLang="zh-HK" sz="4000" dirty="0"/>
          </a:p>
          <a:p>
            <a:endParaRPr lang="zh-HK" altLang="en-US" sz="4000" dirty="0"/>
          </a:p>
        </p:txBody>
      </p:sp>
      <p:sp>
        <p:nvSpPr>
          <p:cNvPr id="2" name="投影片編號版面配置區 1">
            <a:extLst>
              <a:ext uri="{FF2B5EF4-FFF2-40B4-BE49-F238E27FC236}">
                <a16:creationId xmlns:a16="http://schemas.microsoft.com/office/drawing/2014/main" id="{FE709DFF-CFAE-6AA6-21F0-DAA71846C03C}"/>
              </a:ext>
            </a:extLst>
          </p:cNvPr>
          <p:cNvSpPr>
            <a:spLocks noGrp="1"/>
          </p:cNvSpPr>
          <p:nvPr>
            <p:ph type="sldNum" sz="quarter" idx="12"/>
          </p:nvPr>
        </p:nvSpPr>
        <p:spPr/>
        <p:txBody>
          <a:bodyPr/>
          <a:lstStyle/>
          <a:p>
            <a:fld id="{DB17CEA6-17B5-4347-86B2-9520D0409059}" type="slidenum">
              <a:rPr lang="zh-HK" altLang="en-US" smtClean="0"/>
              <a:t>36</a:t>
            </a:fld>
            <a:endParaRPr lang="zh-HK" altLang="en-US"/>
          </a:p>
        </p:txBody>
      </p:sp>
      <p:graphicFrame>
        <p:nvGraphicFramePr>
          <p:cNvPr id="3" name="Table 2">
            <a:extLst>
              <a:ext uri="{FF2B5EF4-FFF2-40B4-BE49-F238E27FC236}">
                <a16:creationId xmlns:a16="http://schemas.microsoft.com/office/drawing/2014/main" id="{226CBD54-9774-DDB1-3AE2-B9F40226D9F6}"/>
              </a:ext>
            </a:extLst>
          </p:cNvPr>
          <p:cNvGraphicFramePr>
            <a:graphicFrameLocks noGrp="1"/>
          </p:cNvGraphicFramePr>
          <p:nvPr>
            <p:extLst>
              <p:ext uri="{D42A27DB-BD31-4B8C-83A1-F6EECF244321}">
                <p14:modId xmlns:p14="http://schemas.microsoft.com/office/powerpoint/2010/main" val="2384720288"/>
              </p:ext>
            </p:extLst>
          </p:nvPr>
        </p:nvGraphicFramePr>
        <p:xfrm>
          <a:off x="1085702" y="1357619"/>
          <a:ext cx="9918995" cy="2512632"/>
        </p:xfrm>
        <a:graphic>
          <a:graphicData uri="http://schemas.openxmlformats.org/drawingml/2006/table">
            <a:tbl>
              <a:tblPr firstRow="1" bandRow="1">
                <a:tableStyleId>{5C22544A-7EE6-4342-B048-85BDC9FD1C3A}</a:tableStyleId>
              </a:tblPr>
              <a:tblGrid>
                <a:gridCol w="1983799">
                  <a:extLst>
                    <a:ext uri="{9D8B030D-6E8A-4147-A177-3AD203B41FA5}">
                      <a16:colId xmlns:a16="http://schemas.microsoft.com/office/drawing/2014/main" val="4137550105"/>
                    </a:ext>
                  </a:extLst>
                </a:gridCol>
                <a:gridCol w="1983799">
                  <a:extLst>
                    <a:ext uri="{9D8B030D-6E8A-4147-A177-3AD203B41FA5}">
                      <a16:colId xmlns:a16="http://schemas.microsoft.com/office/drawing/2014/main" val="1380925175"/>
                    </a:ext>
                  </a:extLst>
                </a:gridCol>
                <a:gridCol w="1983799">
                  <a:extLst>
                    <a:ext uri="{9D8B030D-6E8A-4147-A177-3AD203B41FA5}">
                      <a16:colId xmlns:a16="http://schemas.microsoft.com/office/drawing/2014/main" val="1168934049"/>
                    </a:ext>
                  </a:extLst>
                </a:gridCol>
                <a:gridCol w="1983799">
                  <a:extLst>
                    <a:ext uri="{9D8B030D-6E8A-4147-A177-3AD203B41FA5}">
                      <a16:colId xmlns:a16="http://schemas.microsoft.com/office/drawing/2014/main" val="131878173"/>
                    </a:ext>
                  </a:extLst>
                </a:gridCol>
                <a:gridCol w="1983799">
                  <a:extLst>
                    <a:ext uri="{9D8B030D-6E8A-4147-A177-3AD203B41FA5}">
                      <a16:colId xmlns:a16="http://schemas.microsoft.com/office/drawing/2014/main" val="3863087642"/>
                    </a:ext>
                  </a:extLst>
                </a:gridCol>
              </a:tblGrid>
              <a:tr h="418772">
                <a:tc gridSpan="5">
                  <a:txBody>
                    <a:bodyPr/>
                    <a:lstStyle/>
                    <a:p>
                      <a:pPr algn="ctr"/>
                      <a:r>
                        <a:rPr lang="en-US" altLang="zh-HK" dirty="0"/>
                        <a:t>IRCOT</a:t>
                      </a:r>
                      <a:endParaRPr lang="zh-HK" altLang="en-US" dirty="0"/>
                    </a:p>
                  </a:txBody>
                  <a:tcPr/>
                </a:tc>
                <a:tc hMerge="1">
                  <a:txBody>
                    <a:bodyPr/>
                    <a:lstStyle/>
                    <a:p>
                      <a:endParaRPr lang="zh-HK" altLang="en-US" dirty="0"/>
                    </a:p>
                  </a:txBody>
                  <a:tcPr/>
                </a:tc>
                <a:tc hMerge="1">
                  <a:txBody>
                    <a:bodyPr/>
                    <a:lstStyle/>
                    <a:p>
                      <a:endParaRPr lang="zh-HK" altLang="en-US"/>
                    </a:p>
                  </a:txBody>
                  <a:tcPr/>
                </a:tc>
                <a:tc hMerge="1">
                  <a:txBody>
                    <a:bodyPr/>
                    <a:lstStyle/>
                    <a:p>
                      <a:endParaRPr lang="zh-HK" altLang="en-US" dirty="0"/>
                    </a:p>
                  </a:txBody>
                  <a:tcPr/>
                </a:tc>
                <a:tc hMerge="1">
                  <a:txBody>
                    <a:bodyPr/>
                    <a:lstStyle/>
                    <a:p>
                      <a:endParaRPr lang="zh-HK" altLang="en-US" dirty="0"/>
                    </a:p>
                  </a:txBody>
                  <a:tcPr/>
                </a:tc>
                <a:extLst>
                  <a:ext uri="{0D108BD9-81ED-4DB2-BD59-A6C34878D82A}">
                    <a16:rowId xmlns:a16="http://schemas.microsoft.com/office/drawing/2014/main" val="2047698110"/>
                  </a:ext>
                </a:extLst>
              </a:tr>
              <a:tr h="418772">
                <a:tc>
                  <a:txBody>
                    <a:bodyPr/>
                    <a:lstStyle/>
                    <a:p>
                      <a:endParaRPr lang="zh-HK" altLang="en-US"/>
                    </a:p>
                  </a:txBody>
                  <a:tcPr/>
                </a:tc>
                <a:tc>
                  <a:txBody>
                    <a:bodyPr/>
                    <a:lstStyle/>
                    <a:p>
                      <a:endParaRPr lang="zh-HK" altLang="en-US"/>
                    </a:p>
                  </a:txBody>
                  <a:tcPr/>
                </a:tc>
                <a:tc>
                  <a:txBody>
                    <a:bodyPr/>
                    <a:lstStyle/>
                    <a:p>
                      <a:endParaRPr lang="zh-HK" altLang="en-US" dirty="0"/>
                    </a:p>
                  </a:txBody>
                  <a:tcPr/>
                </a:tc>
                <a:tc>
                  <a:txBody>
                    <a:bodyPr/>
                    <a:lstStyle/>
                    <a:p>
                      <a:endParaRPr lang="zh-HK" altLang="en-US"/>
                    </a:p>
                  </a:txBody>
                  <a:tcPr/>
                </a:tc>
                <a:tc>
                  <a:txBody>
                    <a:bodyPr/>
                    <a:lstStyle/>
                    <a:p>
                      <a:endParaRPr lang="zh-HK" altLang="en-US"/>
                    </a:p>
                  </a:txBody>
                  <a:tcPr/>
                </a:tc>
                <a:extLst>
                  <a:ext uri="{0D108BD9-81ED-4DB2-BD59-A6C34878D82A}">
                    <a16:rowId xmlns:a16="http://schemas.microsoft.com/office/drawing/2014/main" val="1495979263"/>
                  </a:ext>
                </a:extLst>
              </a:tr>
              <a:tr h="418772">
                <a:tc>
                  <a:txBody>
                    <a:bodyPr/>
                    <a:lstStyle/>
                    <a:p>
                      <a:endParaRPr lang="zh-HK" altLang="en-US"/>
                    </a:p>
                  </a:txBody>
                  <a:tcPr/>
                </a:tc>
                <a:tc>
                  <a:txBody>
                    <a:bodyPr/>
                    <a:lstStyle/>
                    <a:p>
                      <a:endParaRPr lang="zh-HK" altLang="en-US"/>
                    </a:p>
                  </a:txBody>
                  <a:tcPr/>
                </a:tc>
                <a:tc>
                  <a:txBody>
                    <a:bodyPr/>
                    <a:lstStyle/>
                    <a:p>
                      <a:endParaRPr lang="zh-HK" altLang="en-US"/>
                    </a:p>
                  </a:txBody>
                  <a:tcPr/>
                </a:tc>
                <a:tc>
                  <a:txBody>
                    <a:bodyPr/>
                    <a:lstStyle/>
                    <a:p>
                      <a:endParaRPr lang="zh-HK" altLang="en-US" dirty="0"/>
                    </a:p>
                  </a:txBody>
                  <a:tcPr/>
                </a:tc>
                <a:tc>
                  <a:txBody>
                    <a:bodyPr/>
                    <a:lstStyle/>
                    <a:p>
                      <a:endParaRPr lang="zh-HK" altLang="en-US" dirty="0"/>
                    </a:p>
                  </a:txBody>
                  <a:tcPr/>
                </a:tc>
                <a:extLst>
                  <a:ext uri="{0D108BD9-81ED-4DB2-BD59-A6C34878D82A}">
                    <a16:rowId xmlns:a16="http://schemas.microsoft.com/office/drawing/2014/main" val="1512711467"/>
                  </a:ext>
                </a:extLst>
              </a:tr>
              <a:tr h="418772">
                <a:tc>
                  <a:txBody>
                    <a:bodyPr/>
                    <a:lstStyle/>
                    <a:p>
                      <a:endParaRPr lang="zh-HK" altLang="en-US"/>
                    </a:p>
                  </a:txBody>
                  <a:tcPr/>
                </a:tc>
                <a:tc>
                  <a:txBody>
                    <a:bodyPr/>
                    <a:lstStyle/>
                    <a:p>
                      <a:endParaRPr lang="zh-HK" altLang="en-US"/>
                    </a:p>
                  </a:txBody>
                  <a:tcPr/>
                </a:tc>
                <a:tc>
                  <a:txBody>
                    <a:bodyPr/>
                    <a:lstStyle/>
                    <a:p>
                      <a:endParaRPr lang="zh-HK" altLang="en-US"/>
                    </a:p>
                  </a:txBody>
                  <a:tcPr/>
                </a:tc>
                <a:tc>
                  <a:txBody>
                    <a:bodyPr/>
                    <a:lstStyle/>
                    <a:p>
                      <a:endParaRPr lang="zh-HK" altLang="en-US" dirty="0"/>
                    </a:p>
                  </a:txBody>
                  <a:tcPr/>
                </a:tc>
                <a:tc>
                  <a:txBody>
                    <a:bodyPr/>
                    <a:lstStyle/>
                    <a:p>
                      <a:endParaRPr lang="zh-HK" altLang="en-US" dirty="0"/>
                    </a:p>
                  </a:txBody>
                  <a:tcPr/>
                </a:tc>
                <a:extLst>
                  <a:ext uri="{0D108BD9-81ED-4DB2-BD59-A6C34878D82A}">
                    <a16:rowId xmlns:a16="http://schemas.microsoft.com/office/drawing/2014/main" val="3904590522"/>
                  </a:ext>
                </a:extLst>
              </a:tr>
              <a:tr h="418772">
                <a:tc>
                  <a:txBody>
                    <a:bodyPr/>
                    <a:lstStyle/>
                    <a:p>
                      <a:endParaRPr lang="zh-HK" altLang="en-US"/>
                    </a:p>
                  </a:txBody>
                  <a:tcPr/>
                </a:tc>
                <a:tc>
                  <a:txBody>
                    <a:bodyPr/>
                    <a:lstStyle/>
                    <a:p>
                      <a:endParaRPr lang="zh-HK" altLang="en-US"/>
                    </a:p>
                  </a:txBody>
                  <a:tcPr/>
                </a:tc>
                <a:tc>
                  <a:txBody>
                    <a:bodyPr/>
                    <a:lstStyle/>
                    <a:p>
                      <a:endParaRPr lang="zh-HK" altLang="en-US"/>
                    </a:p>
                  </a:txBody>
                  <a:tcPr/>
                </a:tc>
                <a:tc>
                  <a:txBody>
                    <a:bodyPr/>
                    <a:lstStyle/>
                    <a:p>
                      <a:endParaRPr lang="zh-HK" altLang="en-US" dirty="0"/>
                    </a:p>
                  </a:txBody>
                  <a:tcPr/>
                </a:tc>
                <a:tc>
                  <a:txBody>
                    <a:bodyPr/>
                    <a:lstStyle/>
                    <a:p>
                      <a:endParaRPr lang="zh-HK" altLang="en-US" dirty="0"/>
                    </a:p>
                  </a:txBody>
                  <a:tcPr/>
                </a:tc>
                <a:extLst>
                  <a:ext uri="{0D108BD9-81ED-4DB2-BD59-A6C34878D82A}">
                    <a16:rowId xmlns:a16="http://schemas.microsoft.com/office/drawing/2014/main" val="104627853"/>
                  </a:ext>
                </a:extLst>
              </a:tr>
              <a:tr h="418772">
                <a:tc>
                  <a:txBody>
                    <a:bodyPr/>
                    <a:lstStyle/>
                    <a:p>
                      <a:endParaRPr lang="zh-HK" altLang="en-US"/>
                    </a:p>
                  </a:txBody>
                  <a:tcPr/>
                </a:tc>
                <a:tc>
                  <a:txBody>
                    <a:bodyPr/>
                    <a:lstStyle/>
                    <a:p>
                      <a:endParaRPr lang="zh-HK" altLang="en-US"/>
                    </a:p>
                  </a:txBody>
                  <a:tcPr/>
                </a:tc>
                <a:tc>
                  <a:txBody>
                    <a:bodyPr/>
                    <a:lstStyle/>
                    <a:p>
                      <a:endParaRPr lang="zh-HK" altLang="en-US"/>
                    </a:p>
                  </a:txBody>
                  <a:tcPr/>
                </a:tc>
                <a:tc>
                  <a:txBody>
                    <a:bodyPr/>
                    <a:lstStyle/>
                    <a:p>
                      <a:endParaRPr lang="zh-HK" altLang="en-US" dirty="0"/>
                    </a:p>
                  </a:txBody>
                  <a:tcPr/>
                </a:tc>
                <a:tc>
                  <a:txBody>
                    <a:bodyPr/>
                    <a:lstStyle/>
                    <a:p>
                      <a:endParaRPr lang="zh-HK" altLang="en-US" dirty="0"/>
                    </a:p>
                  </a:txBody>
                  <a:tcPr/>
                </a:tc>
                <a:extLst>
                  <a:ext uri="{0D108BD9-81ED-4DB2-BD59-A6C34878D82A}">
                    <a16:rowId xmlns:a16="http://schemas.microsoft.com/office/drawing/2014/main" val="4062174206"/>
                  </a:ext>
                </a:extLst>
              </a:tr>
            </a:tbl>
          </a:graphicData>
        </a:graphic>
      </p:graphicFrame>
    </p:spTree>
    <p:extLst>
      <p:ext uri="{BB962C8B-B14F-4D97-AF65-F5344CB8AC3E}">
        <p14:creationId xmlns:p14="http://schemas.microsoft.com/office/powerpoint/2010/main" val="5826898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1266F-07EF-5598-0745-123C20E8A5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6FF936-7AFA-4181-490A-0ED4FE283492}"/>
              </a:ext>
            </a:extLst>
          </p:cNvPr>
          <p:cNvSpPr>
            <a:spLocks noGrp="1"/>
          </p:cNvSpPr>
          <p:nvPr>
            <p:ph type="title"/>
          </p:nvPr>
        </p:nvSpPr>
        <p:spPr>
          <a:xfrm>
            <a:off x="310831" y="366124"/>
            <a:ext cx="10133649" cy="801924"/>
          </a:xfrm>
        </p:spPr>
        <p:txBody>
          <a:bodyPr/>
          <a:lstStyle/>
          <a:p>
            <a:r>
              <a:rPr lang="en-US" altLang="zh-HK" dirty="0"/>
              <a:t>Conclusion</a:t>
            </a:r>
            <a:endParaRPr lang="zh-HK" altLang="en-US" dirty="0"/>
          </a:p>
        </p:txBody>
      </p:sp>
      <p:sp>
        <p:nvSpPr>
          <p:cNvPr id="3" name="Content Placeholder 2">
            <a:extLst>
              <a:ext uri="{FF2B5EF4-FFF2-40B4-BE49-F238E27FC236}">
                <a16:creationId xmlns:a16="http://schemas.microsoft.com/office/drawing/2014/main" id="{B7EC6EAB-39D5-CF2C-4BFD-53F384553949}"/>
              </a:ext>
            </a:extLst>
          </p:cNvPr>
          <p:cNvSpPr>
            <a:spLocks noGrp="1"/>
          </p:cNvSpPr>
          <p:nvPr>
            <p:ph idx="1"/>
          </p:nvPr>
        </p:nvSpPr>
        <p:spPr>
          <a:xfrm>
            <a:off x="1103312" y="1669311"/>
            <a:ext cx="10347953" cy="4579087"/>
          </a:xfrm>
        </p:spPr>
        <p:txBody>
          <a:bodyPr>
            <a:noAutofit/>
          </a:bodyPr>
          <a:lstStyle/>
          <a:p>
            <a:pPr marL="0" indent="0">
              <a:buNone/>
            </a:pPr>
            <a:r>
              <a:rPr lang="en-US" altLang="zh-HK" sz="2200" dirty="0"/>
              <a:t>After the above experiments, here is some key results</a:t>
            </a:r>
          </a:p>
          <a:p>
            <a:r>
              <a:rPr lang="en-US" altLang="zh-HK" sz="2200" dirty="0"/>
              <a:t>Selected top 3 LLMs for this project</a:t>
            </a:r>
          </a:p>
          <a:p>
            <a:pPr marL="685800" lvl="1">
              <a:buFont typeface="Wingdings" panose="05000000000000000000" pitchFamily="2" charset="2"/>
              <a:buChar char="Ø"/>
            </a:pPr>
            <a:r>
              <a:rPr lang="en-US" altLang="zh-HK" sz="2200" dirty="0"/>
              <a:t>Gemma 2 9B it</a:t>
            </a:r>
          </a:p>
          <a:p>
            <a:pPr marL="685800" lvl="1">
              <a:buFont typeface="Wingdings" panose="05000000000000000000" pitchFamily="2" charset="2"/>
              <a:buChar char="Ø"/>
            </a:pPr>
            <a:r>
              <a:rPr lang="en-US" altLang="zh-HK" sz="2200" dirty="0"/>
              <a:t>Llama 3.2 11B Instruct</a:t>
            </a:r>
          </a:p>
          <a:p>
            <a:pPr marL="685800" lvl="1">
              <a:buFont typeface="Wingdings" panose="05000000000000000000" pitchFamily="2" charset="2"/>
              <a:buChar char="Ø"/>
            </a:pPr>
            <a:r>
              <a:rPr lang="en-US" altLang="zh-HK" sz="2200" dirty="0"/>
              <a:t>Yi 1.5 9B Chat</a:t>
            </a:r>
            <a:endParaRPr lang="en-US" altLang="zh-HK" sz="2200" b="1" dirty="0"/>
          </a:p>
          <a:p>
            <a:r>
              <a:rPr lang="en-US" altLang="zh-HK" sz="2200" dirty="0"/>
              <a:t>RAG method has better accuracy than No RAG method in this project</a:t>
            </a:r>
          </a:p>
          <a:p>
            <a:r>
              <a:rPr lang="en-US" altLang="zh-HK" sz="2200" dirty="0"/>
              <a:t>Self-Reflective RAG has better accuracy and generation quality than RAG, but it costs longer response time</a:t>
            </a:r>
          </a:p>
        </p:txBody>
      </p:sp>
      <p:sp>
        <p:nvSpPr>
          <p:cNvPr id="4" name="投影片編號版面配置區 3">
            <a:extLst>
              <a:ext uri="{FF2B5EF4-FFF2-40B4-BE49-F238E27FC236}">
                <a16:creationId xmlns:a16="http://schemas.microsoft.com/office/drawing/2014/main" id="{8FC8679F-88A7-8298-45E6-D20D28C65D00}"/>
              </a:ext>
            </a:extLst>
          </p:cNvPr>
          <p:cNvSpPr>
            <a:spLocks noGrp="1"/>
          </p:cNvSpPr>
          <p:nvPr>
            <p:ph type="sldNum" sz="quarter" idx="12"/>
          </p:nvPr>
        </p:nvSpPr>
        <p:spPr/>
        <p:txBody>
          <a:bodyPr/>
          <a:lstStyle/>
          <a:p>
            <a:fld id="{DB17CEA6-17B5-4347-86B2-9520D0409059}" type="slidenum">
              <a:rPr lang="zh-HK" altLang="en-US" smtClean="0"/>
              <a:t>37</a:t>
            </a:fld>
            <a:endParaRPr lang="zh-HK" altLang="en-US"/>
          </a:p>
        </p:txBody>
      </p:sp>
    </p:spTree>
    <p:extLst>
      <p:ext uri="{BB962C8B-B14F-4D97-AF65-F5344CB8AC3E}">
        <p14:creationId xmlns:p14="http://schemas.microsoft.com/office/powerpoint/2010/main" val="60211065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F29D6-572F-01F3-506F-881830681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F2090A-70D7-009D-EA3E-2CEAFF955ABB}"/>
              </a:ext>
            </a:extLst>
          </p:cNvPr>
          <p:cNvSpPr>
            <a:spLocks noGrp="1"/>
          </p:cNvSpPr>
          <p:nvPr>
            <p:ph type="title"/>
          </p:nvPr>
        </p:nvSpPr>
        <p:spPr>
          <a:xfrm>
            <a:off x="310831" y="366124"/>
            <a:ext cx="10133649" cy="801924"/>
          </a:xfrm>
        </p:spPr>
        <p:txBody>
          <a:bodyPr/>
          <a:lstStyle/>
          <a:p>
            <a:r>
              <a:rPr lang="en-US" altLang="zh-HK" dirty="0"/>
              <a:t>Challenge for this project</a:t>
            </a:r>
            <a:endParaRPr lang="zh-HK" altLang="en-US" dirty="0"/>
          </a:p>
        </p:txBody>
      </p:sp>
      <p:sp>
        <p:nvSpPr>
          <p:cNvPr id="3" name="Content Placeholder 2">
            <a:extLst>
              <a:ext uri="{FF2B5EF4-FFF2-40B4-BE49-F238E27FC236}">
                <a16:creationId xmlns:a16="http://schemas.microsoft.com/office/drawing/2014/main" id="{CEEA4111-3472-7B8A-ADA4-2863C45F646B}"/>
              </a:ext>
            </a:extLst>
          </p:cNvPr>
          <p:cNvSpPr>
            <a:spLocks noGrp="1"/>
          </p:cNvSpPr>
          <p:nvPr>
            <p:ph idx="1"/>
          </p:nvPr>
        </p:nvSpPr>
        <p:spPr>
          <a:xfrm>
            <a:off x="1103312" y="1669311"/>
            <a:ext cx="10241628" cy="4603898"/>
          </a:xfrm>
        </p:spPr>
        <p:txBody>
          <a:bodyPr>
            <a:noAutofit/>
          </a:bodyPr>
          <a:lstStyle/>
          <a:p>
            <a:r>
              <a:rPr lang="en-US" altLang="zh-HK" sz="2200" b="1" dirty="0"/>
              <a:t>Long Response Time for Multiple Interactions</a:t>
            </a:r>
          </a:p>
          <a:p>
            <a:pPr lvl="1"/>
            <a:r>
              <a:rPr lang="en-US" altLang="zh-HK" sz="2200" dirty="0"/>
              <a:t>the acceptable response time of the project is lower than 10 seconds</a:t>
            </a:r>
          </a:p>
          <a:p>
            <a:pPr lvl="1"/>
            <a:r>
              <a:rPr lang="en-US" altLang="zh-HK" sz="2200" dirty="0"/>
              <a:t>the latency time using self-reflective RAG usually takes more than one minute for each response</a:t>
            </a:r>
            <a:endParaRPr lang="en-US" altLang="zh-HK" sz="2200" b="1" dirty="0"/>
          </a:p>
          <a:p>
            <a:r>
              <a:rPr lang="en-US" altLang="zh-HK" sz="2200" b="1" dirty="0"/>
              <a:t>Hardware Limitations</a:t>
            </a:r>
          </a:p>
          <a:p>
            <a:pPr lvl="1"/>
            <a:r>
              <a:rPr lang="en-US" altLang="zh-HK" sz="2200" dirty="0"/>
              <a:t>Response time of Gemma 2 on provided GPU server (Nvidia 1080 Ti) using basic RAG method: 16.37s per response  </a:t>
            </a:r>
          </a:p>
          <a:p>
            <a:pPr lvl="1"/>
            <a:r>
              <a:rPr lang="en-US" altLang="zh-HK" sz="2200" dirty="0"/>
              <a:t>Response time of Gemma 2 on cloud server (POE) using basic RAG method: 1s per response  </a:t>
            </a:r>
          </a:p>
          <a:p>
            <a:pPr lvl="1"/>
            <a:endParaRPr lang="en-US" altLang="zh-HK" dirty="0"/>
          </a:p>
        </p:txBody>
      </p:sp>
      <p:sp>
        <p:nvSpPr>
          <p:cNvPr id="4" name="投影片編號版面配置區 3">
            <a:extLst>
              <a:ext uri="{FF2B5EF4-FFF2-40B4-BE49-F238E27FC236}">
                <a16:creationId xmlns:a16="http://schemas.microsoft.com/office/drawing/2014/main" id="{981808F3-CF7A-1E7C-283C-CE8E92931EAD}"/>
              </a:ext>
            </a:extLst>
          </p:cNvPr>
          <p:cNvSpPr>
            <a:spLocks noGrp="1"/>
          </p:cNvSpPr>
          <p:nvPr>
            <p:ph type="sldNum" sz="quarter" idx="12"/>
          </p:nvPr>
        </p:nvSpPr>
        <p:spPr/>
        <p:txBody>
          <a:bodyPr/>
          <a:lstStyle/>
          <a:p>
            <a:fld id="{DB17CEA6-17B5-4347-86B2-9520D0409059}" type="slidenum">
              <a:rPr lang="zh-HK" altLang="en-US" smtClean="0"/>
              <a:t>38</a:t>
            </a:fld>
            <a:endParaRPr lang="zh-HK" altLang="en-US"/>
          </a:p>
        </p:txBody>
      </p:sp>
    </p:spTree>
    <p:extLst>
      <p:ext uri="{BB962C8B-B14F-4D97-AF65-F5344CB8AC3E}">
        <p14:creationId xmlns:p14="http://schemas.microsoft.com/office/powerpoint/2010/main" val="33303863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822DC-EFB4-8E26-5949-DA6F911FD364}"/>
              </a:ext>
            </a:extLst>
          </p:cNvPr>
          <p:cNvSpPr>
            <a:spLocks noGrp="1"/>
          </p:cNvSpPr>
          <p:nvPr>
            <p:ph type="title"/>
          </p:nvPr>
        </p:nvSpPr>
        <p:spPr>
          <a:xfrm>
            <a:off x="310831" y="366124"/>
            <a:ext cx="10133649" cy="801924"/>
          </a:xfrm>
        </p:spPr>
        <p:txBody>
          <a:bodyPr/>
          <a:lstStyle/>
          <a:p>
            <a:r>
              <a:rPr lang="en-US" altLang="zh-HK" dirty="0"/>
              <a:t>Further Prospect on Term 2</a:t>
            </a:r>
            <a:endParaRPr lang="zh-HK" altLang="en-US" dirty="0"/>
          </a:p>
        </p:txBody>
      </p:sp>
      <p:sp>
        <p:nvSpPr>
          <p:cNvPr id="3" name="Content Placeholder 2">
            <a:extLst>
              <a:ext uri="{FF2B5EF4-FFF2-40B4-BE49-F238E27FC236}">
                <a16:creationId xmlns:a16="http://schemas.microsoft.com/office/drawing/2014/main" id="{10FDE542-88FF-3003-A0CF-2A8115BB5B2C}"/>
              </a:ext>
            </a:extLst>
          </p:cNvPr>
          <p:cNvSpPr>
            <a:spLocks noGrp="1"/>
          </p:cNvSpPr>
          <p:nvPr>
            <p:ph idx="1"/>
          </p:nvPr>
        </p:nvSpPr>
        <p:spPr>
          <a:xfrm>
            <a:off x="1103312" y="1881963"/>
            <a:ext cx="10305423" cy="4366436"/>
          </a:xfrm>
        </p:spPr>
        <p:txBody>
          <a:bodyPr>
            <a:noAutofit/>
          </a:bodyPr>
          <a:lstStyle/>
          <a:p>
            <a:r>
              <a:rPr lang="en-US" altLang="zh-HK" sz="2200" b="1" dirty="0"/>
              <a:t>Research on other advanced RAG framework at Experiment 2</a:t>
            </a:r>
          </a:p>
          <a:p>
            <a:pPr lvl="1"/>
            <a:r>
              <a:rPr lang="en-US" altLang="zh-HK" sz="2200" dirty="0"/>
              <a:t>To improve the accuracy and generation quality, while addressing the tradeoff between accuracy and computational efficiency</a:t>
            </a:r>
          </a:p>
          <a:p>
            <a:r>
              <a:rPr lang="en-US" altLang="zh-HK" sz="2200" b="1" dirty="0"/>
              <a:t>Fine-tuning the LLMs to enhance its RAG capabilities</a:t>
            </a:r>
          </a:p>
          <a:p>
            <a:pPr lvl="1"/>
            <a:r>
              <a:rPr lang="en-US" altLang="zh-HK" sz="2200" dirty="0"/>
              <a:t>Create 200 questions and answers pairs</a:t>
            </a:r>
          </a:p>
          <a:p>
            <a:pPr lvl="1"/>
            <a:r>
              <a:rPr lang="en-US" altLang="zh-HK" sz="2200" dirty="0"/>
              <a:t>To improve the LLM’s ability to generate accurate, factual and relevant responses based on retrieved context</a:t>
            </a:r>
          </a:p>
          <a:p>
            <a:r>
              <a:rPr lang="en-US" altLang="zh-HK" sz="2200" b="1" dirty="0"/>
              <a:t>Building the prototypes</a:t>
            </a:r>
          </a:p>
          <a:p>
            <a:pPr lvl="1"/>
            <a:r>
              <a:rPr lang="en-US" altLang="zh-HK" sz="2200" dirty="0"/>
              <a:t>To showcase the chatbot system's functionality and capabilities at the end of the project</a:t>
            </a:r>
          </a:p>
        </p:txBody>
      </p:sp>
      <p:sp>
        <p:nvSpPr>
          <p:cNvPr id="4" name="投影片編號版面配置區 3">
            <a:extLst>
              <a:ext uri="{FF2B5EF4-FFF2-40B4-BE49-F238E27FC236}">
                <a16:creationId xmlns:a16="http://schemas.microsoft.com/office/drawing/2014/main" id="{7C181674-57DA-4F0C-83E8-3864206B0736}"/>
              </a:ext>
            </a:extLst>
          </p:cNvPr>
          <p:cNvSpPr>
            <a:spLocks noGrp="1"/>
          </p:cNvSpPr>
          <p:nvPr>
            <p:ph type="sldNum" sz="quarter" idx="12"/>
          </p:nvPr>
        </p:nvSpPr>
        <p:spPr/>
        <p:txBody>
          <a:bodyPr/>
          <a:lstStyle/>
          <a:p>
            <a:fld id="{DB17CEA6-17B5-4347-86B2-9520D0409059}" type="slidenum">
              <a:rPr lang="zh-HK" altLang="en-US" smtClean="0"/>
              <a:t>39</a:t>
            </a:fld>
            <a:endParaRPr lang="zh-HK" altLang="en-US"/>
          </a:p>
        </p:txBody>
      </p:sp>
    </p:spTree>
    <p:extLst>
      <p:ext uri="{BB962C8B-B14F-4D97-AF65-F5344CB8AC3E}">
        <p14:creationId xmlns:p14="http://schemas.microsoft.com/office/powerpoint/2010/main" val="10387455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95107-8F88-15AE-342B-504E0DF47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D58C64-3C1D-E527-3DB7-4D196C23F537}"/>
              </a:ext>
            </a:extLst>
          </p:cNvPr>
          <p:cNvSpPr>
            <a:spLocks noGrp="1"/>
          </p:cNvSpPr>
          <p:nvPr>
            <p:ph type="title"/>
          </p:nvPr>
        </p:nvSpPr>
        <p:spPr>
          <a:xfrm>
            <a:off x="310831" y="366124"/>
            <a:ext cx="10133649" cy="801924"/>
          </a:xfrm>
        </p:spPr>
        <p:txBody>
          <a:bodyPr/>
          <a:lstStyle/>
          <a:p>
            <a:r>
              <a:rPr lang="en-US" altLang="zh-HK" dirty="0"/>
              <a:t>Reference</a:t>
            </a:r>
            <a:endParaRPr lang="zh-HK" altLang="en-US" dirty="0"/>
          </a:p>
        </p:txBody>
      </p:sp>
      <p:sp>
        <p:nvSpPr>
          <p:cNvPr id="3" name="Content Placeholder 2">
            <a:extLst>
              <a:ext uri="{FF2B5EF4-FFF2-40B4-BE49-F238E27FC236}">
                <a16:creationId xmlns:a16="http://schemas.microsoft.com/office/drawing/2014/main" id="{97F83D17-9DA8-15E7-7C29-86929D2DAFD8}"/>
              </a:ext>
            </a:extLst>
          </p:cNvPr>
          <p:cNvSpPr>
            <a:spLocks noGrp="1"/>
          </p:cNvSpPr>
          <p:nvPr>
            <p:ph idx="1"/>
          </p:nvPr>
        </p:nvSpPr>
        <p:spPr>
          <a:xfrm>
            <a:off x="422829" y="1168048"/>
            <a:ext cx="11347413" cy="5498566"/>
          </a:xfrm>
        </p:spPr>
        <p:txBody>
          <a:bodyPr>
            <a:noAutofit/>
          </a:bodyPr>
          <a:lstStyle/>
          <a:p>
            <a:r>
              <a:rPr lang="en-US" altLang="zh-HK" sz="1400" dirty="0"/>
              <a:t>[1] </a:t>
            </a:r>
            <a:r>
              <a:rPr lang="en-US" altLang="zh-HK" sz="1400" dirty="0" err="1"/>
              <a:t>Shiyas</a:t>
            </a:r>
            <a:r>
              <a:rPr lang="en-US" altLang="zh-HK" sz="1400" dirty="0"/>
              <a:t>, A. (2023). Microsoft research project helps languages survive and thrive</a:t>
            </a:r>
          </a:p>
          <a:p>
            <a:r>
              <a:rPr lang="en-US" altLang="zh-HK" sz="1400" dirty="0"/>
              <a:t>[2] Doe, J., &amp; Smith, A. (2024). </a:t>
            </a:r>
            <a:r>
              <a:rPr lang="en-US" altLang="zh-HK" sz="1400" dirty="0" err="1"/>
              <a:t>OpenCoder</a:t>
            </a:r>
            <a:r>
              <a:rPr lang="en-US" altLang="zh-HK" sz="1400" dirty="0"/>
              <a:t>: The Open Cookbook for Top-Tier Code Large Language Models</a:t>
            </a:r>
          </a:p>
          <a:p>
            <a:r>
              <a:rPr lang="en-US" altLang="zh-HK" sz="1400" dirty="0"/>
              <a:t>[3] Peters, M. E., Neumann, M., Logan, R. L. IV, Schwartz, R., Joshi, V., Singh, S., &amp; Smith, N. A. (2019). Knowledge enhanced contextual word representations</a:t>
            </a:r>
          </a:p>
          <a:p>
            <a:r>
              <a:rPr lang="en-US" altLang="zh-HK" sz="1400" dirty="0"/>
              <a:t>[4] Jin, S., Yu, S., &amp; </a:t>
            </a:r>
            <a:r>
              <a:rPr lang="en-US" altLang="zh-HK" sz="1400" dirty="0" err="1"/>
              <a:t>Kokoromyti</a:t>
            </a:r>
            <a:r>
              <a:rPr lang="en-US" altLang="zh-HK" sz="1400" dirty="0"/>
              <a:t>, N. (2024). GRAFT: Graph Retrieval Augmented Fine Tuning for Multi-Hop Query Summarization. Stanford University</a:t>
            </a:r>
          </a:p>
          <a:p>
            <a:r>
              <a:rPr lang="en-US" altLang="zh-HK" sz="1400" dirty="0"/>
              <a:t>[5] Vohra, D. K. (2024). A guide to fine-tuning LLMs for improved RAG performance </a:t>
            </a:r>
            <a:r>
              <a:rPr lang="en-US" altLang="zh-HK" sz="1400" dirty="0" err="1"/>
              <a:t>Hyperstack</a:t>
            </a:r>
            <a:endParaRPr lang="en-US" altLang="zh-HK" sz="1400" dirty="0"/>
          </a:p>
          <a:p>
            <a:r>
              <a:rPr lang="en-US" altLang="zh-HK" sz="1400" dirty="0"/>
              <a:t>[6] Zhang, T., Patil, S. G., Jain, N., Shen, S., </a:t>
            </a:r>
            <a:r>
              <a:rPr lang="en-US" altLang="zh-HK" sz="1400" dirty="0" err="1"/>
              <a:t>Zaharia</a:t>
            </a:r>
            <a:r>
              <a:rPr lang="en-US" altLang="zh-HK" sz="1400" dirty="0"/>
              <a:t>, M., Stoica, I., &amp; Gonzalez, J. E. (2024). RAFT: Adapting Language Model to Domain Specific RAG</a:t>
            </a:r>
          </a:p>
          <a:p>
            <a:r>
              <a:rPr lang="en-US" altLang="zh-HK" sz="1400" dirty="0"/>
              <a:t>[7] Saad-Falcon, J., Khattab, O., Potts, C., &amp; </a:t>
            </a:r>
            <a:r>
              <a:rPr lang="en-US" altLang="zh-HK" sz="1400" dirty="0" err="1"/>
              <a:t>Zaharia</a:t>
            </a:r>
            <a:r>
              <a:rPr lang="en-US" altLang="zh-HK" sz="1400" dirty="0"/>
              <a:t>, M. (2024). ARES: An Automated Evaluation Framework for Retrieval-Augmented Generation Systems</a:t>
            </a:r>
          </a:p>
          <a:p>
            <a:r>
              <a:rPr lang="pt-BR" altLang="zh-HK" sz="1400" dirty="0"/>
              <a:t>[8] Ragas. (2024). Faithfulness. Ragas Documentation</a:t>
            </a:r>
          </a:p>
          <a:p>
            <a:r>
              <a:rPr lang="en-US" altLang="zh-HK" sz="1400" dirty="0"/>
              <a:t>[9] </a:t>
            </a:r>
            <a:r>
              <a:rPr lang="en-US" altLang="zh-HK" sz="1400" dirty="0" err="1"/>
              <a:t>Sawarkar</a:t>
            </a:r>
            <a:r>
              <a:rPr lang="en-US" altLang="zh-HK" sz="1400" dirty="0"/>
              <a:t>, K., Mangal, A., &amp; Solanki, S. R. (2024). Blended RAG: Improving RAG(Retriever-Augmented Generation) Accuracy with Semantic Search and Hybrid Query-Based Retrievers</a:t>
            </a:r>
          </a:p>
          <a:p>
            <a:r>
              <a:rPr lang="en-US" altLang="zh-HK" sz="1400" dirty="0"/>
              <a:t>[10] Lavie, A., &amp; Agarwal, A. (2007). METEOR: An automatic metric for MT evaluation with high levels of correlation with human judgments. In Proceedings of the Second Workshop on Statistical Machine Translation (pp. 228–231). Association for Computational Linguistics.</a:t>
            </a:r>
          </a:p>
          <a:p>
            <a:r>
              <a:rPr lang="en-US" altLang="zh-HK" sz="1400" dirty="0"/>
              <a:t>[11] </a:t>
            </a:r>
            <a:r>
              <a:rPr lang="en-US" altLang="zh-HK" sz="1400" dirty="0" err="1"/>
              <a:t>Asai</a:t>
            </a:r>
            <a:r>
              <a:rPr lang="en-US" altLang="zh-HK" sz="1400" dirty="0"/>
              <a:t>, A., Wu, Z., Wang, Y., Sil, A., &amp; </a:t>
            </a:r>
            <a:r>
              <a:rPr lang="en-US" altLang="zh-HK" sz="1400" dirty="0" err="1"/>
              <a:t>Hajishirzi</a:t>
            </a:r>
            <a:r>
              <a:rPr lang="en-US" altLang="zh-HK" sz="1400" dirty="0"/>
              <a:t>, H. (2023). Self-RAG: Learning to Retrieve, Generate, and Critique through Self-Reflection</a:t>
            </a:r>
          </a:p>
        </p:txBody>
      </p:sp>
      <p:sp>
        <p:nvSpPr>
          <p:cNvPr id="4" name="投影片編號版面配置區 3">
            <a:extLst>
              <a:ext uri="{FF2B5EF4-FFF2-40B4-BE49-F238E27FC236}">
                <a16:creationId xmlns:a16="http://schemas.microsoft.com/office/drawing/2014/main" id="{69A0AA93-700D-D55A-B2B9-1AD94B64DEB1}"/>
              </a:ext>
            </a:extLst>
          </p:cNvPr>
          <p:cNvSpPr>
            <a:spLocks noGrp="1"/>
          </p:cNvSpPr>
          <p:nvPr>
            <p:ph type="sldNum" sz="quarter" idx="12"/>
          </p:nvPr>
        </p:nvSpPr>
        <p:spPr/>
        <p:txBody>
          <a:bodyPr/>
          <a:lstStyle/>
          <a:p>
            <a:fld id="{DB17CEA6-17B5-4347-86B2-9520D0409059}" type="slidenum">
              <a:rPr lang="zh-HK" altLang="en-US" smtClean="0"/>
              <a:t>40</a:t>
            </a:fld>
            <a:endParaRPr lang="zh-HK" altLang="en-US"/>
          </a:p>
        </p:txBody>
      </p:sp>
    </p:spTree>
    <p:extLst>
      <p:ext uri="{BB962C8B-B14F-4D97-AF65-F5344CB8AC3E}">
        <p14:creationId xmlns:p14="http://schemas.microsoft.com/office/powerpoint/2010/main" val="29746037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7197</TotalTime>
  <Words>3649</Words>
  <Application>Microsoft Office PowerPoint</Application>
  <PresentationFormat>Widescreen</PresentationFormat>
  <Paragraphs>474</Paragraphs>
  <Slides>40</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Aptos</vt:lpstr>
      <vt:lpstr>Arial</vt:lpstr>
      <vt:lpstr>Calibri</vt:lpstr>
      <vt:lpstr>Century Gothic</vt:lpstr>
      <vt:lpstr>Wingdings</vt:lpstr>
      <vt:lpstr>Wingdings 3</vt:lpstr>
      <vt:lpstr>Ion</vt:lpstr>
      <vt:lpstr>CUHK MSC Fintech  FTEC 5910 Industrial Project  Final Presentation Project Sponsor: Bank of Communications Co.,Ltd. Hong Kong Branch  Topic: Large Language Model Building for Bankwise Processes  Author:  Wong Ko Yin  </vt:lpstr>
      <vt:lpstr>Background</vt:lpstr>
      <vt:lpstr>Objectives</vt:lpstr>
      <vt:lpstr>Risk and Challenges for Existing Open-source Chatbot System</vt:lpstr>
      <vt:lpstr>Hardware for this Project</vt:lpstr>
      <vt:lpstr>Solutions to the Risks and Challenges</vt:lpstr>
      <vt:lpstr>Step-by-Step Development Progress</vt:lpstr>
      <vt:lpstr>PowerPoint Presentation</vt:lpstr>
      <vt:lpstr>Description</vt:lpstr>
      <vt:lpstr>Retriever</vt:lpstr>
      <vt:lpstr>Dataset</vt:lpstr>
      <vt:lpstr>PowerPoint Presentation</vt:lpstr>
      <vt:lpstr>Description</vt:lpstr>
      <vt:lpstr>Large Language Models</vt:lpstr>
      <vt:lpstr>Methodology: No RAG (Baseline)</vt:lpstr>
      <vt:lpstr>Methodology: RAG</vt:lpstr>
      <vt:lpstr>PowerPoint Presentation</vt:lpstr>
      <vt:lpstr>Evaluation Metrics</vt:lpstr>
      <vt:lpstr>PowerPoint Presentation</vt:lpstr>
      <vt:lpstr>Example</vt:lpstr>
      <vt:lpstr>Example</vt:lpstr>
      <vt:lpstr>Discussion (LLMs Comparison)</vt:lpstr>
      <vt:lpstr>Discussion (No RAG vs RAG)</vt:lpstr>
      <vt:lpstr>Limitation of Basic RAG Method</vt:lpstr>
      <vt:lpstr>PowerPoint Presentation</vt:lpstr>
      <vt:lpstr>Description</vt:lpstr>
      <vt:lpstr>PowerPoint Presentation</vt:lpstr>
      <vt:lpstr>Evaluation Metrics</vt:lpstr>
      <vt:lpstr>Methodology: RAG</vt:lpstr>
      <vt:lpstr>Methodology  Self-Reflective RAG  Prompt to use LLM to judge whether their responses are supported by the retrieved context or relevant to the answer</vt:lpstr>
      <vt:lpstr>PowerPoint Presentation</vt:lpstr>
      <vt:lpstr>Example</vt:lpstr>
      <vt:lpstr>Discussion (RAG vs Self-Reflective RAG)</vt:lpstr>
      <vt:lpstr>Discussion (Self-Reflective RAG)</vt:lpstr>
      <vt:lpstr>Methodology: RAG</vt:lpstr>
      <vt:lpstr>PowerPoint Presentation</vt:lpstr>
      <vt:lpstr>Conclusion</vt:lpstr>
      <vt:lpstr>Challenge for this project</vt:lpstr>
      <vt:lpstr>Further Prospect on Term 2</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CUHK MSC Fintech  FTEC 5910 Industrial Project  Term 1 Presentation Project Sponsor: Bank of Communications Co.,Ltd. Hong Kong Branch  Topic: Large Language Model Building for Bankwise Processes  Author:  Wong Ko Yin</dc:title>
  <dc:creator>WONG, Ko Yin</dc:creator>
  <cp:lastModifiedBy>WONG, Ko Yin</cp:lastModifiedBy>
  <cp:revision>80</cp:revision>
  <dcterms:created xsi:type="dcterms:W3CDTF">2024-10-04T15:29:43Z</dcterms:created>
  <dcterms:modified xsi:type="dcterms:W3CDTF">2025-04-09T16:18:51Z</dcterms:modified>
</cp:coreProperties>
</file>